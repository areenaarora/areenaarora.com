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84" r:id="rId6"/>
    <p:sldId id="260" r:id="rId7"/>
    <p:sldId id="261" r:id="rId8"/>
    <p:sldId id="262" r:id="rId9"/>
    <p:sldId id="283" r:id="rId10"/>
    <p:sldId id="263" r:id="rId11"/>
    <p:sldId id="264" r:id="rId12"/>
    <p:sldId id="265" r:id="rId13"/>
    <p:sldId id="266" r:id="rId14"/>
    <p:sldId id="267" r:id="rId15"/>
    <p:sldId id="268" r:id="rId16"/>
    <p:sldId id="269" r:id="rId17"/>
    <p:sldId id="270" r:id="rId18"/>
    <p:sldId id="271" r:id="rId19"/>
    <p:sldId id="281" r:id="rId20"/>
    <p:sldId id="276" r:id="rId21"/>
    <p:sldId id="277" r:id="rId22"/>
    <p:sldId id="278" r:id="rId23"/>
    <p:sldId id="279" r:id="rId24"/>
    <p:sldId id="280"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97"/>
    <p:restoredTop sz="94610"/>
  </p:normalViewPr>
  <p:slideViewPr>
    <p:cSldViewPr snapToGrid="0" snapToObjects="1">
      <p:cViewPr varScale="1">
        <p:scale>
          <a:sx n="122" d="100"/>
          <a:sy n="122" d="100"/>
        </p:scale>
        <p:origin x="32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6608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30 seconds. "I'm an editorial coder on the data team at The Hindu: I turn spreadsheets into things people actually read. Election results, trade numbers, health surveys. My readers owe me nothing. If the first ten seconds don't make sense, they scroll away. Your audience in a review meeting is not that different. They're just more polite about it." Optional 20-second story from your own work: a moment where the real story was buried in the data. Set expectations: there will be hands, shouting and pair work. Then go straight to the 10-second test.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10-SECOND TEST. Say: "I'm going to show you a slide for ten seconds. Your only job is to work out what it wants you to do." Count ten seconds silently, then go to the next slide. Ask: "Hands up if you know what the main point was." (Usually a few hands.) "Keep it up if you know what action it was asking for." (Usually almost none.) If many hands go up, flip it: "Great. Tell me the action in one sentence." They usually can't. Don't apologise for this slide or explain it. The confusion is the point. We fix it at slide 20.</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slide had every number you'd need. Nothing was wrong with the data. What it was missing was a story. And most of us have made that slide. I certainly have." "Today is about one shift: from showing data to communicating with it. You'll leave with a three-question framework: What changed? So what? Now what? You'll use it once before you leave this room. And we'll come back to that slide and fix it together." Transition: "So why do smart people make slides like that? It almost always comes down to one habit."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present, we tell the story of our work. First I pulled the data, then I cleaned it, then I built a pivot, and on slide 14 here's what I found. That's the order we lived it. It is the exact opposite of what the audience needs." "Newspapers solved this a hundred years ago. It's called the inverted pyramid. The most important fact goes in the first line, because a reader can stop at any paragraph. Your VP is that reader. They might get called away after two minutes. What did they leave with?" For the curious: also called BLUF (bottom line up front) in the military, and the Pyramid Principle in consulting.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present, we tell the story of our work. First I pulled the data, then I cleaned it, then I built a pivot, and on slide 14 here's what I found. That's the order we lived it. It is the exact opposite of what the audience needs." "Newspapers solved this a hundred years ago. It's called the inverted pyramid. The most important fact goes in the first line, because a reader can stop at any paragraph. Your VP is that reader. They might get called away after two minutes. What did they leave with?" For the curious: also called BLUF (bottom line up front) in the military, and the Pyramid Principle in consulting.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21046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it up: "I'm going to read you some opening lines. Every time 'so what?' appears, the whole room shouts it." Practise once. Make them do it loudly. Click by click: each step appears, then "so what?" appears and the room shouts, then the next step. Say each step as a full sentence: 1. "We pulled 18 months of chargeback data from the disputes system." 2. "We broke it down by reason code and by order value." 3. "'Item not received' claims grew the fastest." 4. "They now cost us more each month than every other reason combined." 5. "Signature confirmation on high-value orders could cut them by about half." After the top step: "Notice where the room went quiet. That top step is where your presentation should START. The bottom step isn't wrong. It's just an answer to a question nobody has asked yet." Use "so what?" as a callback for the rest of the session.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of credibility up front is fine: "Based on 18 months of disputes data." Everything else goes in a footnote, the appendix or your back pocket. Method earns its place when someone asks for it. The exception: when the method changes the conclusion, say so early. "These numbers exclude the outage week, which would otherwise double the spike." Practical trick: before building any slides, write the email subject line you'd send if you only had one line. That sentence is your first slide. Transition: "Easy to say 'lead with the insight'. But before you can lead with an insight, you need to know it's actually true."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in this room can see that a number went up. That's not the skill. The skill is answering two questions before it goes on a slide." IS IT REAL? - Signal or noise: every metric wobbles. Look at the last 12 periods: inside the usual range is probably noise. Ops formalises this as a control chart (Shewhart): limits at roughly mean plus or minus 3 standard deviations. - Small numbers lie loudly. A category with 40 orders can swing from 2% to 5% by chance. Kahneman: the US counties with the lowest kidney cancer rates are mostly small and rural. So are the highest. - Regression to the mean. Last month's worst team will probably look better next month whatever you do. Ask what would have happened without the intervention. WHAT'S DRIVING IT? - Rate or volume? More orders, or a larger share going bad? Different stories, different owners. Count = orders x rate. - Contribution, not growth. Up 200% from a tiny base can matter less than up 5% from a large one. Rank by share of the total change. - Mix shift. An average can move when no segment changes. In the extreme, every segment improves while the total gets worse. Next slide. Say these briskly: about two and a half minutes. If short of time, drop regression to the mean.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0:10:30 to 0:12:30 (about 2 minutes).</a:t>
            </a:r>
          </a:p>
          <a:p>
            <a:endParaRPr lang="en-US"/>
          </a:p>
          <a:p>
            <a:r>
              <a:rPr lang="en-US" dirty="0"/>
              <a:t>PURPOSE: Show the tool behind "Is it real?" from slide 6. A control chart separates normal wobble (noise) from real change (signal).</a:t>
            </a:r>
          </a:p>
          <a:p>
            <a:endParaRPr lang="en-US"/>
          </a:p>
          <a:p>
            <a:r>
              <a:rPr lang="en-US" dirty="0"/>
              <a:t>ON THE SLIDE (starts with just the black line): one number, chargebacks per 1,000 orders, every week for 20 weeks. The y-axis runs from 5 to 8. Most weeks sit around 6. Two weeks jump: week 7 (to about 7.1) and week 17 (to about 8.6). There are 3 clicks.</a:t>
            </a:r>
          </a:p>
          <a:p>
            <a:endParaRPr lang="en-US"/>
          </a:p>
          <a:p>
            <a:r>
              <a:rPr lang="en-US" dirty="0"/>
              <a:t>SETUP (black line only):</a:t>
            </a:r>
          </a:p>
          <a:p>
            <a:r>
              <a:rPr lang="en-US" dirty="0"/>
              <a:t>"This is one number: chargebacks per 1,000 orders, every week for 20 weeks. Week 7 jumped. Week 17 jumped. Hands up: who would escalate week 7 to their manager? Week 17? Both?"</a:t>
            </a:r>
          </a:p>
          <a:p>
            <a:r>
              <a:rPr lang="en-US" dirty="0"/>
              <a:t>Expect a split: week 7's jump, from about 5.4 to 7.1, looks dramatic.</a:t>
            </a:r>
          </a:p>
          <a:p>
            <a:endParaRPr lang="en-US"/>
          </a:p>
          <a:p>
            <a:r>
              <a:rPr lang="en-US" dirty="0"/>
              <a:t>CLICK 1 (a grey dashed average line appears, labelled "Average"):</a:t>
            </a:r>
          </a:p>
          <a:p>
            <a:r>
              <a:rPr lang="en-US" dirty="0"/>
              <a:t>"First, draw the average. Over these 20 weeks it's about 6 chargebacks per 1,000 orders. Every week sits a bit above or below it. That wobble is normal."</a:t>
            </a:r>
          </a:p>
          <a:p>
            <a:endParaRPr lang="en-US"/>
          </a:p>
          <a:p>
            <a:r>
              <a:rPr lang="en-US" dirty="0"/>
              <a:t>CLICK 2 (a shaded blue band appears, with "Upper limit", "Lower limit" and "Inside the band: noise"):</a:t>
            </a:r>
          </a:p>
          <a:p>
            <a:r>
              <a:rPr lang="en-US" dirty="0"/>
              <a:t>"Now draw a band showing how far this number normally wobbles. Anything inside the band is the ordinary ups and downs of the process. Look at week 7. It looked alarming, but it's inside the band. It's noise. If you'd escalated it, someone would have spent a week hunting for a cause that doesn't exist."</a:t>
            </a:r>
          </a:p>
          <a:p>
            <a:endParaRPr lang="en-US"/>
          </a:p>
          <a:p>
            <a:r>
              <a:rPr lang="en-US" dirty="0"/>
              <a:t>CLICK 3 (week 17 turns orange, with "Outside: investigate"):</a:t>
            </a:r>
          </a:p>
          <a:p>
            <a:r>
              <a:rPr lang="en-US" dirty="0"/>
              <a:t>"Week 17 is outside the band. That's news. Something has actually changed, and that's the one to investigate."</a:t>
            </a:r>
          </a:p>
          <a:p>
            <a:endParaRPr lang="en-US"/>
          </a:p>
          <a:p>
            <a:r>
              <a:rPr lang="en-US" dirty="0"/>
              <a:t>THE RULE TO LEAVE THEM WITH: "Inside the band, don't explain it. Outside the band, investigate it."</a:t>
            </a:r>
          </a:p>
          <a:p>
            <a:endParaRPr lang="en-US"/>
          </a:p>
          <a:p>
            <a:r>
              <a:rPr lang="en-US" dirty="0"/>
              <a:t>HOW THE BAND IS CALCULATED (for you, and for technical questions):</a:t>
            </a:r>
          </a:p>
          <a:p>
            <a:r>
              <a:rPr lang="en-US" dirty="0"/>
              <a:t>- First measure the "typical wobble": roughly how far a normal week sits from the average. Statisticians call this the standard deviation, or sigma. Here it's about 0.5 per 1,000.</a:t>
            </a:r>
          </a:p>
          <a:p>
            <a:r>
              <a:rPr lang="en-US" dirty="0"/>
              <a:t>- The limits go three times that wobble above and below the average: 6 plus or minus 1.5, so the band runs from 4.5 to 7.5.</a:t>
            </a:r>
          </a:p>
          <a:p>
            <a:r>
              <a:rPr lang="en-US" dirty="0"/>
              <a:t>- Why three? If nothing has changed, a week falls outside three-sigma limits only about 3 times in 1,000. So when one does, it's very unlikely to be chance.</a:t>
            </a:r>
          </a:p>
          <a:p>
            <a:r>
              <a:rPr lang="en-US" dirty="0"/>
              <a:t>- Technical aside: proper control charts estimate the wobble from week-to-week differences (an "XmR" chart), so one extreme week doesn't widen the band.</a:t>
            </a:r>
          </a:p>
          <a:p>
            <a:endParaRPr lang="en-US"/>
          </a:p>
          <a:p>
            <a:r>
              <a:rPr lang="en-US" dirty="0"/>
              <a:t>ONE EXTRA SIGNAL (optional, for technical people): even inside the band, a long run of points on one side of the average, for example eight weeks in a row above it, suggests something has shifted. That's one of the "Western Electric rules", from a 1956 factory quality handbook.</a:t>
            </a:r>
          </a:p>
          <a:p>
            <a:endParaRPr lang="en-US"/>
          </a:p>
          <a:p>
            <a:r>
              <a:rPr lang="en-US" dirty="0"/>
              <a:t>REAL-LIFE EXAMPLE 1, WHERE IT CAME FROM: Walter Shewhart, an engineer at Bell Labs, invented the control chart in 1924 to improve the quality of telephone equipment made by Western Electric. His insight: there are two kinds of variation. The everyday wobble built into any process, and unusual events with a real cause. Treating the first as if it were the second makes things worse. W. Edwards Deming later called that mistake "tampering": adjusting a machine after every slightly bad batch adds variation instead of removing it.</a:t>
            </a:r>
          </a:p>
          <a:p>
            <a:endParaRPr lang="en-US"/>
          </a:p>
          <a:p>
            <a:r>
              <a:rPr lang="en-US" dirty="0"/>
              <a:t>REAL-LIFE EXAMPLE 2, A MODERN ONE: the NHS in England. Hospital board reports used to colour every monthly number red, amber or green against a target, and boards demanded an explanation for every red. NHS England's "Making Data Count" programme pushed boards to use control charts instead, so they react to genuine signals and stop asking managers to explain normal monthly wobble.</a:t>
            </a:r>
          </a:p>
          <a:p>
            <a:endParaRPr lang="en-US"/>
          </a:p>
          <a:p>
            <a:r>
              <a:rPr lang="en-US" dirty="0"/>
              <a:t>BRING IT HOME: "Think about your own dashboards. How many alerts fire on a fixed rule like 'up 10% week on week'? A control chart sets the alert at the edge of what's normal for that particular number. Fewer false alarms, and the real ones stand out."</a:t>
            </a:r>
          </a:p>
          <a:p>
            <a:endParaRPr lang="en-US"/>
          </a:p>
          <a:p>
            <a:r>
              <a:rPr lang="en-US" dirty="0"/>
              <a:t>IF SHORT ON TIME: skip the Western Electric rule and example 1. Keep the vote, the three clicks and the NHS example.</a:t>
            </a:r>
          </a:p>
          <a:p>
            <a:endParaRPr lang="en-US"/>
          </a:p>
          <a:p>
            <a:r>
              <a:rPr lang="en-US" dirty="0"/>
              <a:t>NEXT: "That's 'is it real?'. Now the second question, 'what's driving it?', and the trap I find most surprising." Click.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only the headline first. "Our dispute win rate fell from 52% to 33%. Hands up if we should retrain the disputes team." Expect lots of hands. Click: reveal the table. "The team got better at both types, by five points each. The overall rate collapsed because the mix flipped: four times as many fraud claims, which are hard to win. Retraining would have punished a team that improved. The real question: why did fraud claims quadruple?" Maths: Q2 wins 40 + 480 = 520 of 1,000. Q3 wins 200 + 130 = 330 of 1,000. Line to leave them with: "Before you report a change in an average, check whether the mix underneath it changed." It comes back in the exercise. Don't let anyone feel foolish: "This catches statisticians too. Berkeley's 1973 graduate admissions looked biased against women overall, yet most departments admitted women at similar or higher rates. Women had applied mostly to the most competitive departments." (Bickel, Hammel and O'Connell, Science, 1975.) Technical follow-up for Q&amp;A: a rate-mix decomposition splits a change in a total into the part due to rates and the part due to mix.</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filters before a finding earns the headline: does it change a decision, is it big enough to matter (in money, customers or hours), and is it new to this audience? Telling the payments team that chargebacks hurt is not news. Then the template. Leave it on screen for a beat. Transition: "So you know what your sentence says, and that it's true. Which picture proves it? There's real perception science behind that choice."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1984, two statisticians at Bell Labs, William Cleveland and Robert McGill, ran experiments on how accurately people read quantities from different visual encodings. Almost every piece of chart advice you've heard falls out of their ranking." Walk left to right along the strip. "So pies aren't bad because designers dislike them. They ask the eye to compare angles, which it does badly. Bubbles are worse: people consistently underestimate differences in area, so a bubble twice as big doesn't feel twice as big. Heatmaps are great for spotting where the pattern is, poor for reading values." Point at the dots: "How long did it take you to find the blue one? That's a pre-attentive attribute: colour, size, orientation and position are processed in about a quarter of a second, before conscious attention. 'Grey everything, then colour the story' works because it spends that quarter-second on the one thing you want seen."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grid quickly. The point: start from the analytical question, not from a chart you like. - Over time: line (position on a common scale). - Which is biggest: sorted bar or dot plot; sorting does the ranking for the reader. - What shifted between two points, across many categories: dumbbell or slope chart. - How did total A become total B: waterfall, showing each driver's signed contribution. - What's typical: histogram or box plot; shows the shape, not just the centre. - A real outlier among groups of very different sizes: funnel plot (coming up in the quiz). - Are two measures related: scatter. - Just one number: no chart. One big number with a comparison. One permission: tables are fine when people need to look up exact values. Charts are for patterns; tables are for lookups.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read a question. Hold up fingers for the chart. Three, two, one, show me." Point at A, B, C, D in turn and say the full question. A. "Win rate for eight dispute reason codes, before and after the new evidence template." ANSWER 1, dumbbell. Two dots per row joined by a line; sort by size of improvement. B. "Chargeback losses went from $1.2M in Q2 to $1.5M in Q3. What made up the difference?" ANSWER 2, waterfall. Start bar, one step per driver, end bar. Steps must sum to the gap: an honesty check in itself. C. "What does resolution time typically look like? The average is 18 hours, but some tickets take a week." ANSWER 3, histogram. Report the median and 90th percentile, not the mean. In right-skewed data the long tail drags the mean up. D. "Which of our 40 seller categories has an unusually high chargeback rate, when some have 50 orders and others 50,000?" ANSWER 4, funnel plot. Volume on x, rate on y, control limits that narrow as volume grows. Only points outside the funnel are real outliers. Spiegelhalter popularised these for comparing surgical outcomes across UK hospitals. Link it to "small numbers lie loudly". BONUS: "How many chargebacks did we have last quarter?" None of the above: one big number. "1,656, up 38% on Q2." If behind, cut B.</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 for slides 13 to 16: show the chart for about 20 seconds. Pairs: what's wrong, and how would you fix it? Take one answer, then click to reveal the fix. Opening line for the segment: "Some chart mistakes make you squint. Others make you believe something false. In journalism, once readers catch one misleading chart, they stop trusting every chart after it. Your CFO works the same way." Problem: a bar encodes value as length (Cleveland and McGill again). Cut the baseline and the length lies. Fix: bars start at zero. If a two-point gap genuinely matters, use a dot plot, which encodes position rather than length and can legitimately zoom in. The rule isn't "always start at zero"; it's "start at zero whenever length carries the meaning".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a cumulative series almost always goes up, so it hides whether things are accelerating or slowing. Here, monthly chargebacks doubled in August, which shows only as a slightly steeper slope on the left. Fix: chart the flow, not the stock. Plot the monthly count, or better, the monthly rate per 1,000 orders. Ask the room: where else do we see cumulative charts? (Year-to-date revenue, total signups, total disputes resolved.)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it as a map: "Imagine a US map shaded by chargeback count. California, Texas and Florida are darkest." The left panel is the same thing as bars. Problem: that's where the orders are. Every map of raw totals is mostly a map of where people live. Fix: normalise. Chargebacks per 1,000 orders, by state. The leaders usually change, and the new ones are the real story. Then apply the funnel-plot logic: high rates on tiny volume are often noise. If behind, this is the one to drop. Keep the statistical list on slide 16's notes.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whoever picks the two scales controls where the lines cross. The crossing means nothing, but it reads as a story. Fix: index both series to 100 at a common start and put them on one axis, or chart the ratio directly (chargebacks per $1,000 of revenue). THE STATISTICAL ONES (one line each, briskly, no slide needed): - Per cent vs percentage points: 0.6% to 0.9% is up 0.3 percentage points, or up 50 per cent. Both true. Say which. - Relative vs absolute risk: "Fraud is 3x higher on new accounts" might mean 1 in 10,000 became 3 in 10,000. Give the absolute figure. - Average of averages: averaging five teams' win rates weights a 50-dispute team like a 5,000-dispute team. Pool the counts. - Mean on skewed data: report median and 90th percentile. - Censoring: chargebacks arrive months after the order, so last month's rate always looks better than it will end up. Compare cohorts at the same age. (This lands hard with a payments team; pause and ask if anyone has been caught by it.) - Survivorship: analysing only closed disputes leaves out the hardest ones. Transition: "So the sentence is true and the chart is honest. Now: how do you sequence it so the room follows?"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10-SECOND TEST. Say: "I'm going to show you a slide for ten seconds. Your only job is to work out what it wants you to do." Count ten seconds silently, then go to the next slide. Ask: "Hands up if you know what the main point was." (Usually a few hands.) "Keep it up if you know what action it was asking for." (Usually almost none.) If many hands go up, flip it: "Great. Tell me the action in one sentence." They usually can't. Don't apologise for this slide or explain it. The confusion is the point. We fix it at slide 20.</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9021170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All numbers are invented and add up: Q2 1,200, Q3 1,656 (up 456, or 38%), and 300 of the 456 came from one category. 1. Flip between before and after: "Which would you act on?" 2. Re-run the 10-second test on this slide alone, then ask what action it wants. Most hands should go up this time. Point that out. 3. Name the five changes in one breath: "The title says the point. One chart, one colour. The so what is in dollars. The ask is explicit, with a deadline. The method moved to the footer." 4. Land it: "Same data. Nothing was deleted, only moved. The table and the daily chart live in the appendix for anyone who asks." Pushback "My manager wants the full table": agree; appendix or next slide. The first slide's job is the decision. Expect "Is this just order volume?": have a backup slide with chargebacks per 1,000 orders for Q2 and Q3. That's the decomposition idea in action. Domain challenge ("we'd never get signature on that"): "You'd know far better than me. Swap in the real fix. The structure holds." Transition: "Enough watching me do it. Your turn."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(30 seconds): "You're on the payments support team. Your manager gets two minutes in Monday's leadership review. In pairs, write three things. One: a headline, one sentence, with a number. Two: the one chart you'd show, and what you'd highlight. Three: the ask. Who should do what, by when. Three minutes. Go." The design is deliberate: the average resolution column is almost flat. Tickets and first-contact resolution are distractors. The story is in the weekday and weekend split; the clue is the ops note in small print. Walk the room. Hints, one at a time: "What's the average hiding?" / "Compare the two columns in the middle." / "Read the small print." Early finishers: "Write the first sentence you'd say out loud." Stretch for strong pairs: "What would you check before presenting?" (Did weekend ticket type change after March? Is the CSAT fall concentrated in the slowest tickets? Would weekday gains reverse?) Read-outs (2 minutes): take three pairs: one who fell for the average, one who found the weekend story, one with a strong ask. To "resolution time is stable": "That's exactly what the dashboard would tell leadership. It's true. And it would have hidden a problem affecting nearly a third of your customers." Arithmetic: overall = 0.7 x weekday + 0.3 x weekend. Jan: 22 x 0.7 + 10 x 0.3 = 18.4. Jun: 14 x 0.7 + 31 x 0.3 = 19.1.</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last, after read-outs. NAME THE CONCEPTS (30 seconds): "Two ideas from earlier did the work here. First, a mix effect: the overall average stayed flat because weekdays got faster while weekends got slower, and weekdays carry 70 per cent of the weight. Same family as the Simpson's paradox vote. Second, signal versus noise: weekend times sat flat at 10 hours for two months, so a move to 31 is far outside any normal wobble. That's how you know it's real before it goes on a slide." Then point at the last line of the ask: "Naming the trade-off yourself is what makes leadership trust the rest. Good data stories are honest about the cost."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thing from today, make it these three questions. What changed? So what? Now what? Lead with the answer, back it with one honest chart, and end with a decision. And before you present, run the three checks: can someone get the story from the titles alone, can a stranger read the chart in ten seconds, and would someone outside your team understand every word?" Monday action: "Open the next deck or dashboard you have to present. Don't touch the charts. Just rewrite every slide title as a sentence that says the point. That one change will do more than anything else we covered." If running behind, shorten the recap, not the Monday action.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line: "Data doesn't speak for itself. You speak for it. Next time you present, imagine this room shouting 'so what?' at your first slide, and make sure you've already answered." About two and a half minutes. Repeat each question into the mic. Seed if quiet: "A question I get a lot: what if my manager wants to see all the data?" Answer: give it to them, second. Lead slide with the point, full table next or in the appendix. Other likely questions: no clear insight ("nothing changed, no action needed" is a valid headline); uncertainty (ranges, say how confident you are); is storytelling spin (a story chooses emphasis, spin hides what's inconvenient: would you be comfortable if they later saw the full data?); AI tools (good for drafting and jargon checks, verify every number, follow policy on internal data). Hard stop at 0:40. Offer to stay a few minutes afterwards.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14171C"/>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411"/>
            <a:ext cx="10566400" cy="4109789"/>
          </a:xfrm>
          <a:prstGeom prst="rect">
            <a:avLst/>
          </a:prstGeom>
          <a:noFill/>
          <a:ln/>
        </p:spPr>
        <p:txBody>
          <a:bodyPr wrap="square" lIns="0" tIns="0" rIns="0" bIns="0" rtlCol="0" anchor="t"/>
          <a:lstStyle>
            <a:lvl1pPr marL="0" indent="0" algn="l">
              <a:lnSpc>
                <a:spcPct val="140000"/>
              </a:lnSpc>
              <a:buNone/>
              <a:defRPr lang="en-US" sz="1600" dirty="0">
                <a:solidFill>
                  <a:srgbClr val="14171C"/>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14171C"/>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411"/>
            <a:ext cx="10566400" cy="4109789"/>
          </a:xfrm>
          <a:prstGeom prst="rect">
            <a:avLst/>
          </a:prstGeom>
          <a:noFill/>
          <a:ln/>
        </p:spPr>
        <p:txBody>
          <a:bodyPr wrap="square" lIns="0" tIns="0" rIns="0" bIns="0" rtlCol="0" anchor="t"/>
          <a:lstStyle>
            <a:lvl1pPr marL="0" indent="0" algn="l">
              <a:lnSpc>
                <a:spcPct val="140000"/>
              </a:lnSpc>
              <a:buNone/>
              <a:defRPr lang="en-US" sz="1600" dirty="0">
                <a:solidFill>
                  <a:srgbClr val="14171C"/>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1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3429000"/>
            <a:ext cx="11011338" cy="1048407"/>
          </a:xfrm>
          <a:prstGeom prst="rect">
            <a:avLst/>
          </a:prstGeom>
          <a:noFill/>
          <a:ln/>
        </p:spPr>
        <p:txBody>
          <a:bodyPr wrap="square" lIns="0" tIns="0" rIns="0" bIns="0" rtlCol="0" anchor="t">
            <a:normAutofit/>
          </a:bodyPr>
          <a:lstStyle/>
          <a:p>
            <a:pPr marL="0" indent="0" algn="l">
              <a:lnSpc>
                <a:spcPts val="6300"/>
              </a:lnSpc>
              <a:buNone/>
            </a:pPr>
            <a:r>
              <a:rPr lang="en-US" sz="9500" b="1" i="0" dirty="0">
                <a:solidFill>
                  <a:srgbClr val="14171C"/>
                </a:solidFill>
                <a:latin typeface="Source Serif 4" pitchFamily="18" charset="0"/>
                <a:ea typeface="Source Serif 4" pitchFamily="18" charset="-122"/>
                <a:cs typeface="Source Serif 4" pitchFamily="18" charset="-120"/>
              </a:rPr>
              <a:t>Storytelling with Data</a:t>
            </a:r>
            <a:endParaRPr lang="en-US" sz="9500" dirty="0"/>
          </a:p>
        </p:txBody>
      </p:sp>
      <p:sp>
        <p:nvSpPr>
          <p:cNvPr id="4" name="Text 2"/>
          <p:cNvSpPr/>
          <p:nvPr/>
        </p:nvSpPr>
        <p:spPr>
          <a:xfrm>
            <a:off x="812800" y="4784446"/>
            <a:ext cx="10883392" cy="388590"/>
          </a:xfrm>
          <a:prstGeom prst="rect">
            <a:avLst/>
          </a:prstGeom>
          <a:noFill/>
          <a:ln/>
        </p:spPr>
        <p:txBody>
          <a:bodyPr wrap="square" lIns="0" tIns="0" rIns="0" bIns="0" rtlCol="0" anchor="t">
            <a:normAutofit/>
          </a:bodyPr>
          <a:lstStyle/>
          <a:p>
            <a:pPr marL="0" indent="0" algn="l">
              <a:lnSpc>
                <a:spcPts val="2860"/>
              </a:lnSpc>
              <a:buNone/>
            </a:pPr>
            <a:r>
              <a:rPr lang="en-US" sz="3200" dirty="0">
                <a:latin typeface="IBM Plex Sans" pitchFamily="34" charset="0"/>
                <a:ea typeface="IBM Plex Sans" pitchFamily="34" charset="-122"/>
                <a:cs typeface="IBM Plex Sans" pitchFamily="34" charset="-120"/>
              </a:rPr>
              <a:t>From showing numbers to moving people</a:t>
            </a:r>
            <a:endParaRPr lang="en-US" sz="3200" dirty="0"/>
          </a:p>
        </p:txBody>
      </p:sp>
      <p:sp>
        <p:nvSpPr>
          <p:cNvPr id="5" name="Text 3"/>
          <p:cNvSpPr/>
          <p:nvPr/>
        </p:nvSpPr>
        <p:spPr>
          <a:xfrm>
            <a:off x="812800" y="5571554"/>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171C"/>
                </a:solidFill>
                <a:latin typeface="IBM Plex Sans" pitchFamily="34" charset="0"/>
                <a:ea typeface="IBM Plex Sans" pitchFamily="34" charset="-122"/>
                <a:cs typeface="IBM Plex Sans" pitchFamily="34" charset="-120"/>
              </a:rPr>
              <a:t>Areena Arora · Editorial Coder, The Hindu</a:t>
            </a:r>
            <a:endParaRPr lang="en-US" sz="16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8000" y="406400"/>
            <a:ext cx="11176000" cy="558800"/>
          </a:xfrm>
          <a:prstGeom prst="rect">
            <a:avLst/>
          </a:prstGeom>
          <a:solidFill>
            <a:srgbClr val="2B4C7E"/>
          </a:solidFill>
          <a:ln/>
        </p:spPr>
      </p:sp>
      <p:sp>
        <p:nvSpPr>
          <p:cNvPr id="3" name="Text 1"/>
          <p:cNvSpPr/>
          <p:nvPr/>
        </p:nvSpPr>
        <p:spPr>
          <a:xfrm>
            <a:off x="660400" y="508000"/>
            <a:ext cx="3563243"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FFFFF"/>
                </a:solidFill>
                <a:latin typeface="Arial" pitchFamily="34" charset="0"/>
                <a:ea typeface="Arial" pitchFamily="34" charset="-122"/>
                <a:cs typeface="Arial" pitchFamily="34" charset="-120"/>
              </a:rPr>
              <a:t>Q3 Chargeback Analysis</a:t>
            </a:r>
            <a:endParaRPr lang="en-US" sz="2000" dirty="0"/>
          </a:p>
        </p:txBody>
      </p:sp>
      <p:sp>
        <p:nvSpPr>
          <p:cNvPr id="4" name="Text 2"/>
          <p:cNvSpPr/>
          <p:nvPr/>
        </p:nvSpPr>
        <p:spPr>
          <a:xfrm>
            <a:off x="8367455" y="579140"/>
            <a:ext cx="3164145"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Arial" pitchFamily="34" charset="0"/>
                <a:ea typeface="Arial" pitchFamily="34" charset="-122"/>
                <a:cs typeface="Arial" pitchFamily="34" charset="-120"/>
              </a:rPr>
              <a:t>Payments Ops · Internal · v3 FINAL (2)</a:t>
            </a:r>
            <a:endParaRPr lang="en-US" sz="1200" dirty="0"/>
          </a:p>
        </p:txBody>
      </p:sp>
      <p:sp>
        <p:nvSpPr>
          <p:cNvPr id="5" name="Text 3"/>
          <p:cNvSpPr/>
          <p:nvPr/>
        </p:nvSpPr>
        <p:spPr>
          <a:xfrm>
            <a:off x="619506" y="1092200"/>
            <a:ext cx="11392154" cy="619671"/>
          </a:xfrm>
          <a:prstGeom prst="rect">
            <a:avLst/>
          </a:prstGeom>
          <a:noFill/>
          <a:ln/>
        </p:spPr>
        <p:txBody>
          <a:bodyPr wrap="square" lIns="0" tIns="0" rIns="0" bIns="0" rtlCol="0" anchor="t">
            <a:normAutofit/>
          </a:bodyPr>
          <a:lstStyle/>
          <a:p>
            <a:pPr marL="142494" indent="-142494" algn="l">
              <a:lnSpc>
                <a:spcPts val="1560"/>
              </a:lnSpc>
              <a:buSzPct val="100000"/>
              <a:buChar char="•"/>
            </a:pPr>
            <a:r>
              <a:rPr lang="en-US" sz="1200" dirty="0">
                <a:solidFill>
                  <a:srgbClr val="333333"/>
                </a:solidFill>
                <a:latin typeface="Arial" pitchFamily="34" charset="0"/>
                <a:ea typeface="Arial" pitchFamily="34" charset="-122"/>
                <a:cs typeface="Arial" pitchFamily="34" charset="-120"/>
              </a:rPr>
              <a:t>Data source: disputes system export, Jul 1 to Sep 30, 2026; excludes test accounts and reversed disputes; reason codes mapped per network guidelines v4.2; USD at transaction-date FX</a:t>
            </a:r>
            <a:endParaRPr lang="en-US" sz="1200" dirty="0"/>
          </a:p>
          <a:p>
            <a:pPr marL="142494" indent="-142494" algn="l">
              <a:lnSpc>
                <a:spcPts val="1560"/>
              </a:lnSpc>
              <a:buSzPct val="100000"/>
              <a:buChar char="•"/>
            </a:pPr>
            <a:r>
              <a:rPr lang="en-US" sz="1200" dirty="0">
                <a:solidFill>
                  <a:srgbClr val="333333"/>
                </a:solidFill>
                <a:latin typeface="Arial" pitchFamily="34" charset="0"/>
                <a:ea typeface="Arial" pitchFamily="34" charset="-122"/>
                <a:cs typeface="Arial" pitchFamily="34" charset="-120"/>
              </a:rPr>
              <a:t>Q3 total chargebacks 1,656 vs 1,200 in Q2 (QoQ +38.00%); avg dispute value $287.40; blended win rate 33.12%; see tabs 4 to 9</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2811574265"/>
              </p:ext>
            </p:extLst>
          </p:nvPr>
        </p:nvGraphicFramePr>
        <p:xfrm>
          <a:off x="840828" y="1838871"/>
          <a:ext cx="10184521" cy="4225592"/>
        </p:xfrm>
        <a:graphic>
          <a:graphicData uri="http://schemas.openxmlformats.org/drawingml/2006/table">
            <a:tbl>
              <a:tblPr/>
              <a:tblGrid>
                <a:gridCol w="2851667">
                  <a:extLst>
                    <a:ext uri="{9D8B030D-6E8A-4147-A177-3AD203B41FA5}">
                      <a16:colId xmlns:a16="http://schemas.microsoft.com/office/drawing/2014/main" val="20000"/>
                    </a:ext>
                  </a:extLst>
                </a:gridCol>
                <a:gridCol w="1018452">
                  <a:extLst>
                    <a:ext uri="{9D8B030D-6E8A-4147-A177-3AD203B41FA5}">
                      <a16:colId xmlns:a16="http://schemas.microsoft.com/office/drawing/2014/main" val="20001"/>
                    </a:ext>
                  </a:extLst>
                </a:gridCol>
                <a:gridCol w="1018452">
                  <a:extLst>
                    <a:ext uri="{9D8B030D-6E8A-4147-A177-3AD203B41FA5}">
                      <a16:colId xmlns:a16="http://schemas.microsoft.com/office/drawing/2014/main" val="20002"/>
                    </a:ext>
                  </a:extLst>
                </a:gridCol>
                <a:gridCol w="1018452">
                  <a:extLst>
                    <a:ext uri="{9D8B030D-6E8A-4147-A177-3AD203B41FA5}">
                      <a16:colId xmlns:a16="http://schemas.microsoft.com/office/drawing/2014/main" val="20003"/>
                    </a:ext>
                  </a:extLst>
                </a:gridCol>
                <a:gridCol w="1222142">
                  <a:extLst>
                    <a:ext uri="{9D8B030D-6E8A-4147-A177-3AD203B41FA5}">
                      <a16:colId xmlns:a16="http://schemas.microsoft.com/office/drawing/2014/main" val="20004"/>
                    </a:ext>
                  </a:extLst>
                </a:gridCol>
                <a:gridCol w="1527678">
                  <a:extLst>
                    <a:ext uri="{9D8B030D-6E8A-4147-A177-3AD203B41FA5}">
                      <a16:colId xmlns:a16="http://schemas.microsoft.com/office/drawing/2014/main" val="20005"/>
                    </a:ext>
                  </a:extLst>
                </a:gridCol>
                <a:gridCol w="1527678">
                  <a:extLst>
                    <a:ext uri="{9D8B030D-6E8A-4147-A177-3AD203B41FA5}">
                      <a16:colId xmlns:a16="http://schemas.microsoft.com/office/drawing/2014/main" val="20006"/>
                    </a:ext>
                  </a:extLst>
                </a:gridCol>
              </a:tblGrid>
              <a:tr h="528199">
                <a:tc>
                  <a:txBody>
                    <a:bodyPr/>
                    <a:lstStyle/>
                    <a:p>
                      <a:pPr marL="0" indent="0" algn="ctr">
                        <a:lnSpc>
                          <a:spcPts val="1680"/>
                        </a:lnSpc>
                        <a:buNone/>
                      </a:pPr>
                      <a:r>
                        <a:rPr lang="en-US" sz="1200" b="1" dirty="0">
                          <a:solidFill>
                            <a:srgbClr val="222222"/>
                          </a:solidFill>
                          <a:latin typeface="Arial" pitchFamily="34" charset="0"/>
                          <a:ea typeface="Arial" pitchFamily="34" charset="-122"/>
                          <a:cs typeface="Arial" pitchFamily="34" charset="-120"/>
                        </a:rPr>
                        <a:t>Reason code</a:t>
                      </a:r>
                      <a:endParaRPr lang="en-US" sz="1200" dirty="0">
                        <a:latin typeface="Arial" charset="0"/>
                        <a:ea typeface="Arial" charset="0"/>
                        <a:cs typeface="Arial" charset="0"/>
                      </a:endParaRPr>
                    </a:p>
                  </a:txBody>
                  <a:tcPr marL="53340" marR="53340" marT="53340" marB="53340" anchor="ctr">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ctr">
                        <a:lnSpc>
                          <a:spcPts val="1680"/>
                        </a:lnSpc>
                        <a:buNone/>
                      </a:pPr>
                      <a:r>
                        <a:rPr lang="en-US" sz="1200" b="1" dirty="0">
                          <a:solidFill>
                            <a:srgbClr val="222222"/>
                          </a:solidFill>
                          <a:latin typeface="Arial" pitchFamily="34" charset="0"/>
                          <a:ea typeface="Arial" pitchFamily="34" charset="-122"/>
                          <a:cs typeface="Arial" pitchFamily="34" charset="-120"/>
                        </a:rPr>
                        <a:t>Jul</a:t>
                      </a:r>
                      <a:endParaRPr lang="en-US" sz="1200" dirty="0">
                        <a:latin typeface="Arial" charset="0"/>
                        <a:ea typeface="Arial" charset="0"/>
                        <a:cs typeface="Arial" charset="0"/>
                      </a:endParaRPr>
                    </a:p>
                  </a:txBody>
                  <a:tcPr marL="53340" marR="53340" marT="53340" marB="53340" anchor="ctr">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ctr">
                        <a:lnSpc>
                          <a:spcPts val="1680"/>
                        </a:lnSpc>
                        <a:buNone/>
                      </a:pPr>
                      <a:r>
                        <a:rPr lang="en-US" sz="1200" b="1" dirty="0">
                          <a:solidFill>
                            <a:srgbClr val="222222"/>
                          </a:solidFill>
                          <a:latin typeface="Arial" pitchFamily="34" charset="0"/>
                          <a:ea typeface="Arial" pitchFamily="34" charset="-122"/>
                          <a:cs typeface="Arial" pitchFamily="34" charset="-120"/>
                        </a:rPr>
                        <a:t>Aug</a:t>
                      </a:r>
                      <a:endParaRPr lang="en-US" sz="1200" dirty="0">
                        <a:latin typeface="Arial" charset="0"/>
                        <a:ea typeface="Arial" charset="0"/>
                        <a:cs typeface="Arial" charset="0"/>
                      </a:endParaRPr>
                    </a:p>
                  </a:txBody>
                  <a:tcPr marL="53340" marR="53340" marT="53340" marB="53340" anchor="ctr">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ctr">
                        <a:lnSpc>
                          <a:spcPts val="1680"/>
                        </a:lnSpc>
                        <a:buNone/>
                      </a:pPr>
                      <a:r>
                        <a:rPr lang="en-US" sz="1200" b="1" dirty="0">
                          <a:solidFill>
                            <a:srgbClr val="222222"/>
                          </a:solidFill>
                          <a:latin typeface="Arial" pitchFamily="34" charset="0"/>
                          <a:ea typeface="Arial" pitchFamily="34" charset="-122"/>
                          <a:cs typeface="Arial" pitchFamily="34" charset="-120"/>
                        </a:rPr>
                        <a:t>Sep</a:t>
                      </a:r>
                      <a:endParaRPr lang="en-US" sz="1200" dirty="0">
                        <a:latin typeface="Arial" charset="0"/>
                        <a:ea typeface="Arial" charset="0"/>
                        <a:cs typeface="Arial" charset="0"/>
                      </a:endParaRPr>
                    </a:p>
                  </a:txBody>
                  <a:tcPr marL="53340" marR="53340" marT="53340" marB="53340" anchor="ctr">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ctr">
                        <a:lnSpc>
                          <a:spcPts val="1680"/>
                        </a:lnSpc>
                        <a:buNone/>
                      </a:pPr>
                      <a:r>
                        <a:rPr lang="en-US" sz="1200" b="1" dirty="0">
                          <a:solidFill>
                            <a:srgbClr val="222222"/>
                          </a:solidFill>
                          <a:latin typeface="Arial" pitchFamily="34" charset="0"/>
                          <a:ea typeface="Arial" pitchFamily="34" charset="-122"/>
                          <a:cs typeface="Arial" pitchFamily="34" charset="-120"/>
                        </a:rPr>
                        <a:t>Q3</a:t>
                      </a:r>
                      <a:endParaRPr lang="en-US" sz="1200" dirty="0">
                        <a:latin typeface="Arial" charset="0"/>
                        <a:ea typeface="Arial" charset="0"/>
                        <a:cs typeface="Arial" charset="0"/>
                      </a:endParaRPr>
                    </a:p>
                  </a:txBody>
                  <a:tcPr marL="53340" marR="53340" marT="53340" marB="53340" anchor="ctr">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ctr">
                        <a:lnSpc>
                          <a:spcPts val="1680"/>
                        </a:lnSpc>
                        <a:buNone/>
                      </a:pPr>
                      <a:r>
                        <a:rPr lang="en-US" sz="1200" b="1" dirty="0">
                          <a:solidFill>
                            <a:srgbClr val="222222"/>
                          </a:solidFill>
                          <a:latin typeface="Arial" pitchFamily="34" charset="0"/>
                          <a:ea typeface="Arial" pitchFamily="34" charset="-122"/>
                          <a:cs typeface="Arial" pitchFamily="34" charset="-120"/>
                        </a:rPr>
                        <a:t>QoQ %</a:t>
                      </a:r>
                      <a:endParaRPr lang="en-US" sz="1200" dirty="0">
                        <a:latin typeface="Arial" charset="0"/>
                        <a:ea typeface="Arial" charset="0"/>
                        <a:cs typeface="Arial" charset="0"/>
                      </a:endParaRPr>
                    </a:p>
                  </a:txBody>
                  <a:tcPr marL="53340" marR="53340" marT="53340" marB="53340" anchor="ctr">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ctr">
                        <a:lnSpc>
                          <a:spcPts val="1680"/>
                        </a:lnSpc>
                        <a:buNone/>
                      </a:pPr>
                      <a:r>
                        <a:rPr lang="en-US" sz="1200" b="1" dirty="0">
                          <a:solidFill>
                            <a:srgbClr val="222222"/>
                          </a:solidFill>
                          <a:latin typeface="Arial" pitchFamily="34" charset="0"/>
                          <a:ea typeface="Arial" pitchFamily="34" charset="-122"/>
                          <a:cs typeface="Arial" pitchFamily="34" charset="-120"/>
                        </a:rPr>
                        <a:t>Share %</a:t>
                      </a:r>
                      <a:endParaRPr lang="en-US" sz="1200" dirty="0">
                        <a:latin typeface="Arial" charset="0"/>
                        <a:ea typeface="Arial" charset="0"/>
                        <a:cs typeface="Arial" charset="0"/>
                      </a:endParaRPr>
                    </a:p>
                  </a:txBody>
                  <a:tcPr marL="53340" marR="53340" marT="53340" marB="53340" anchor="ctr">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528199">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10.4 Fraud CNP</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118</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122</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120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360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12.50%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21.74%</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528199">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13.3 NAD</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110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118</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117</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345</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15.00%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20.83%</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528199">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13.1 INR (other)</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85</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92</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93</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270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22.73%</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16.30%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528199">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13.1 INR (&gt;$250, NSR)</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120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170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190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480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166.67%</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28.99%</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528199">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12.6 Duplicate</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36</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37</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37</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110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10.00%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6.64%</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528199">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Misc.</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29</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31</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31</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91</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13.75%</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5.50%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r h="528199">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Total</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EDEDED"/>
                    </a:solidFill>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498</a:t>
                      </a:r>
                      <a:endParaRPr lang="en-US" sz="1200" dirty="0">
                        <a:latin typeface="Arial" charset="0"/>
                        <a:ea typeface="Arial" charset="0"/>
                        <a:cs typeface="Arial" charset="0"/>
                      </a:endParaRPr>
                    </a:p>
                  </a:txBody>
                  <a:tcPr marL="53340" marR="53340" marT="53340" marB="5334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EDEDED"/>
                    </a:solidFill>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570</a:t>
                      </a:r>
                      <a:endParaRPr lang="en-US" sz="1200" dirty="0">
                        <a:latin typeface="Arial" charset="0"/>
                        <a:ea typeface="Arial" charset="0"/>
                        <a:cs typeface="Arial" charset="0"/>
                      </a:endParaRPr>
                    </a:p>
                  </a:txBody>
                  <a:tcPr marL="53340" marR="53340" marT="53340" marB="5334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EDEDED"/>
                    </a:solidFill>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588</a:t>
                      </a:r>
                      <a:endParaRPr lang="en-US" sz="1200" dirty="0">
                        <a:latin typeface="Arial" charset="0"/>
                        <a:ea typeface="Arial" charset="0"/>
                        <a:cs typeface="Arial" charset="0"/>
                      </a:endParaRPr>
                    </a:p>
                  </a:txBody>
                  <a:tcPr marL="53340" marR="53340" marT="53340" marB="5334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EDEDED"/>
                    </a:solidFill>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1,656</a:t>
                      </a:r>
                      <a:endParaRPr lang="en-US" sz="1200" dirty="0">
                        <a:latin typeface="Arial" charset="0"/>
                        <a:ea typeface="Arial" charset="0"/>
                        <a:cs typeface="Arial" charset="0"/>
                      </a:endParaRPr>
                    </a:p>
                  </a:txBody>
                  <a:tcPr marL="53340" marR="53340" marT="53340" marB="5334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EDEDED"/>
                    </a:solidFill>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38.00%</a:t>
                      </a:r>
                      <a:endParaRPr lang="en-US" sz="1200" dirty="0">
                        <a:latin typeface="Arial" charset="0"/>
                        <a:ea typeface="Arial" charset="0"/>
                        <a:cs typeface="Arial" charset="0"/>
                      </a:endParaRPr>
                    </a:p>
                  </a:txBody>
                  <a:tcPr marL="53340" marR="53340" marT="53340" marB="5334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EDEDED"/>
                    </a:solidFill>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100.00%</a:t>
                      </a:r>
                      <a:endParaRPr lang="en-US" sz="1200" dirty="0">
                        <a:latin typeface="Arial" charset="0"/>
                        <a:ea typeface="Arial" charset="0"/>
                        <a:cs typeface="Arial" charset="0"/>
                      </a:endParaRPr>
                    </a:p>
                  </a:txBody>
                  <a:tcPr marL="53340" marR="53340" marT="53340" marB="5334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EDEDED"/>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1797050"/>
            <a:ext cx="10883392" cy="16256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14171C"/>
                </a:solidFill>
                <a:latin typeface="Source Serif 4" pitchFamily="18" charset="0"/>
                <a:ea typeface="Source Serif 4" pitchFamily="18" charset="-122"/>
                <a:cs typeface="Source Serif 4" pitchFamily="18" charset="-120"/>
              </a:rPr>
              <a:t>Every number was there.</a:t>
            </a:r>
            <a:endParaRPr lang="en-US" sz="6000" dirty="0"/>
          </a:p>
          <a:p>
            <a:pPr marL="0" indent="0" algn="l">
              <a:lnSpc>
                <a:spcPts val="6300"/>
              </a:lnSpc>
              <a:buNone/>
            </a:pPr>
            <a:r>
              <a:rPr lang="en-US" sz="6000" b="1" i="0" dirty="0">
                <a:solidFill>
                  <a:srgbClr val="1F5FBF"/>
                </a:solidFill>
                <a:latin typeface="Source Serif 4" pitchFamily="18" charset="0"/>
                <a:ea typeface="Source Serif 4" pitchFamily="18" charset="-122"/>
                <a:cs typeface="Source Serif 4" pitchFamily="18" charset="-120"/>
              </a:rPr>
              <a:t>The story wasn't.</a:t>
            </a:r>
            <a:endParaRPr lang="en-US" sz="6000" dirty="0"/>
          </a:p>
        </p:txBody>
      </p:sp>
      <p:sp>
        <p:nvSpPr>
          <p:cNvPr id="3" name="Text 1"/>
          <p:cNvSpPr/>
          <p:nvPr/>
        </p:nvSpPr>
        <p:spPr>
          <a:xfrm>
            <a:off x="812800" y="3702050"/>
            <a:ext cx="10883392" cy="38859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4A4F57"/>
                </a:solidFill>
                <a:latin typeface="IBM Plex Sans" pitchFamily="34" charset="0"/>
                <a:ea typeface="IBM Plex Sans" pitchFamily="34" charset="-122"/>
                <a:cs typeface="IBM Plex Sans" pitchFamily="34" charset="-120"/>
              </a:rPr>
              <a:t>Today: from showing data to communicating with it.</a:t>
            </a:r>
            <a:endParaRPr lang="en-US" sz="2200" dirty="0"/>
          </a:p>
        </p:txBody>
      </p:sp>
      <p:sp>
        <p:nvSpPr>
          <p:cNvPr id="4" name="Text 2"/>
          <p:cNvSpPr/>
          <p:nvPr/>
        </p:nvSpPr>
        <p:spPr>
          <a:xfrm>
            <a:off x="812800" y="4370040"/>
            <a:ext cx="1856780" cy="487660"/>
          </a:xfrm>
          <a:prstGeom prst="roundRect">
            <a:avLst>
              <a:gd name="adj" fmla="val 50000"/>
            </a:avLst>
          </a:prstGeom>
          <a:solidFill>
            <a:srgbClr val="E6EDF8"/>
          </a:solidFill>
          <a:ln/>
        </p:spPr>
        <p:txBody>
          <a:bodyPr wrap="none" lIns="0" tIns="0" rIns="0" bIns="0" rtlCol="0" anchor="ctr">
            <a:normAutofit/>
          </a:bodyPr>
          <a:lstStyle/>
          <a:p>
            <a:pPr marL="0" indent="0" algn="ctr">
              <a:lnSpc>
                <a:spcPts val="2240"/>
              </a:lnSpc>
              <a:buNone/>
            </a:pPr>
            <a:r>
              <a:rPr lang="en-US" sz="1600" b="1" dirty="0">
                <a:solidFill>
                  <a:srgbClr val="14171C"/>
                </a:solidFill>
                <a:latin typeface="IBM Plex Sans" pitchFamily="34" charset="0"/>
                <a:ea typeface="IBM Plex Sans" pitchFamily="34" charset="-122"/>
                <a:cs typeface="IBM Plex Sans" pitchFamily="34" charset="-120"/>
              </a:rPr>
              <a:t>What changed?</a:t>
            </a:r>
            <a:endParaRPr lang="en-US" sz="1600" dirty="0"/>
          </a:p>
        </p:txBody>
      </p:sp>
      <p:sp>
        <p:nvSpPr>
          <p:cNvPr id="5" name="Text 3"/>
          <p:cNvSpPr/>
          <p:nvPr/>
        </p:nvSpPr>
        <p:spPr>
          <a:xfrm>
            <a:off x="2821980" y="4370040"/>
            <a:ext cx="1267718" cy="487660"/>
          </a:xfrm>
          <a:prstGeom prst="roundRect">
            <a:avLst>
              <a:gd name="adj" fmla="val 50000"/>
            </a:avLst>
          </a:prstGeom>
          <a:solidFill>
            <a:srgbClr val="E6EDF8"/>
          </a:solidFill>
          <a:ln/>
        </p:spPr>
        <p:txBody>
          <a:bodyPr wrap="none" lIns="0" tIns="0" rIns="0" bIns="0" rtlCol="0" anchor="ctr">
            <a:normAutofit/>
          </a:bodyPr>
          <a:lstStyle/>
          <a:p>
            <a:pPr marL="0" indent="0" algn="ctr">
              <a:lnSpc>
                <a:spcPts val="2240"/>
              </a:lnSpc>
              <a:buNone/>
            </a:pPr>
            <a:r>
              <a:rPr lang="en-US" sz="1600" b="1" dirty="0">
                <a:solidFill>
                  <a:srgbClr val="14171C"/>
                </a:solidFill>
                <a:latin typeface="IBM Plex Sans" pitchFamily="34" charset="0"/>
                <a:ea typeface="IBM Plex Sans" pitchFamily="34" charset="-122"/>
                <a:cs typeface="IBM Plex Sans" pitchFamily="34" charset="-120"/>
              </a:rPr>
              <a:t>So what?</a:t>
            </a:r>
            <a:endParaRPr lang="en-US" sz="1600" dirty="0"/>
          </a:p>
        </p:txBody>
      </p:sp>
      <p:sp>
        <p:nvSpPr>
          <p:cNvPr id="6" name="Text 4"/>
          <p:cNvSpPr/>
          <p:nvPr/>
        </p:nvSpPr>
        <p:spPr>
          <a:xfrm>
            <a:off x="4242098" y="4370040"/>
            <a:ext cx="1454348" cy="487660"/>
          </a:xfrm>
          <a:prstGeom prst="roundRect">
            <a:avLst>
              <a:gd name="adj" fmla="val 50000"/>
            </a:avLst>
          </a:prstGeom>
          <a:solidFill>
            <a:srgbClr val="E6EDF8"/>
          </a:solidFill>
          <a:ln/>
        </p:spPr>
        <p:txBody>
          <a:bodyPr wrap="none" lIns="0" tIns="0" rIns="0" bIns="0" rtlCol="0" anchor="ctr">
            <a:normAutofit/>
          </a:bodyPr>
          <a:lstStyle/>
          <a:p>
            <a:pPr marL="0" indent="0" algn="ctr">
              <a:lnSpc>
                <a:spcPts val="2240"/>
              </a:lnSpc>
              <a:buNone/>
            </a:pPr>
            <a:r>
              <a:rPr lang="en-US" sz="1600" b="1" dirty="0">
                <a:solidFill>
                  <a:srgbClr val="14171C"/>
                </a:solidFill>
                <a:latin typeface="IBM Plex Sans" pitchFamily="34" charset="0"/>
                <a:ea typeface="IBM Plex Sans" pitchFamily="34" charset="-122"/>
                <a:cs typeface="IBM Plex Sans" pitchFamily="34" charset="-120"/>
              </a:rPr>
              <a:t>Now what?</a:t>
            </a:r>
            <a:endParaRPr lang="en-US" sz="1600" dirty="0"/>
          </a:p>
        </p:txBody>
      </p:sp>
      <p:sp>
        <p:nvSpPr>
          <p:cNvPr id="7" name="Text 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9"/>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171C"/>
                </a:solidFill>
                <a:latin typeface="Source Serif 4" pitchFamily="18" charset="0"/>
                <a:ea typeface="Source Serif 4" pitchFamily="18" charset="-122"/>
                <a:cs typeface="Source Serif 4" pitchFamily="18" charset="-120"/>
              </a:rPr>
              <a:t>We present in the order we worked</a:t>
            </a:r>
            <a:endParaRPr lang="en-US" sz="3600" dirty="0"/>
          </a:p>
        </p:txBody>
      </p:sp>
      <p:sp>
        <p:nvSpPr>
          <p:cNvPr id="4" name="Text 2"/>
          <p:cNvSpPr/>
          <p:nvPr/>
        </p:nvSpPr>
        <p:spPr>
          <a:xfrm>
            <a:off x="812800" y="1935411"/>
            <a:ext cx="512775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4A4F57"/>
                </a:solidFill>
                <a:latin typeface="IBM Plex Sans" pitchFamily="34" charset="0"/>
                <a:ea typeface="IBM Plex Sans" pitchFamily="34" charset="-122"/>
                <a:cs typeface="IBM Plex Sans" pitchFamily="34" charset="-120"/>
              </a:rPr>
              <a:t>How we work</a:t>
            </a:r>
            <a:endParaRPr lang="en-US" sz="1600" dirty="0"/>
          </a:p>
        </p:txBody>
      </p:sp>
      <p:sp>
        <p:nvSpPr>
          <p:cNvPr id="5" name="Text 3"/>
          <p:cNvSpPr/>
          <p:nvPr/>
        </p:nvSpPr>
        <p:spPr>
          <a:xfrm>
            <a:off x="812800" y="2255441"/>
            <a:ext cx="4978400" cy="487660"/>
          </a:xfrm>
          <a:prstGeom prst="rect">
            <a:avLst/>
          </a:prstGeom>
          <a:solidFill>
            <a:srgbClr val="E8EAED"/>
          </a:solidFill>
          <a:ln/>
        </p:spPr>
        <p:txBody>
          <a:bodyPr wrap="square" lIns="177800" tIns="101600" rIns="39116" bIns="76200" rtlCol="0" anchor="t">
            <a:normAutofit/>
          </a:bodyPr>
          <a:lstStyle/>
          <a:p>
            <a:pPr marL="0" indent="0" algn="l">
              <a:lnSpc>
                <a:spcPts val="2240"/>
              </a:lnSpc>
              <a:buNone/>
            </a:pPr>
            <a:r>
              <a:rPr lang="en-US" sz="1600" dirty="0">
                <a:solidFill>
                  <a:srgbClr val="14171C"/>
                </a:solidFill>
                <a:latin typeface="IBM Plex Sans" pitchFamily="34" charset="0"/>
                <a:ea typeface="IBM Plex Sans" pitchFamily="34" charset="-122"/>
                <a:cs typeface="IBM Plex Sans" pitchFamily="34" charset="-120"/>
              </a:rPr>
              <a:t>Data</a:t>
            </a:r>
            <a:endParaRPr lang="en-US" sz="1600" dirty="0"/>
          </a:p>
        </p:txBody>
      </p:sp>
      <p:sp>
        <p:nvSpPr>
          <p:cNvPr id="6" name="Text 4"/>
          <p:cNvSpPr/>
          <p:nvPr/>
        </p:nvSpPr>
        <p:spPr>
          <a:xfrm>
            <a:off x="812800" y="2819301"/>
            <a:ext cx="4978400" cy="487660"/>
          </a:xfrm>
          <a:prstGeom prst="rect">
            <a:avLst/>
          </a:prstGeom>
          <a:solidFill>
            <a:srgbClr val="E8EAED"/>
          </a:solidFill>
          <a:ln/>
        </p:spPr>
        <p:txBody>
          <a:bodyPr wrap="square" lIns="177800" tIns="101600" rIns="39116" bIns="76200" rtlCol="0" anchor="t">
            <a:normAutofit/>
          </a:bodyPr>
          <a:lstStyle/>
          <a:p>
            <a:pPr marL="0" indent="0" algn="l">
              <a:lnSpc>
                <a:spcPts val="2240"/>
              </a:lnSpc>
              <a:buNone/>
            </a:pPr>
            <a:r>
              <a:rPr lang="en-US" sz="1600" dirty="0">
                <a:solidFill>
                  <a:srgbClr val="14171C"/>
                </a:solidFill>
                <a:latin typeface="IBM Plex Sans" pitchFamily="34" charset="0"/>
                <a:ea typeface="IBM Plex Sans" pitchFamily="34" charset="-122"/>
                <a:cs typeface="IBM Plex Sans" pitchFamily="34" charset="-120"/>
              </a:rPr>
              <a:t>Cleaning</a:t>
            </a:r>
            <a:endParaRPr lang="en-US" sz="1600" dirty="0"/>
          </a:p>
        </p:txBody>
      </p:sp>
      <p:sp>
        <p:nvSpPr>
          <p:cNvPr id="7" name="Text 5"/>
          <p:cNvSpPr/>
          <p:nvPr/>
        </p:nvSpPr>
        <p:spPr>
          <a:xfrm>
            <a:off x="812800" y="3383161"/>
            <a:ext cx="4978400" cy="487660"/>
          </a:xfrm>
          <a:prstGeom prst="rect">
            <a:avLst/>
          </a:prstGeom>
          <a:solidFill>
            <a:srgbClr val="E8EAED"/>
          </a:solidFill>
          <a:ln/>
        </p:spPr>
        <p:txBody>
          <a:bodyPr wrap="square" lIns="177800" tIns="101600" rIns="39116" bIns="76200" rtlCol="0" anchor="t">
            <a:normAutofit/>
          </a:bodyPr>
          <a:lstStyle/>
          <a:p>
            <a:pPr marL="0" indent="0" algn="l">
              <a:lnSpc>
                <a:spcPts val="2240"/>
              </a:lnSpc>
              <a:buNone/>
            </a:pPr>
            <a:r>
              <a:rPr lang="en-US" sz="1600" dirty="0">
                <a:solidFill>
                  <a:srgbClr val="14171C"/>
                </a:solidFill>
                <a:latin typeface="IBM Plex Sans" pitchFamily="34" charset="0"/>
                <a:ea typeface="IBM Plex Sans" pitchFamily="34" charset="-122"/>
                <a:cs typeface="IBM Plex Sans" pitchFamily="34" charset="-120"/>
              </a:rPr>
              <a:t>Analysis</a:t>
            </a:r>
            <a:endParaRPr lang="en-US" sz="1600" dirty="0"/>
          </a:p>
        </p:txBody>
      </p:sp>
      <p:sp>
        <p:nvSpPr>
          <p:cNvPr id="8" name="Text 6"/>
          <p:cNvSpPr/>
          <p:nvPr/>
        </p:nvSpPr>
        <p:spPr>
          <a:xfrm>
            <a:off x="812800" y="3947021"/>
            <a:ext cx="4978400" cy="487660"/>
          </a:xfrm>
          <a:prstGeom prst="rect">
            <a:avLst/>
          </a:prstGeom>
          <a:solidFill>
            <a:srgbClr val="E8EAED"/>
          </a:solidFill>
          <a:ln/>
        </p:spPr>
        <p:txBody>
          <a:bodyPr wrap="square" lIns="177800" tIns="101600" rIns="39116" bIns="76200" rtlCol="0" anchor="t">
            <a:normAutofit/>
          </a:bodyPr>
          <a:lstStyle/>
          <a:p>
            <a:pPr marL="0" indent="0" algn="l">
              <a:lnSpc>
                <a:spcPts val="2240"/>
              </a:lnSpc>
              <a:buNone/>
            </a:pPr>
            <a:r>
              <a:rPr lang="en-US" sz="1600" dirty="0">
                <a:solidFill>
                  <a:srgbClr val="14171C"/>
                </a:solidFill>
                <a:latin typeface="IBM Plex Sans" pitchFamily="34" charset="0"/>
                <a:ea typeface="IBM Plex Sans" pitchFamily="34" charset="-122"/>
                <a:cs typeface="IBM Plex Sans" pitchFamily="34" charset="-120"/>
              </a:rPr>
              <a:t>Findings</a:t>
            </a:r>
            <a:endParaRPr lang="en-US" sz="1600" dirty="0"/>
          </a:p>
        </p:txBody>
      </p:sp>
      <p:sp>
        <p:nvSpPr>
          <p:cNvPr id="9" name="Text 7"/>
          <p:cNvSpPr/>
          <p:nvPr/>
        </p:nvSpPr>
        <p:spPr>
          <a:xfrm>
            <a:off x="819150" y="4517231"/>
            <a:ext cx="4965700" cy="500360"/>
          </a:xfrm>
          <a:prstGeom prst="rect">
            <a:avLst/>
          </a:prstGeom>
          <a:solidFill>
            <a:srgbClr val="F3F4F5"/>
          </a:solidFill>
          <a:ln w="12700">
            <a:solidFill>
              <a:srgbClr val="B8BCC2"/>
            </a:solidFill>
            <a:prstDash val="dash"/>
          </a:ln>
        </p:spPr>
        <p:txBody>
          <a:bodyPr wrap="square" lIns="184150" tIns="107950" rIns="46228" bIns="82550" rtlCol="0" anchor="t">
            <a:normAutofit/>
          </a:bodyPr>
          <a:lstStyle/>
          <a:p>
            <a:pPr marL="0" indent="0" algn="l">
              <a:lnSpc>
                <a:spcPts val="2240"/>
              </a:lnSpc>
              <a:buNone/>
            </a:pPr>
            <a:r>
              <a:rPr lang="en-US" sz="1600" dirty="0">
                <a:solidFill>
                  <a:srgbClr val="6B7079"/>
                </a:solidFill>
                <a:latin typeface="IBM Plex Sans" pitchFamily="34" charset="0"/>
                <a:ea typeface="IBM Plex Sans" pitchFamily="34" charset="-122"/>
                <a:cs typeface="IBM Plex Sans" pitchFamily="34" charset="-120"/>
              </a:rPr>
              <a:t>Recommendation (a much later slide)</a:t>
            </a:r>
            <a:endParaRPr lang="en-US" sz="1600" dirty="0"/>
          </a:p>
        </p:txBody>
      </p:sp>
      <p:sp>
        <p:nvSpPr>
          <p:cNvPr id="10" name="Text 8"/>
          <p:cNvSpPr/>
          <p:nvPr/>
        </p:nvSpPr>
        <p:spPr>
          <a:xfrm>
            <a:off x="6400800" y="1935411"/>
            <a:ext cx="1750159"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5FBF"/>
                </a:solidFill>
                <a:latin typeface="IBM Plex Sans" pitchFamily="34" charset="0"/>
                <a:ea typeface="IBM Plex Sans" pitchFamily="34" charset="-122"/>
                <a:cs typeface="IBM Plex Sans" pitchFamily="34" charset="-120"/>
              </a:rPr>
              <a:t>How they listen</a:t>
            </a:r>
            <a:endParaRPr lang="en-US" sz="1600" dirty="0"/>
          </a:p>
        </p:txBody>
      </p:sp>
      <p:sp>
        <p:nvSpPr>
          <p:cNvPr id="11" name="Text 9"/>
          <p:cNvSpPr/>
          <p:nvPr/>
        </p:nvSpPr>
        <p:spPr>
          <a:xfrm>
            <a:off x="6477000" y="2255441"/>
            <a:ext cx="4826000" cy="487660"/>
          </a:xfrm>
          <a:prstGeom prst="rect">
            <a:avLst/>
          </a:prstGeom>
          <a:solidFill>
            <a:srgbClr val="1F5FBF"/>
          </a:solidFill>
          <a:ln/>
        </p:spPr>
        <p:txBody>
          <a:bodyPr wrap="square" lIns="110744" tIns="101600" rIns="110744" bIns="76200" rtlCol="0" anchor="t">
            <a:normAutofit/>
          </a:bodyPr>
          <a:lstStyle/>
          <a:p>
            <a:pPr marL="0" indent="0" algn="ctr">
              <a:lnSpc>
                <a:spcPts val="2240"/>
              </a:lnSpc>
              <a:buNone/>
            </a:pPr>
            <a:r>
              <a:rPr lang="en-US" sz="1600" b="1" dirty="0">
                <a:solidFill>
                  <a:srgbClr val="FBFBFA"/>
                </a:solidFill>
                <a:latin typeface="IBM Plex Sans" pitchFamily="34" charset="0"/>
                <a:ea typeface="IBM Plex Sans" pitchFamily="34" charset="-122"/>
                <a:cs typeface="IBM Plex Sans" pitchFamily="34" charset="-120"/>
              </a:rPr>
              <a:t>Recommendation</a:t>
            </a:r>
            <a:endParaRPr lang="en-US" sz="1600" dirty="0"/>
          </a:p>
        </p:txBody>
      </p:sp>
      <p:sp>
        <p:nvSpPr>
          <p:cNvPr id="12" name="Text 10"/>
          <p:cNvSpPr/>
          <p:nvPr/>
        </p:nvSpPr>
        <p:spPr>
          <a:xfrm>
            <a:off x="6858000" y="2819301"/>
            <a:ext cx="4064000" cy="487660"/>
          </a:xfrm>
          <a:prstGeom prst="rect">
            <a:avLst/>
          </a:prstGeom>
          <a:solidFill>
            <a:srgbClr val="D6E2F5"/>
          </a:solidFill>
          <a:ln/>
        </p:spPr>
        <p:txBody>
          <a:bodyPr wrap="square" lIns="122174" tIns="101600" rIns="122174" bIns="76200" rtlCol="0" anchor="t">
            <a:normAutofit/>
          </a:bodyPr>
          <a:lstStyle/>
          <a:p>
            <a:pPr marL="0" indent="0" algn="ctr">
              <a:lnSpc>
                <a:spcPts val="2240"/>
              </a:lnSpc>
              <a:buNone/>
            </a:pPr>
            <a:r>
              <a:rPr lang="en-US" sz="1600" dirty="0">
                <a:solidFill>
                  <a:srgbClr val="14171C"/>
                </a:solidFill>
                <a:latin typeface="IBM Plex Sans" pitchFamily="34" charset="0"/>
                <a:ea typeface="IBM Plex Sans" pitchFamily="34" charset="-122"/>
                <a:cs typeface="IBM Plex Sans" pitchFamily="34" charset="-120"/>
              </a:rPr>
              <a:t>Why it matters</a:t>
            </a:r>
            <a:endParaRPr lang="en-US" sz="1600" dirty="0"/>
          </a:p>
        </p:txBody>
      </p:sp>
      <p:sp>
        <p:nvSpPr>
          <p:cNvPr id="13" name="Text 11"/>
          <p:cNvSpPr/>
          <p:nvPr/>
        </p:nvSpPr>
        <p:spPr>
          <a:xfrm>
            <a:off x="7239000" y="3383161"/>
            <a:ext cx="3302000" cy="487660"/>
          </a:xfrm>
          <a:prstGeom prst="rect">
            <a:avLst/>
          </a:prstGeom>
          <a:solidFill>
            <a:srgbClr val="E8EAED"/>
          </a:solidFill>
          <a:ln/>
        </p:spPr>
        <p:txBody>
          <a:bodyPr wrap="square" lIns="133604" tIns="101600" rIns="133604" bIns="76200" rtlCol="0" anchor="t">
            <a:normAutofit/>
          </a:bodyPr>
          <a:lstStyle/>
          <a:p>
            <a:pPr marL="0" indent="0" algn="ctr">
              <a:lnSpc>
                <a:spcPts val="2240"/>
              </a:lnSpc>
              <a:buNone/>
            </a:pPr>
            <a:r>
              <a:rPr lang="en-US" sz="1600" dirty="0">
                <a:solidFill>
                  <a:srgbClr val="14171C"/>
                </a:solidFill>
                <a:latin typeface="IBM Plex Sans" pitchFamily="34" charset="0"/>
                <a:ea typeface="IBM Plex Sans" pitchFamily="34" charset="-122"/>
                <a:cs typeface="IBM Plex Sans" pitchFamily="34" charset="-120"/>
              </a:rPr>
              <a:t>Evidence</a:t>
            </a:r>
            <a:endParaRPr lang="en-US" sz="1600" dirty="0"/>
          </a:p>
        </p:txBody>
      </p:sp>
      <p:sp>
        <p:nvSpPr>
          <p:cNvPr id="14" name="Text 12"/>
          <p:cNvSpPr/>
          <p:nvPr/>
        </p:nvSpPr>
        <p:spPr>
          <a:xfrm>
            <a:off x="7620000" y="3947021"/>
            <a:ext cx="2540000" cy="487660"/>
          </a:xfrm>
          <a:prstGeom prst="rect">
            <a:avLst/>
          </a:prstGeom>
          <a:solidFill>
            <a:srgbClr val="F3F4F5"/>
          </a:solidFill>
          <a:ln/>
        </p:spPr>
        <p:txBody>
          <a:bodyPr wrap="square" lIns="145034" tIns="101600" rIns="145034" bIns="76200" rtlCol="0" anchor="t">
            <a:normAutofit/>
          </a:bodyPr>
          <a:lstStyle/>
          <a:p>
            <a:pPr marL="0" indent="0" algn="ctr">
              <a:lnSpc>
                <a:spcPts val="2240"/>
              </a:lnSpc>
              <a:buNone/>
            </a:pPr>
            <a:r>
              <a:rPr lang="en-US" sz="1600" dirty="0">
                <a:solidFill>
                  <a:srgbClr val="4A4F57"/>
                </a:solidFill>
                <a:latin typeface="IBM Plex Sans" pitchFamily="34" charset="0"/>
                <a:ea typeface="IBM Plex Sans" pitchFamily="34" charset="-122"/>
                <a:cs typeface="IBM Plex Sans" pitchFamily="34" charset="-120"/>
              </a:rPr>
              <a:t>Method: appendix</a:t>
            </a:r>
            <a:endParaRPr lang="en-US" sz="16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9"/>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fontScale="90000"/>
          </a:bodyPr>
          <a:lstStyle/>
          <a:p>
            <a:pPr marL="0" indent="0" algn="l">
              <a:lnSpc>
                <a:spcPts val="3960"/>
              </a:lnSpc>
              <a:buNone/>
            </a:pPr>
            <a:r>
              <a:rPr lang="en-US" sz="3600" b="1" i="0" dirty="0">
                <a:solidFill>
                  <a:srgbClr val="14171C"/>
                </a:solidFill>
                <a:latin typeface="Source Serif 4" pitchFamily="18" charset="0"/>
                <a:ea typeface="Source Serif 4" pitchFamily="18" charset="-122"/>
                <a:cs typeface="Source Serif 4" pitchFamily="18" charset="-120"/>
              </a:rPr>
              <a:t>For today, let’s imagine we’re working with chargeback data</a:t>
            </a:r>
            <a:endParaRPr lang="en-US" sz="3600" dirty="0"/>
          </a:p>
        </p:txBody>
      </p:sp>
      <p:sp>
        <p:nvSpPr>
          <p:cNvPr id="10" name="Text 8"/>
          <p:cNvSpPr/>
          <p:nvPr/>
        </p:nvSpPr>
        <p:spPr>
          <a:xfrm>
            <a:off x="812800" y="2334804"/>
            <a:ext cx="10138979" cy="2773224"/>
          </a:xfrm>
          <a:prstGeom prst="rect">
            <a:avLst/>
          </a:prstGeom>
          <a:noFill/>
          <a:ln/>
        </p:spPr>
        <p:txBody>
          <a:bodyPr wrap="square" lIns="0" tIns="0" rIns="0" bIns="0" rtlCol="0" anchor="t">
            <a:noAutofit/>
          </a:bodyPr>
          <a:lstStyle/>
          <a:p>
            <a:pPr marL="0" indent="0" algn="l">
              <a:buNone/>
            </a:pPr>
            <a:r>
              <a:rPr lang="en-US" sz="4000" b="1" dirty="0">
                <a:solidFill>
                  <a:srgbClr val="1F5FBF"/>
                </a:solidFill>
                <a:latin typeface="IBM Plex Sans" pitchFamily="34" charset="0"/>
                <a:ea typeface="IBM Plex Sans" pitchFamily="34" charset="-122"/>
                <a:cs typeface="IBM Plex Sans" pitchFamily="34" charset="-120"/>
              </a:rPr>
              <a:t>Chargeback</a:t>
            </a:r>
            <a:r>
              <a:rPr lang="en-US" sz="4000" dirty="0">
                <a:solidFill>
                  <a:srgbClr val="1F5FBF"/>
                </a:solidFill>
                <a:latin typeface="IBM Plex Sans" pitchFamily="34" charset="0"/>
                <a:ea typeface="IBM Plex Sans" pitchFamily="34" charset="-122"/>
                <a:cs typeface="IBM Plex Sans" pitchFamily="34" charset="-120"/>
              </a:rPr>
              <a:t> is a reversal of a credit or debit transaction initiated by the cardholder’s bank on customer’s request to return funds to the customer.</a:t>
            </a:r>
            <a:endParaRPr lang="en-US" sz="40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9"/>
                </a:solidFill>
                <a:latin typeface="IBM Plex Sans" pitchFamily="34" charset="0"/>
                <a:ea typeface="IBM Plex Sans" pitchFamily="34" charset="-122"/>
                <a:cs typeface="IBM Plex Sans" pitchFamily="34" charset="-120"/>
              </a:rPr>
              <a:t>4</a:t>
            </a:r>
            <a:endParaRPr lang="en-US" sz="1200" dirty="0"/>
          </a:p>
        </p:txBody>
      </p:sp>
    </p:spTree>
    <p:extLst>
      <p:ext uri="{BB962C8B-B14F-4D97-AF65-F5344CB8AC3E}">
        <p14:creationId xmlns:p14="http://schemas.microsoft.com/office/powerpoint/2010/main" val="1889973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5FBF"/>
                </a:solidFill>
                <a:latin typeface="IBM Plex Sans" pitchFamily="34" charset="0"/>
                <a:ea typeface="IBM Plex Sans" pitchFamily="34" charset="-122"/>
                <a:cs typeface="IBM Plex Sans" pitchFamily="34" charset="-120"/>
              </a:rPr>
              <a:t>SO WHAT?</a:t>
            </a:r>
            <a:endParaRPr lang="en-US" sz="1200" dirty="0"/>
          </a:p>
        </p:txBody>
      </p:sp>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171C"/>
                </a:solidFill>
                <a:latin typeface="Source Serif 4" pitchFamily="18" charset="0"/>
                <a:ea typeface="Source Serif 4" pitchFamily="18" charset="-122"/>
                <a:cs typeface="Source Serif 4" pitchFamily="18" charset="-120"/>
              </a:rPr>
              <a:t>Keep asking until </a:t>
            </a:r>
            <a:r>
              <a:rPr lang="en-US" b="1" dirty="0">
                <a:latin typeface="Source Serif 4" pitchFamily="18" charset="0"/>
                <a:ea typeface="Source Serif 4" pitchFamily="18" charset="-122"/>
                <a:cs typeface="Source Serif 4" pitchFamily="18" charset="-120"/>
              </a:rPr>
              <a:t>there is no more </a:t>
            </a:r>
            <a:r>
              <a:rPr lang="en-US" b="1" i="1" dirty="0">
                <a:latin typeface="Source Serif 4" pitchFamily="18" charset="0"/>
                <a:ea typeface="Source Serif 4" pitchFamily="18" charset="-122"/>
                <a:cs typeface="Source Serif 4" pitchFamily="18" charset="-120"/>
              </a:rPr>
              <a:t>“so what”</a:t>
            </a:r>
            <a:r>
              <a:rPr lang="en-US" b="1" dirty="0">
                <a:latin typeface="Source Serif 4" pitchFamily="18" charset="0"/>
                <a:ea typeface="Source Serif 4" pitchFamily="18" charset="-122"/>
                <a:cs typeface="Source Serif 4" pitchFamily="18" charset="-120"/>
              </a:rPr>
              <a:t> possible</a:t>
            </a:r>
            <a:endParaRPr lang="en-US" sz="3600" dirty="0"/>
          </a:p>
        </p:txBody>
      </p:sp>
      <p:sp>
        <p:nvSpPr>
          <p:cNvPr id="4" name="Text 2"/>
          <p:cNvSpPr/>
          <p:nvPr/>
        </p:nvSpPr>
        <p:spPr>
          <a:xfrm>
            <a:off x="812800" y="4953000"/>
            <a:ext cx="3302000" cy="571500"/>
          </a:xfrm>
          <a:prstGeom prst="roundRect">
            <a:avLst>
              <a:gd name="adj" fmla="val 13333"/>
            </a:avLst>
          </a:prstGeom>
          <a:solidFill>
            <a:srgbClr val="F1F2F4"/>
          </a:solidFill>
          <a:ln/>
        </p:spPr>
        <p:txBody>
          <a:bodyPr wrap="square" lIns="155482" tIns="0" rIns="155482" bIns="0" rtlCol="0" anchor="ctr">
            <a:normAutofit/>
          </a:bodyPr>
          <a:lstStyle/>
          <a:p>
            <a:pPr marL="0" indent="0" algn="l">
              <a:lnSpc>
                <a:spcPts val="2240"/>
              </a:lnSpc>
              <a:buNone/>
            </a:pPr>
            <a:r>
              <a:rPr lang="en-US" sz="1600" dirty="0">
                <a:solidFill>
                  <a:srgbClr val="14171C"/>
                </a:solidFill>
                <a:latin typeface="IBM Plex Sans" pitchFamily="34" charset="0"/>
                <a:ea typeface="IBM Plex Sans" pitchFamily="34" charset="-122"/>
                <a:cs typeface="IBM Plex Sans" pitchFamily="34" charset="-120"/>
              </a:rPr>
              <a:t>We pulled 18 months of data</a:t>
            </a:r>
            <a:endParaRPr lang="en-US" sz="1600" dirty="0"/>
          </a:p>
        </p:txBody>
      </p:sp>
      <p:sp>
        <p:nvSpPr>
          <p:cNvPr id="5" name="Text 3"/>
          <p:cNvSpPr/>
          <p:nvPr/>
        </p:nvSpPr>
        <p:spPr>
          <a:xfrm>
            <a:off x="762000" y="4343400"/>
            <a:ext cx="1625600" cy="309860"/>
          </a:xfrm>
          <a:prstGeom prst="rect">
            <a:avLst/>
          </a:prstGeom>
          <a:noFill/>
          <a:ln/>
        </p:spPr>
        <p:txBody>
          <a:bodyPr wrap="square" lIns="0" tIns="0" rIns="0" bIns="0" rtlCol="0" anchor="t">
            <a:normAutofit/>
          </a:bodyPr>
          <a:lstStyle/>
          <a:p>
            <a:pPr marL="0" indent="0" algn="r">
              <a:lnSpc>
                <a:spcPts val="2240"/>
              </a:lnSpc>
              <a:buNone/>
            </a:pPr>
            <a:r>
              <a:rPr lang="en-US" sz="1600" b="1" i="1" dirty="0">
                <a:solidFill>
                  <a:srgbClr val="B24A17"/>
                </a:solidFill>
                <a:latin typeface="IBM Plex Sans" pitchFamily="34" charset="0"/>
                <a:ea typeface="IBM Plex Sans" pitchFamily="34" charset="-122"/>
                <a:cs typeface="IBM Plex Sans" pitchFamily="34" charset="-120"/>
              </a:rPr>
              <a:t>so what?</a:t>
            </a:r>
            <a:endParaRPr lang="en-US" sz="1600" dirty="0"/>
          </a:p>
        </p:txBody>
      </p:sp>
      <p:sp>
        <p:nvSpPr>
          <p:cNvPr id="6" name="Text 4"/>
          <p:cNvSpPr/>
          <p:nvPr/>
        </p:nvSpPr>
        <p:spPr>
          <a:xfrm>
            <a:off x="2540000" y="4191000"/>
            <a:ext cx="3401060" cy="571500"/>
          </a:xfrm>
          <a:prstGeom prst="roundRect">
            <a:avLst>
              <a:gd name="adj" fmla="val 13333"/>
            </a:avLst>
          </a:prstGeom>
          <a:solidFill>
            <a:srgbClr val="F1F2F4"/>
          </a:solidFill>
          <a:ln/>
        </p:spPr>
        <p:txBody>
          <a:bodyPr wrap="square" lIns="155482" tIns="0" rIns="155482" bIns="0" rtlCol="0" anchor="ctr">
            <a:normAutofit/>
          </a:bodyPr>
          <a:lstStyle/>
          <a:p>
            <a:pPr marL="0" indent="0" algn="l">
              <a:lnSpc>
                <a:spcPts val="2240"/>
              </a:lnSpc>
              <a:buNone/>
            </a:pPr>
            <a:r>
              <a:rPr lang="en-US" sz="1600" dirty="0">
                <a:solidFill>
                  <a:srgbClr val="14171C"/>
                </a:solidFill>
                <a:latin typeface="IBM Plex Sans" pitchFamily="34" charset="0"/>
                <a:ea typeface="IBM Plex Sans" pitchFamily="34" charset="-122"/>
                <a:cs typeface="IBM Plex Sans" pitchFamily="34" charset="-120"/>
              </a:rPr>
              <a:t>Split by reason and order value</a:t>
            </a:r>
            <a:endParaRPr lang="en-US" sz="1600" dirty="0"/>
          </a:p>
        </p:txBody>
      </p:sp>
      <p:sp>
        <p:nvSpPr>
          <p:cNvPr id="7" name="Text 5"/>
          <p:cNvSpPr/>
          <p:nvPr/>
        </p:nvSpPr>
        <p:spPr>
          <a:xfrm>
            <a:off x="713740" y="3581400"/>
            <a:ext cx="3401060" cy="309860"/>
          </a:xfrm>
          <a:prstGeom prst="rect">
            <a:avLst/>
          </a:prstGeom>
          <a:noFill/>
          <a:ln/>
        </p:spPr>
        <p:txBody>
          <a:bodyPr wrap="square" lIns="0" tIns="0" rIns="0" bIns="0" rtlCol="0" anchor="t">
            <a:normAutofit/>
          </a:bodyPr>
          <a:lstStyle/>
          <a:p>
            <a:pPr marL="0" indent="0" algn="r">
              <a:lnSpc>
                <a:spcPts val="2240"/>
              </a:lnSpc>
              <a:buNone/>
            </a:pPr>
            <a:r>
              <a:rPr lang="en-US" sz="1600" b="1" i="1" dirty="0">
                <a:solidFill>
                  <a:srgbClr val="B24A17"/>
                </a:solidFill>
                <a:latin typeface="IBM Plex Sans" pitchFamily="34" charset="0"/>
                <a:ea typeface="IBM Plex Sans" pitchFamily="34" charset="-122"/>
                <a:cs typeface="IBM Plex Sans" pitchFamily="34" charset="-120"/>
              </a:rPr>
              <a:t>so what?</a:t>
            </a:r>
            <a:endParaRPr lang="en-US" sz="1600" dirty="0"/>
          </a:p>
        </p:txBody>
      </p:sp>
      <p:sp>
        <p:nvSpPr>
          <p:cNvPr id="8" name="Text 6"/>
          <p:cNvSpPr/>
          <p:nvPr/>
        </p:nvSpPr>
        <p:spPr>
          <a:xfrm>
            <a:off x="4267200" y="3429000"/>
            <a:ext cx="3195145" cy="571500"/>
          </a:xfrm>
          <a:prstGeom prst="roundRect">
            <a:avLst>
              <a:gd name="adj" fmla="val 13333"/>
            </a:avLst>
          </a:prstGeom>
          <a:solidFill>
            <a:srgbClr val="F1F2F4"/>
          </a:solidFill>
          <a:ln/>
        </p:spPr>
        <p:txBody>
          <a:bodyPr wrap="square" lIns="155482" tIns="0" rIns="155482" bIns="0" rtlCol="0" anchor="ctr">
            <a:normAutofit/>
          </a:bodyPr>
          <a:lstStyle/>
          <a:p>
            <a:pPr marL="0" indent="0" algn="l">
              <a:lnSpc>
                <a:spcPts val="2240"/>
              </a:lnSpc>
              <a:buNone/>
            </a:pPr>
            <a:r>
              <a:rPr lang="en-US" sz="1600" dirty="0">
                <a:solidFill>
                  <a:srgbClr val="14171C"/>
                </a:solidFill>
                <a:latin typeface="IBM Plex Sans" pitchFamily="34" charset="0"/>
                <a:ea typeface="IBM Plex Sans" pitchFamily="34" charset="-122"/>
                <a:cs typeface="IBM Plex Sans" pitchFamily="34" charset="-120"/>
              </a:rPr>
              <a:t>'Not received' grew fastest</a:t>
            </a:r>
            <a:endParaRPr lang="en-US" sz="1600" dirty="0"/>
          </a:p>
        </p:txBody>
      </p:sp>
      <p:sp>
        <p:nvSpPr>
          <p:cNvPr id="9" name="Text 7"/>
          <p:cNvSpPr/>
          <p:nvPr/>
        </p:nvSpPr>
        <p:spPr>
          <a:xfrm>
            <a:off x="661924" y="2819400"/>
            <a:ext cx="5180076" cy="309860"/>
          </a:xfrm>
          <a:prstGeom prst="rect">
            <a:avLst/>
          </a:prstGeom>
          <a:noFill/>
          <a:ln/>
        </p:spPr>
        <p:txBody>
          <a:bodyPr wrap="square" lIns="0" tIns="0" rIns="0" bIns="0" rtlCol="0" anchor="t">
            <a:normAutofit/>
          </a:bodyPr>
          <a:lstStyle/>
          <a:p>
            <a:pPr marL="0" indent="0" algn="r">
              <a:lnSpc>
                <a:spcPts val="2240"/>
              </a:lnSpc>
              <a:buNone/>
            </a:pPr>
            <a:r>
              <a:rPr lang="en-US" sz="1600" b="1" i="1" dirty="0">
                <a:solidFill>
                  <a:srgbClr val="B24A17"/>
                </a:solidFill>
                <a:latin typeface="IBM Plex Sans" pitchFamily="34" charset="0"/>
                <a:ea typeface="IBM Plex Sans" pitchFamily="34" charset="-122"/>
                <a:cs typeface="IBM Plex Sans" pitchFamily="34" charset="-120"/>
              </a:rPr>
              <a:t>so what?</a:t>
            </a:r>
            <a:endParaRPr lang="en-US" sz="1600" dirty="0"/>
          </a:p>
        </p:txBody>
      </p:sp>
      <p:sp>
        <p:nvSpPr>
          <p:cNvPr id="10" name="Text 8"/>
          <p:cNvSpPr/>
          <p:nvPr/>
        </p:nvSpPr>
        <p:spPr>
          <a:xfrm>
            <a:off x="5994400" y="2667000"/>
            <a:ext cx="3104055" cy="571500"/>
          </a:xfrm>
          <a:prstGeom prst="roundRect">
            <a:avLst>
              <a:gd name="adj" fmla="val 13333"/>
            </a:avLst>
          </a:prstGeom>
          <a:solidFill>
            <a:srgbClr val="F1F2F4"/>
          </a:solidFill>
          <a:ln/>
        </p:spPr>
        <p:txBody>
          <a:bodyPr wrap="square" lIns="155482" tIns="0" rIns="155482" bIns="0" rtlCol="0" anchor="ctr">
            <a:normAutofit/>
          </a:bodyPr>
          <a:lstStyle/>
          <a:p>
            <a:pPr marL="0" indent="0" algn="l">
              <a:lnSpc>
                <a:spcPts val="2240"/>
              </a:lnSpc>
              <a:buNone/>
            </a:pPr>
            <a:r>
              <a:rPr lang="en-US" sz="1600" dirty="0">
                <a:solidFill>
                  <a:srgbClr val="14171C"/>
                </a:solidFill>
                <a:latin typeface="IBM Plex Sans" pitchFamily="34" charset="0"/>
                <a:ea typeface="IBM Plex Sans" pitchFamily="34" charset="-122"/>
                <a:cs typeface="IBM Plex Sans" pitchFamily="34" charset="-120"/>
              </a:rPr>
              <a:t>Costs more than all the rest</a:t>
            </a:r>
            <a:endParaRPr lang="en-US" sz="1600" dirty="0"/>
          </a:p>
        </p:txBody>
      </p:sp>
      <p:sp>
        <p:nvSpPr>
          <p:cNvPr id="11" name="Text 9"/>
          <p:cNvSpPr/>
          <p:nvPr/>
        </p:nvSpPr>
        <p:spPr>
          <a:xfrm>
            <a:off x="610108" y="2057400"/>
            <a:ext cx="6959092" cy="309860"/>
          </a:xfrm>
          <a:prstGeom prst="rect">
            <a:avLst/>
          </a:prstGeom>
          <a:noFill/>
          <a:ln/>
        </p:spPr>
        <p:txBody>
          <a:bodyPr wrap="square" lIns="0" tIns="0" rIns="0" bIns="0" rtlCol="0" anchor="t">
            <a:normAutofit/>
          </a:bodyPr>
          <a:lstStyle/>
          <a:p>
            <a:pPr marL="0" indent="0" algn="r">
              <a:lnSpc>
                <a:spcPts val="2240"/>
              </a:lnSpc>
              <a:buNone/>
            </a:pPr>
            <a:r>
              <a:rPr lang="en-US" sz="1600" b="1" i="1" dirty="0">
                <a:solidFill>
                  <a:srgbClr val="B24A17"/>
                </a:solidFill>
                <a:latin typeface="IBM Plex Sans" pitchFamily="34" charset="0"/>
                <a:ea typeface="IBM Plex Sans" pitchFamily="34" charset="-122"/>
                <a:cs typeface="IBM Plex Sans" pitchFamily="34" charset="-120"/>
              </a:rPr>
              <a:t>so what?</a:t>
            </a:r>
            <a:endParaRPr lang="en-US" sz="1600" dirty="0"/>
          </a:p>
        </p:txBody>
      </p:sp>
      <p:sp>
        <p:nvSpPr>
          <p:cNvPr id="12" name="Text 10"/>
          <p:cNvSpPr/>
          <p:nvPr/>
        </p:nvSpPr>
        <p:spPr>
          <a:xfrm>
            <a:off x="7721600" y="1905000"/>
            <a:ext cx="3104055" cy="571500"/>
          </a:xfrm>
          <a:prstGeom prst="roundRect">
            <a:avLst>
              <a:gd name="adj" fmla="val 13333"/>
            </a:avLst>
          </a:prstGeom>
          <a:solidFill>
            <a:srgbClr val="1F5FBF"/>
          </a:solidFill>
          <a:ln/>
        </p:spPr>
        <p:txBody>
          <a:bodyPr wrap="square" lIns="155482" tIns="0" rIns="155482" bIns="0" rtlCol="0" anchor="ctr">
            <a:normAutofit/>
          </a:bodyPr>
          <a:lstStyle/>
          <a:p>
            <a:pPr marL="0" indent="0" algn="l">
              <a:lnSpc>
                <a:spcPts val="2240"/>
              </a:lnSpc>
              <a:buNone/>
            </a:pPr>
            <a:r>
              <a:rPr lang="en-US" sz="1600" b="1" dirty="0">
                <a:solidFill>
                  <a:srgbClr val="FFFFFF"/>
                </a:solidFill>
                <a:latin typeface="IBM Plex Sans" pitchFamily="34" charset="0"/>
                <a:ea typeface="IBM Plex Sans" pitchFamily="34" charset="-122"/>
                <a:cs typeface="IBM Plex Sans" pitchFamily="34" charset="-120"/>
              </a:rPr>
              <a:t>Signatures could halve it</a:t>
            </a:r>
            <a:endParaRPr lang="en-US" sz="16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9"/>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5FBF"/>
                </a:solidFill>
                <a:latin typeface="IBM Plex Sans" pitchFamily="34" charset="0"/>
                <a:ea typeface="IBM Plex Sans" pitchFamily="34" charset="-122"/>
                <a:cs typeface="IBM Plex Sans" pitchFamily="34" charset="-120"/>
              </a:rPr>
              <a:t>WHERE DOES THE METHOD GO</a:t>
            </a:r>
            <a:endParaRPr lang="en-US" sz="1200" dirty="0"/>
          </a:p>
        </p:txBody>
      </p:sp>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171C"/>
                </a:solidFill>
                <a:latin typeface="Source Serif 4" pitchFamily="18" charset="0"/>
                <a:ea typeface="Source Serif 4" pitchFamily="18" charset="-122"/>
                <a:cs typeface="Source Serif 4" pitchFamily="18" charset="-120"/>
              </a:rPr>
              <a:t>Method earns its place when someone asks</a:t>
            </a:r>
            <a:endParaRPr lang="en-US" sz="3600" dirty="0"/>
          </a:p>
        </p:txBody>
      </p:sp>
      <p:sp>
        <p:nvSpPr>
          <p:cNvPr id="4" name="Shape 2"/>
          <p:cNvSpPr/>
          <p:nvPr/>
        </p:nvSpPr>
        <p:spPr>
          <a:xfrm>
            <a:off x="812800" y="1986211"/>
            <a:ext cx="3386634" cy="2298601"/>
          </a:xfrm>
          <a:prstGeom prst="roundRect">
            <a:avLst>
              <a:gd name="adj" fmla="val 4420"/>
            </a:avLst>
          </a:prstGeom>
          <a:solidFill>
            <a:srgbClr val="F5F6F8"/>
          </a:solidFill>
          <a:ln/>
        </p:spPr>
      </p:sp>
      <p:pic>
        <p:nvPicPr>
          <p:cNvPr id="5" name="Image 0" descr="Check"/>
          <p:cNvPicPr>
            <a:picLocks noChangeAspect="1"/>
          </p:cNvPicPr>
          <p:nvPr/>
        </p:nvPicPr>
        <p:blipFill>
          <a:blip r:embed="rId3"/>
          <a:srcRect/>
          <a:stretch/>
        </p:blipFill>
        <p:spPr>
          <a:xfrm>
            <a:off x="1117600" y="2291011"/>
            <a:ext cx="508000" cy="508000"/>
          </a:xfrm>
          <a:prstGeom prst="rect">
            <a:avLst/>
          </a:prstGeom>
        </p:spPr>
      </p:pic>
      <p:sp>
        <p:nvSpPr>
          <p:cNvPr id="6" name="Text 3"/>
          <p:cNvSpPr/>
          <p:nvPr/>
        </p:nvSpPr>
        <p:spPr>
          <a:xfrm>
            <a:off x="1117600" y="2926011"/>
            <a:ext cx="2860345"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71C"/>
                </a:solidFill>
                <a:latin typeface="IBM Plex Sans" pitchFamily="34" charset="0"/>
                <a:ea typeface="IBM Plex Sans" pitchFamily="34" charset="-122"/>
                <a:cs typeface="IBM Plex Sans" pitchFamily="34" charset="-120"/>
              </a:rPr>
              <a:t>One line up front</a:t>
            </a:r>
            <a:endParaRPr lang="en-US" sz="2200" dirty="0"/>
          </a:p>
        </p:txBody>
      </p:sp>
      <p:sp>
        <p:nvSpPr>
          <p:cNvPr id="7" name="Text 4"/>
          <p:cNvSpPr/>
          <p:nvPr/>
        </p:nvSpPr>
        <p:spPr>
          <a:xfrm>
            <a:off x="1117600" y="3374281"/>
            <a:ext cx="2860345"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57"/>
                </a:solidFill>
                <a:latin typeface="IBM Plex Sans" pitchFamily="34" charset="0"/>
                <a:ea typeface="IBM Plex Sans" pitchFamily="34" charset="-122"/>
                <a:cs typeface="IBM Plex Sans" pitchFamily="34" charset="-120"/>
              </a:rPr>
              <a:t>Enough for credibility</a:t>
            </a:r>
            <a:endParaRPr lang="en-US" sz="1600" dirty="0"/>
          </a:p>
        </p:txBody>
      </p:sp>
      <p:sp>
        <p:nvSpPr>
          <p:cNvPr id="8" name="Shape 5"/>
          <p:cNvSpPr/>
          <p:nvPr/>
        </p:nvSpPr>
        <p:spPr>
          <a:xfrm>
            <a:off x="4402634" y="1986211"/>
            <a:ext cx="3386683" cy="2298601"/>
          </a:xfrm>
          <a:prstGeom prst="roundRect">
            <a:avLst>
              <a:gd name="adj" fmla="val 4420"/>
            </a:avLst>
          </a:prstGeom>
          <a:solidFill>
            <a:srgbClr val="F5F6F8"/>
          </a:solidFill>
          <a:ln/>
        </p:spPr>
      </p:sp>
      <p:pic>
        <p:nvPicPr>
          <p:cNvPr id="9" name="Image 1" descr="Book"/>
          <p:cNvPicPr>
            <a:picLocks noChangeAspect="1"/>
          </p:cNvPicPr>
          <p:nvPr/>
        </p:nvPicPr>
        <p:blipFill>
          <a:blip r:embed="rId4"/>
          <a:srcRect/>
          <a:stretch/>
        </p:blipFill>
        <p:spPr>
          <a:xfrm>
            <a:off x="4707434" y="2291011"/>
            <a:ext cx="508000" cy="508000"/>
          </a:xfrm>
          <a:prstGeom prst="rect">
            <a:avLst/>
          </a:prstGeom>
        </p:spPr>
      </p:pic>
      <p:sp>
        <p:nvSpPr>
          <p:cNvPr id="10" name="Text 6"/>
          <p:cNvSpPr/>
          <p:nvPr/>
        </p:nvSpPr>
        <p:spPr>
          <a:xfrm>
            <a:off x="4707434" y="2926011"/>
            <a:ext cx="2860396"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71C"/>
                </a:solidFill>
                <a:latin typeface="IBM Plex Sans" pitchFamily="34" charset="0"/>
                <a:ea typeface="IBM Plex Sans" pitchFamily="34" charset="-122"/>
                <a:cs typeface="IBM Plex Sans" pitchFamily="34" charset="-120"/>
              </a:rPr>
              <a:t>The rest: appendix</a:t>
            </a:r>
            <a:endParaRPr lang="en-US" sz="2200" dirty="0"/>
          </a:p>
        </p:txBody>
      </p:sp>
      <p:sp>
        <p:nvSpPr>
          <p:cNvPr id="11" name="Text 7"/>
          <p:cNvSpPr/>
          <p:nvPr/>
        </p:nvSpPr>
        <p:spPr>
          <a:xfrm>
            <a:off x="4707434" y="3374281"/>
            <a:ext cx="286039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57"/>
                </a:solidFill>
                <a:latin typeface="IBM Plex Sans" pitchFamily="34" charset="0"/>
                <a:ea typeface="IBM Plex Sans" pitchFamily="34" charset="-122"/>
                <a:cs typeface="IBM Plex Sans" pitchFamily="34" charset="-120"/>
              </a:rPr>
              <a:t>Ready when asked</a:t>
            </a:r>
            <a:endParaRPr lang="en-US" sz="1600" dirty="0"/>
          </a:p>
        </p:txBody>
      </p:sp>
      <p:sp>
        <p:nvSpPr>
          <p:cNvPr id="12" name="Shape 8"/>
          <p:cNvSpPr/>
          <p:nvPr/>
        </p:nvSpPr>
        <p:spPr>
          <a:xfrm>
            <a:off x="7992517" y="1986211"/>
            <a:ext cx="3386683" cy="2298601"/>
          </a:xfrm>
          <a:prstGeom prst="roundRect">
            <a:avLst>
              <a:gd name="adj" fmla="val 4420"/>
            </a:avLst>
          </a:prstGeom>
          <a:solidFill>
            <a:srgbClr val="F5F6F8"/>
          </a:solidFill>
          <a:ln/>
        </p:spPr>
      </p:sp>
      <p:pic>
        <p:nvPicPr>
          <p:cNvPr id="13" name="Image 2" descr="Warning"/>
          <p:cNvPicPr>
            <a:picLocks noChangeAspect="1"/>
          </p:cNvPicPr>
          <p:nvPr/>
        </p:nvPicPr>
        <p:blipFill>
          <a:blip r:embed="rId5"/>
          <a:srcRect/>
          <a:stretch/>
        </p:blipFill>
        <p:spPr>
          <a:xfrm>
            <a:off x="8297317" y="2291011"/>
            <a:ext cx="508000" cy="508000"/>
          </a:xfrm>
          <a:prstGeom prst="rect">
            <a:avLst/>
          </a:prstGeom>
        </p:spPr>
      </p:pic>
      <p:sp>
        <p:nvSpPr>
          <p:cNvPr id="14" name="Text 9"/>
          <p:cNvSpPr/>
          <p:nvPr/>
        </p:nvSpPr>
        <p:spPr>
          <a:xfrm>
            <a:off x="8297317" y="2926011"/>
            <a:ext cx="2860396" cy="667941"/>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71C"/>
                </a:solidFill>
                <a:latin typeface="IBM Plex Sans" pitchFamily="34" charset="0"/>
                <a:ea typeface="IBM Plex Sans" pitchFamily="34" charset="-122"/>
                <a:cs typeface="IBM Plex Sans" pitchFamily="34" charset="-120"/>
              </a:rPr>
              <a:t>Unless it changes the answer</a:t>
            </a:r>
            <a:endParaRPr lang="en-US" sz="2200" dirty="0"/>
          </a:p>
        </p:txBody>
      </p:sp>
      <p:sp>
        <p:nvSpPr>
          <p:cNvPr id="15" name="Text 10"/>
          <p:cNvSpPr/>
          <p:nvPr/>
        </p:nvSpPr>
        <p:spPr>
          <a:xfrm>
            <a:off x="8297317" y="3695551"/>
            <a:ext cx="286039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57"/>
                </a:solidFill>
                <a:latin typeface="IBM Plex Sans" pitchFamily="34" charset="0"/>
                <a:ea typeface="IBM Plex Sans" pitchFamily="34" charset="-122"/>
                <a:cs typeface="IBM Plex Sans" pitchFamily="34" charset="-120"/>
              </a:rPr>
              <a:t>Then say it first</a:t>
            </a:r>
            <a:endParaRPr lang="en-US" sz="1600" dirty="0"/>
          </a:p>
        </p:txBody>
      </p:sp>
      <p:sp>
        <p:nvSpPr>
          <p:cNvPr id="16" name="Text 11"/>
          <p:cNvSpPr/>
          <p:nvPr/>
        </p:nvSpPr>
        <p:spPr>
          <a:xfrm>
            <a:off x="812800" y="4640411"/>
            <a:ext cx="10883392"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4171C"/>
                </a:solidFill>
                <a:latin typeface="Source Serif 4" pitchFamily="18" charset="0"/>
                <a:ea typeface="Source Serif 4" pitchFamily="18" charset="-122"/>
                <a:cs typeface="Source Serif 4" pitchFamily="18" charset="-120"/>
              </a:rPr>
              <a:t>Write the email subject line first.</a:t>
            </a:r>
            <a:endParaRPr lang="en-US" sz="2200" b="1" dirty="0"/>
          </a:p>
        </p:txBody>
      </p:sp>
      <p:sp>
        <p:nvSpPr>
          <p:cNvPr id="17" name="Text 1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9"/>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5FBF"/>
                </a:solidFill>
                <a:latin typeface="IBM Plex Sans" pitchFamily="34" charset="0"/>
                <a:ea typeface="IBM Plex Sans" pitchFamily="34" charset="-122"/>
                <a:cs typeface="IBM Plex Sans" pitchFamily="34" charset="-120"/>
              </a:rPr>
              <a:t>FINDING THE MESSAGE</a:t>
            </a:r>
            <a:endParaRPr lang="en-US" sz="1200" dirty="0"/>
          </a:p>
        </p:txBody>
      </p:sp>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b="1" dirty="0">
                <a:latin typeface="Source Serif 4" pitchFamily="18" charset="0"/>
                <a:ea typeface="Source Serif 4" pitchFamily="18" charset="-122"/>
              </a:rPr>
              <a:t>How to spot what’s the message in the data?</a:t>
            </a:r>
            <a:endParaRPr lang="en-US" sz="3600" dirty="0"/>
          </a:p>
        </p:txBody>
      </p:sp>
      <p:sp>
        <p:nvSpPr>
          <p:cNvPr id="4" name="Shape 2"/>
          <p:cNvSpPr/>
          <p:nvPr/>
        </p:nvSpPr>
        <p:spPr>
          <a:xfrm>
            <a:off x="812800" y="1986211"/>
            <a:ext cx="3948386" cy="3855789"/>
          </a:xfrm>
          <a:prstGeom prst="roundRect">
            <a:avLst>
              <a:gd name="adj" fmla="val 2635"/>
            </a:avLst>
          </a:prstGeom>
          <a:solidFill>
            <a:srgbClr val="F5F6F8"/>
          </a:solidFill>
          <a:ln/>
        </p:spPr>
      </p:sp>
      <p:sp>
        <p:nvSpPr>
          <p:cNvPr id="5" name="Text 3"/>
          <p:cNvSpPr/>
          <p:nvPr/>
        </p:nvSpPr>
        <p:spPr>
          <a:xfrm>
            <a:off x="1168400" y="2341811"/>
            <a:ext cx="4604512"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F5FBF"/>
                </a:solidFill>
                <a:latin typeface="Source Serif 4" pitchFamily="18" charset="0"/>
                <a:ea typeface="Source Serif 4" pitchFamily="18" charset="-122"/>
                <a:cs typeface="Source Serif 4" pitchFamily="18" charset="-120"/>
              </a:rPr>
              <a:t>1</a:t>
            </a:r>
            <a:endParaRPr lang="en-US" sz="3600" dirty="0"/>
          </a:p>
        </p:txBody>
      </p:sp>
      <p:sp>
        <p:nvSpPr>
          <p:cNvPr id="6" name="Text 4"/>
          <p:cNvSpPr/>
          <p:nvPr/>
        </p:nvSpPr>
        <p:spPr>
          <a:xfrm>
            <a:off x="1168400" y="2849811"/>
            <a:ext cx="2089806" cy="52829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4171C"/>
                </a:solidFill>
                <a:latin typeface="Source Serif 4" pitchFamily="18" charset="0"/>
                <a:ea typeface="Source Serif 4" pitchFamily="18" charset="-122"/>
                <a:cs typeface="Source Serif 4" pitchFamily="18" charset="-120"/>
              </a:rPr>
              <a:t>Is it real?</a:t>
            </a:r>
            <a:endParaRPr lang="en-US" sz="3600" dirty="0"/>
          </a:p>
        </p:txBody>
      </p:sp>
      <p:sp>
        <p:nvSpPr>
          <p:cNvPr id="7" name="Text 5"/>
          <p:cNvSpPr/>
          <p:nvPr/>
        </p:nvSpPr>
        <p:spPr>
          <a:xfrm>
            <a:off x="1168400" y="3555951"/>
            <a:ext cx="2016234" cy="436860"/>
          </a:xfrm>
          <a:prstGeom prst="roundRect">
            <a:avLst>
              <a:gd name="adj" fmla="val 50000"/>
            </a:avLst>
          </a:prstGeom>
          <a:solidFill>
            <a:srgbClr val="FFFFFF"/>
          </a:solidFill>
          <a:ln/>
        </p:spPr>
        <p:txBody>
          <a:bodyPr wrap="none" lIns="0" tIns="0" rIns="0" bIns="0" rtlCol="0" anchor="ctr">
            <a:normAutofit/>
          </a:bodyPr>
          <a:lstStyle/>
          <a:p>
            <a:pPr marL="0" indent="0" algn="ctr">
              <a:lnSpc>
                <a:spcPts val="2240"/>
              </a:lnSpc>
              <a:buNone/>
            </a:pPr>
            <a:r>
              <a:rPr lang="en-US" sz="2000" dirty="0">
                <a:solidFill>
                  <a:srgbClr val="14171C"/>
                </a:solidFill>
                <a:latin typeface="IBM Plex Sans" pitchFamily="34" charset="0"/>
                <a:ea typeface="IBM Plex Sans" pitchFamily="34" charset="-122"/>
                <a:cs typeface="IBM Plex Sans" pitchFamily="34" charset="-120"/>
              </a:rPr>
              <a:t>Signal or noise</a:t>
            </a:r>
            <a:endParaRPr lang="en-US" sz="2000" dirty="0"/>
          </a:p>
        </p:txBody>
      </p:sp>
      <p:sp>
        <p:nvSpPr>
          <p:cNvPr id="8" name="Text 6"/>
          <p:cNvSpPr/>
          <p:nvPr/>
        </p:nvSpPr>
        <p:spPr>
          <a:xfrm>
            <a:off x="1168399" y="4201262"/>
            <a:ext cx="2089807" cy="482600"/>
          </a:xfrm>
          <a:prstGeom prst="roundRect">
            <a:avLst>
              <a:gd name="adj" fmla="val 50000"/>
            </a:avLst>
          </a:prstGeom>
          <a:solidFill>
            <a:srgbClr val="FFFFFF"/>
          </a:solidFill>
          <a:ln/>
        </p:spPr>
        <p:txBody>
          <a:bodyPr wrap="none" lIns="0" tIns="0" rIns="0" bIns="0" rtlCol="0" anchor="ctr">
            <a:normAutofit/>
          </a:bodyPr>
          <a:lstStyle/>
          <a:p>
            <a:pPr marL="0" indent="0" algn="ctr">
              <a:lnSpc>
                <a:spcPts val="2240"/>
              </a:lnSpc>
              <a:buNone/>
            </a:pPr>
            <a:r>
              <a:rPr lang="en-US" sz="2000" dirty="0">
                <a:solidFill>
                  <a:srgbClr val="14171C"/>
                </a:solidFill>
                <a:latin typeface="IBM Plex Sans" pitchFamily="34" charset="0"/>
                <a:ea typeface="IBM Plex Sans" pitchFamily="34" charset="-122"/>
                <a:cs typeface="IBM Plex Sans" pitchFamily="34" charset="-120"/>
              </a:rPr>
              <a:t>Small numbers</a:t>
            </a:r>
            <a:endParaRPr lang="en-US" sz="2000" dirty="0"/>
          </a:p>
        </p:txBody>
      </p:sp>
      <p:sp>
        <p:nvSpPr>
          <p:cNvPr id="9" name="Text 7"/>
          <p:cNvSpPr/>
          <p:nvPr/>
        </p:nvSpPr>
        <p:spPr>
          <a:xfrm>
            <a:off x="1168400" y="4912416"/>
            <a:ext cx="3025228" cy="528290"/>
          </a:xfrm>
          <a:prstGeom prst="roundRect">
            <a:avLst>
              <a:gd name="adj" fmla="val 50000"/>
            </a:avLst>
          </a:prstGeom>
          <a:solidFill>
            <a:srgbClr val="FFFFFF"/>
          </a:solidFill>
          <a:ln/>
        </p:spPr>
        <p:txBody>
          <a:bodyPr wrap="none" lIns="0" tIns="0" rIns="0" bIns="0" rtlCol="0" anchor="ctr">
            <a:normAutofit/>
          </a:bodyPr>
          <a:lstStyle/>
          <a:p>
            <a:pPr marL="0" indent="0" algn="ctr">
              <a:lnSpc>
                <a:spcPts val="2240"/>
              </a:lnSpc>
              <a:buNone/>
            </a:pPr>
            <a:r>
              <a:rPr lang="en-US" sz="2000" dirty="0">
                <a:solidFill>
                  <a:srgbClr val="14171C"/>
                </a:solidFill>
                <a:latin typeface="IBM Plex Sans" pitchFamily="34" charset="0"/>
                <a:ea typeface="IBM Plex Sans" pitchFamily="34" charset="-122"/>
                <a:cs typeface="IBM Plex Sans" pitchFamily="34" charset="-120"/>
              </a:rPr>
              <a:t>Regression to the mean</a:t>
            </a:r>
            <a:endParaRPr lang="en-US" sz="2000" dirty="0"/>
          </a:p>
        </p:txBody>
      </p:sp>
      <p:sp>
        <p:nvSpPr>
          <p:cNvPr id="10" name="Shape 8"/>
          <p:cNvSpPr/>
          <p:nvPr/>
        </p:nvSpPr>
        <p:spPr>
          <a:xfrm>
            <a:off x="6197600" y="1986211"/>
            <a:ext cx="4333766" cy="3855789"/>
          </a:xfrm>
          <a:prstGeom prst="roundRect">
            <a:avLst>
              <a:gd name="adj" fmla="val 2635"/>
            </a:avLst>
          </a:prstGeom>
          <a:solidFill>
            <a:srgbClr val="F5F6F8"/>
          </a:solidFill>
          <a:ln/>
        </p:spPr>
      </p:sp>
      <p:sp>
        <p:nvSpPr>
          <p:cNvPr id="11" name="Text 9"/>
          <p:cNvSpPr/>
          <p:nvPr/>
        </p:nvSpPr>
        <p:spPr>
          <a:xfrm>
            <a:off x="6553200" y="2341811"/>
            <a:ext cx="4604512"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F5FBF"/>
                </a:solidFill>
                <a:latin typeface="Source Serif 4" pitchFamily="18" charset="0"/>
                <a:ea typeface="Source Serif 4" pitchFamily="18" charset="-122"/>
                <a:cs typeface="Source Serif 4" pitchFamily="18" charset="-120"/>
              </a:rPr>
              <a:t>2</a:t>
            </a:r>
            <a:endParaRPr lang="en-US" sz="3600" dirty="0"/>
          </a:p>
        </p:txBody>
      </p:sp>
      <p:sp>
        <p:nvSpPr>
          <p:cNvPr id="12" name="Text 10"/>
          <p:cNvSpPr/>
          <p:nvPr/>
        </p:nvSpPr>
        <p:spPr>
          <a:xfrm>
            <a:off x="6553200" y="2849811"/>
            <a:ext cx="3421117" cy="52829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4171C"/>
                </a:solidFill>
                <a:latin typeface="Source Serif 4" pitchFamily="18" charset="0"/>
                <a:ea typeface="Source Serif 4" pitchFamily="18" charset="-122"/>
                <a:cs typeface="Source Serif 4" pitchFamily="18" charset="-120"/>
              </a:rPr>
              <a:t>What's driving it?</a:t>
            </a:r>
            <a:endParaRPr lang="en-US" sz="3600" dirty="0"/>
          </a:p>
        </p:txBody>
      </p:sp>
      <p:sp>
        <p:nvSpPr>
          <p:cNvPr id="13" name="Text 11"/>
          <p:cNvSpPr/>
          <p:nvPr/>
        </p:nvSpPr>
        <p:spPr>
          <a:xfrm>
            <a:off x="6553199" y="3606701"/>
            <a:ext cx="2086303" cy="528290"/>
          </a:xfrm>
          <a:prstGeom prst="roundRect">
            <a:avLst>
              <a:gd name="adj" fmla="val 50000"/>
            </a:avLst>
          </a:prstGeom>
          <a:solidFill>
            <a:srgbClr val="FFFFFF"/>
          </a:solidFill>
          <a:ln/>
        </p:spPr>
        <p:txBody>
          <a:bodyPr wrap="none" lIns="0" tIns="0" rIns="0" bIns="0" rtlCol="0" anchor="ctr">
            <a:normAutofit/>
          </a:bodyPr>
          <a:lstStyle/>
          <a:p>
            <a:pPr marL="0" indent="0" algn="ctr">
              <a:lnSpc>
                <a:spcPts val="2240"/>
              </a:lnSpc>
              <a:buNone/>
            </a:pPr>
            <a:r>
              <a:rPr lang="en-US" sz="2000" dirty="0">
                <a:solidFill>
                  <a:srgbClr val="14171C"/>
                </a:solidFill>
                <a:latin typeface="IBM Plex Sans" pitchFamily="34" charset="0"/>
                <a:ea typeface="IBM Plex Sans" pitchFamily="34" charset="-122"/>
                <a:cs typeface="IBM Plex Sans" pitchFamily="34" charset="-120"/>
              </a:rPr>
              <a:t>Rate or volume</a:t>
            </a:r>
            <a:endParaRPr lang="en-US" sz="2000" dirty="0"/>
          </a:p>
        </p:txBody>
      </p:sp>
      <p:sp>
        <p:nvSpPr>
          <p:cNvPr id="14" name="Text 12"/>
          <p:cNvSpPr/>
          <p:nvPr/>
        </p:nvSpPr>
        <p:spPr>
          <a:xfrm>
            <a:off x="6553200" y="4354394"/>
            <a:ext cx="1749972" cy="436860"/>
          </a:xfrm>
          <a:prstGeom prst="roundRect">
            <a:avLst>
              <a:gd name="adj" fmla="val 50000"/>
            </a:avLst>
          </a:prstGeom>
          <a:solidFill>
            <a:srgbClr val="FFFFFF"/>
          </a:solidFill>
          <a:ln/>
        </p:spPr>
        <p:txBody>
          <a:bodyPr wrap="none" lIns="0" tIns="0" rIns="0" bIns="0" rtlCol="0" anchor="ctr">
            <a:normAutofit/>
          </a:bodyPr>
          <a:lstStyle/>
          <a:p>
            <a:pPr marL="0" indent="0" algn="ctr">
              <a:lnSpc>
                <a:spcPts val="2240"/>
              </a:lnSpc>
              <a:buNone/>
            </a:pPr>
            <a:r>
              <a:rPr lang="en-US" sz="2000" dirty="0">
                <a:solidFill>
                  <a:srgbClr val="14171C"/>
                </a:solidFill>
                <a:latin typeface="IBM Plex Sans" pitchFamily="34" charset="0"/>
                <a:ea typeface="IBM Plex Sans" pitchFamily="34" charset="-122"/>
                <a:cs typeface="IBM Plex Sans" pitchFamily="34" charset="-120"/>
              </a:rPr>
              <a:t>Contribution</a:t>
            </a:r>
            <a:endParaRPr lang="en-US" sz="2000" dirty="0"/>
          </a:p>
        </p:txBody>
      </p:sp>
      <p:sp>
        <p:nvSpPr>
          <p:cNvPr id="15" name="Text 13"/>
          <p:cNvSpPr/>
          <p:nvPr/>
        </p:nvSpPr>
        <p:spPr>
          <a:xfrm>
            <a:off x="6553200" y="4958130"/>
            <a:ext cx="1476703" cy="528289"/>
          </a:xfrm>
          <a:prstGeom prst="roundRect">
            <a:avLst>
              <a:gd name="adj" fmla="val 50000"/>
            </a:avLst>
          </a:prstGeom>
          <a:solidFill>
            <a:srgbClr val="FFFFFF"/>
          </a:solidFill>
          <a:ln/>
        </p:spPr>
        <p:txBody>
          <a:bodyPr wrap="none" lIns="0" tIns="0" rIns="0" bIns="0" rtlCol="0" anchor="ctr">
            <a:normAutofit/>
          </a:bodyPr>
          <a:lstStyle/>
          <a:p>
            <a:pPr marL="0" indent="0" algn="ctr">
              <a:lnSpc>
                <a:spcPts val="2240"/>
              </a:lnSpc>
              <a:buNone/>
            </a:pPr>
            <a:r>
              <a:rPr lang="en-US" sz="2000" dirty="0">
                <a:solidFill>
                  <a:srgbClr val="14171C"/>
                </a:solidFill>
                <a:latin typeface="IBM Plex Sans" pitchFamily="34" charset="0"/>
                <a:ea typeface="IBM Plex Sans" pitchFamily="34" charset="-122"/>
                <a:cs typeface="IBM Plex Sans" pitchFamily="34" charset="-120"/>
              </a:rPr>
              <a:t>Mix shift</a:t>
            </a:r>
            <a:endParaRPr lang="en-US" sz="20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9"/>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2" grpId="0" animBg="1"/>
      <p:bldP spid="13" grpId="0" animBg="1"/>
      <p:bldP spid="14" grpId="0" animBg="1"/>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812800" y="812800"/>
            <a:ext cx="10617200" cy="502841"/>
          </a:xfrm>
          <a:prstGeom prst="rect">
            <a:avLst/>
          </a:prstGeom>
          <a:noFill/>
          <a:ln>
            <a:noFill/>
          </a:ln>
        </p:spPr>
        <p:txBody>
          <a:bodyPr wrap="square" lIns="0" tIns="0" rIns="0" bIns="0" anchor="t">
            <a:noAutofit/>
          </a:bodyPr>
          <a:lstStyle/>
          <a:p>
            <a:pPr algn="l"/>
            <a:r>
              <a:rPr lang="en-US" sz="3600" b="1" dirty="0">
                <a:solidFill>
                  <a:srgbClr val="14171C"/>
                </a:solidFill>
                <a:latin typeface="Source Serif 4"/>
                <a:cs typeface="Source Serif 4"/>
              </a:rPr>
              <a:t>Which week would you escalate?</a:t>
            </a:r>
          </a:p>
        </p:txBody>
      </p:sp>
      <p:cxnSp>
        <p:nvCxnSpPr>
          <p:cNvPr id="3" name="Line 3"/>
          <p:cNvCxnSpPr/>
          <p:nvPr/>
        </p:nvCxnSpPr>
        <p:spPr>
          <a:xfrm>
            <a:off x="1524000" y="5016500"/>
            <a:ext cx="8255000" cy="0"/>
          </a:xfrm>
          <a:prstGeom prst="line">
            <a:avLst/>
          </a:prstGeom>
          <a:ln w="12700">
            <a:solidFill>
              <a:srgbClr val="8A9099"/>
            </a:solidFill>
            <a:round/>
          </a:ln>
        </p:spPr>
      </p:cxnSp>
      <p:cxnSp>
        <p:nvCxnSpPr>
          <p:cNvPr id="4" name="Line 4"/>
          <p:cNvCxnSpPr/>
          <p:nvPr/>
        </p:nvCxnSpPr>
        <p:spPr>
          <a:xfrm>
            <a:off x="1524000" y="4406900"/>
            <a:ext cx="8255000" cy="0"/>
          </a:xfrm>
          <a:prstGeom prst="line">
            <a:avLst/>
          </a:prstGeom>
          <a:ln w="12700">
            <a:solidFill>
              <a:srgbClr val="EEF0F2"/>
            </a:solidFill>
            <a:round/>
          </a:ln>
        </p:spPr>
      </p:cxnSp>
      <p:cxnSp>
        <p:nvCxnSpPr>
          <p:cNvPr id="5" name="Line 5"/>
          <p:cNvCxnSpPr/>
          <p:nvPr/>
        </p:nvCxnSpPr>
        <p:spPr>
          <a:xfrm>
            <a:off x="1524000" y="3797300"/>
            <a:ext cx="8255000" cy="0"/>
          </a:xfrm>
          <a:prstGeom prst="line">
            <a:avLst/>
          </a:prstGeom>
          <a:ln w="12700">
            <a:solidFill>
              <a:srgbClr val="EEF0F2"/>
            </a:solidFill>
            <a:round/>
          </a:ln>
        </p:spPr>
      </p:cxnSp>
      <p:cxnSp>
        <p:nvCxnSpPr>
          <p:cNvPr id="6" name="Line 6"/>
          <p:cNvCxnSpPr/>
          <p:nvPr/>
        </p:nvCxnSpPr>
        <p:spPr>
          <a:xfrm>
            <a:off x="1524000" y="3187700"/>
            <a:ext cx="8255000" cy="0"/>
          </a:xfrm>
          <a:prstGeom prst="line">
            <a:avLst/>
          </a:prstGeom>
          <a:ln w="12700">
            <a:solidFill>
              <a:srgbClr val="EEF0F2"/>
            </a:solidFill>
            <a:round/>
          </a:ln>
        </p:spPr>
      </p:cxnSp>
      <p:cxnSp>
        <p:nvCxnSpPr>
          <p:cNvPr id="7" name="Line 7"/>
          <p:cNvCxnSpPr/>
          <p:nvPr/>
        </p:nvCxnSpPr>
        <p:spPr>
          <a:xfrm>
            <a:off x="1524000" y="2578100"/>
            <a:ext cx="8255000" cy="0"/>
          </a:xfrm>
          <a:prstGeom prst="line">
            <a:avLst/>
          </a:prstGeom>
          <a:ln w="12700">
            <a:solidFill>
              <a:srgbClr val="EEF0F2"/>
            </a:solidFill>
            <a:round/>
          </a:ln>
        </p:spPr>
      </p:cxnSp>
      <p:sp>
        <p:nvSpPr>
          <p:cNvPr id="8" name="Line chart 8"/>
          <p:cNvSpPr/>
          <p:nvPr/>
        </p:nvSpPr>
        <p:spPr>
          <a:xfrm>
            <a:off x="1714500" y="2212340"/>
            <a:ext cx="7842250" cy="1950720"/>
          </a:xfrm>
          <a:custGeom>
            <a:avLst/>
            <a:gdLst/>
            <a:ahLst/>
            <a:cxnLst/>
            <a:rect l="0" t="0" r="r" b="b"/>
            <a:pathLst>
              <a:path w="7842250" h="1950720" fill="none">
                <a:moveTo>
                  <a:pt x="0" y="1706880"/>
                </a:moveTo>
                <a:lnTo>
                  <a:pt x="412750" y="1402080"/>
                </a:lnTo>
                <a:lnTo>
                  <a:pt x="825500" y="1828800"/>
                </a:lnTo>
                <a:lnTo>
                  <a:pt x="1238250" y="1524000"/>
                </a:lnTo>
                <a:lnTo>
                  <a:pt x="1651000" y="1219200"/>
                </a:lnTo>
                <a:lnTo>
                  <a:pt x="2063750" y="1950720"/>
                </a:lnTo>
                <a:lnTo>
                  <a:pt x="2476500" y="914400"/>
                </a:lnTo>
                <a:lnTo>
                  <a:pt x="2889250" y="1584960"/>
                </a:lnTo>
                <a:lnTo>
                  <a:pt x="3302000" y="1767840"/>
                </a:lnTo>
                <a:lnTo>
                  <a:pt x="3714750" y="1341120"/>
                </a:lnTo>
                <a:lnTo>
                  <a:pt x="4127500" y="1645920"/>
                </a:lnTo>
                <a:lnTo>
                  <a:pt x="4540250" y="1463040"/>
                </a:lnTo>
                <a:lnTo>
                  <a:pt x="4953000" y="1889760"/>
                </a:lnTo>
                <a:lnTo>
                  <a:pt x="5365750" y="1402080"/>
                </a:lnTo>
                <a:lnTo>
                  <a:pt x="5778500" y="1584960"/>
                </a:lnTo>
                <a:lnTo>
                  <a:pt x="6191250" y="1706880"/>
                </a:lnTo>
                <a:lnTo>
                  <a:pt x="6604000" y="0"/>
                </a:lnTo>
                <a:lnTo>
                  <a:pt x="7016750" y="1524000"/>
                </a:lnTo>
                <a:lnTo>
                  <a:pt x="7429500" y="1645920"/>
                </a:lnTo>
                <a:lnTo>
                  <a:pt x="7842250" y="1463040"/>
                </a:lnTo>
              </a:path>
            </a:pathLst>
          </a:custGeom>
          <a:noFill/>
          <a:ln w="25400">
            <a:solidFill>
              <a:srgbClr val="14171C"/>
            </a:solidFill>
            <a:round/>
          </a:ln>
        </p:spPr>
        <p:txBody>
          <a:bodyPr/>
          <a:lstStyle/>
          <a:p>
            <a:endParaRPr lang="en-US"/>
          </a:p>
        </p:txBody>
      </p:sp>
      <p:sp>
        <p:nvSpPr>
          <p:cNvPr id="9" name="Dot 9"/>
          <p:cNvSpPr/>
          <p:nvPr/>
        </p:nvSpPr>
        <p:spPr>
          <a:xfrm>
            <a:off x="1670050" y="3874770"/>
            <a:ext cx="88900" cy="88900"/>
          </a:xfrm>
          <a:prstGeom prst="ellipse">
            <a:avLst/>
          </a:prstGeom>
          <a:solidFill>
            <a:srgbClr val="14171C"/>
          </a:solidFill>
          <a:ln>
            <a:noFill/>
          </a:ln>
        </p:spPr>
        <p:txBody>
          <a:bodyPr/>
          <a:lstStyle/>
          <a:p>
            <a:endParaRPr lang="en-US"/>
          </a:p>
        </p:txBody>
      </p:sp>
      <p:sp>
        <p:nvSpPr>
          <p:cNvPr id="10" name="Dot 10"/>
          <p:cNvSpPr/>
          <p:nvPr/>
        </p:nvSpPr>
        <p:spPr>
          <a:xfrm>
            <a:off x="2082800" y="3569970"/>
            <a:ext cx="88900" cy="88900"/>
          </a:xfrm>
          <a:prstGeom prst="ellipse">
            <a:avLst/>
          </a:prstGeom>
          <a:solidFill>
            <a:srgbClr val="14171C"/>
          </a:solidFill>
          <a:ln>
            <a:noFill/>
          </a:ln>
        </p:spPr>
        <p:txBody>
          <a:bodyPr/>
          <a:lstStyle/>
          <a:p>
            <a:endParaRPr lang="en-US"/>
          </a:p>
        </p:txBody>
      </p:sp>
      <p:sp>
        <p:nvSpPr>
          <p:cNvPr id="11" name="Dot 11"/>
          <p:cNvSpPr/>
          <p:nvPr/>
        </p:nvSpPr>
        <p:spPr>
          <a:xfrm>
            <a:off x="2495550" y="3996690"/>
            <a:ext cx="88900" cy="88900"/>
          </a:xfrm>
          <a:prstGeom prst="ellipse">
            <a:avLst/>
          </a:prstGeom>
          <a:solidFill>
            <a:srgbClr val="14171C"/>
          </a:solidFill>
          <a:ln>
            <a:noFill/>
          </a:ln>
        </p:spPr>
        <p:txBody>
          <a:bodyPr/>
          <a:lstStyle/>
          <a:p>
            <a:endParaRPr lang="en-US"/>
          </a:p>
        </p:txBody>
      </p:sp>
      <p:sp>
        <p:nvSpPr>
          <p:cNvPr id="12" name="Dot 12"/>
          <p:cNvSpPr/>
          <p:nvPr/>
        </p:nvSpPr>
        <p:spPr>
          <a:xfrm>
            <a:off x="2908300" y="3691890"/>
            <a:ext cx="88900" cy="88900"/>
          </a:xfrm>
          <a:prstGeom prst="ellipse">
            <a:avLst/>
          </a:prstGeom>
          <a:solidFill>
            <a:srgbClr val="14171C"/>
          </a:solidFill>
          <a:ln>
            <a:noFill/>
          </a:ln>
        </p:spPr>
        <p:txBody>
          <a:bodyPr/>
          <a:lstStyle/>
          <a:p>
            <a:endParaRPr lang="en-US"/>
          </a:p>
        </p:txBody>
      </p:sp>
      <p:sp>
        <p:nvSpPr>
          <p:cNvPr id="13" name="Dot 13"/>
          <p:cNvSpPr/>
          <p:nvPr/>
        </p:nvSpPr>
        <p:spPr>
          <a:xfrm>
            <a:off x="3321050" y="3387090"/>
            <a:ext cx="88900" cy="88900"/>
          </a:xfrm>
          <a:prstGeom prst="ellipse">
            <a:avLst/>
          </a:prstGeom>
          <a:solidFill>
            <a:srgbClr val="14171C"/>
          </a:solidFill>
          <a:ln>
            <a:noFill/>
          </a:ln>
        </p:spPr>
        <p:txBody>
          <a:bodyPr/>
          <a:lstStyle/>
          <a:p>
            <a:endParaRPr lang="en-US"/>
          </a:p>
        </p:txBody>
      </p:sp>
      <p:sp>
        <p:nvSpPr>
          <p:cNvPr id="14" name="Dot 14"/>
          <p:cNvSpPr/>
          <p:nvPr/>
        </p:nvSpPr>
        <p:spPr>
          <a:xfrm>
            <a:off x="3733800" y="4118610"/>
            <a:ext cx="88900" cy="88900"/>
          </a:xfrm>
          <a:prstGeom prst="ellipse">
            <a:avLst/>
          </a:prstGeom>
          <a:solidFill>
            <a:srgbClr val="14171C"/>
          </a:solidFill>
          <a:ln>
            <a:noFill/>
          </a:ln>
        </p:spPr>
        <p:txBody>
          <a:bodyPr/>
          <a:lstStyle/>
          <a:p>
            <a:endParaRPr lang="en-US"/>
          </a:p>
        </p:txBody>
      </p:sp>
      <p:sp>
        <p:nvSpPr>
          <p:cNvPr id="15" name="Dot 15"/>
          <p:cNvSpPr/>
          <p:nvPr/>
        </p:nvSpPr>
        <p:spPr>
          <a:xfrm>
            <a:off x="4121150" y="3056890"/>
            <a:ext cx="139700" cy="139700"/>
          </a:xfrm>
          <a:prstGeom prst="ellipse">
            <a:avLst/>
          </a:prstGeom>
          <a:solidFill>
            <a:srgbClr val="14171C"/>
          </a:solidFill>
          <a:ln>
            <a:noFill/>
          </a:ln>
        </p:spPr>
        <p:txBody>
          <a:bodyPr/>
          <a:lstStyle/>
          <a:p>
            <a:endParaRPr lang="en-US"/>
          </a:p>
        </p:txBody>
      </p:sp>
      <p:sp>
        <p:nvSpPr>
          <p:cNvPr id="16" name="Dot 16"/>
          <p:cNvSpPr/>
          <p:nvPr/>
        </p:nvSpPr>
        <p:spPr>
          <a:xfrm>
            <a:off x="4559300" y="3752850"/>
            <a:ext cx="88900" cy="88900"/>
          </a:xfrm>
          <a:prstGeom prst="ellipse">
            <a:avLst/>
          </a:prstGeom>
          <a:solidFill>
            <a:srgbClr val="14171C"/>
          </a:solidFill>
          <a:ln>
            <a:noFill/>
          </a:ln>
        </p:spPr>
        <p:txBody>
          <a:bodyPr/>
          <a:lstStyle/>
          <a:p>
            <a:endParaRPr lang="en-US"/>
          </a:p>
        </p:txBody>
      </p:sp>
      <p:sp>
        <p:nvSpPr>
          <p:cNvPr id="17" name="Dot 17"/>
          <p:cNvSpPr/>
          <p:nvPr/>
        </p:nvSpPr>
        <p:spPr>
          <a:xfrm>
            <a:off x="4972050" y="3935730"/>
            <a:ext cx="88900" cy="88900"/>
          </a:xfrm>
          <a:prstGeom prst="ellipse">
            <a:avLst/>
          </a:prstGeom>
          <a:solidFill>
            <a:srgbClr val="14171C"/>
          </a:solidFill>
          <a:ln>
            <a:noFill/>
          </a:ln>
        </p:spPr>
        <p:txBody>
          <a:bodyPr/>
          <a:lstStyle/>
          <a:p>
            <a:endParaRPr lang="en-US"/>
          </a:p>
        </p:txBody>
      </p:sp>
      <p:sp>
        <p:nvSpPr>
          <p:cNvPr id="18" name="Dot 18"/>
          <p:cNvSpPr/>
          <p:nvPr/>
        </p:nvSpPr>
        <p:spPr>
          <a:xfrm>
            <a:off x="5384800" y="3509010"/>
            <a:ext cx="88900" cy="88900"/>
          </a:xfrm>
          <a:prstGeom prst="ellipse">
            <a:avLst/>
          </a:prstGeom>
          <a:solidFill>
            <a:srgbClr val="14171C"/>
          </a:solidFill>
          <a:ln>
            <a:noFill/>
          </a:ln>
        </p:spPr>
        <p:txBody>
          <a:bodyPr/>
          <a:lstStyle/>
          <a:p>
            <a:endParaRPr lang="en-US"/>
          </a:p>
        </p:txBody>
      </p:sp>
      <p:sp>
        <p:nvSpPr>
          <p:cNvPr id="19" name="Dot 19"/>
          <p:cNvSpPr/>
          <p:nvPr/>
        </p:nvSpPr>
        <p:spPr>
          <a:xfrm>
            <a:off x="5797550" y="3813810"/>
            <a:ext cx="88900" cy="88900"/>
          </a:xfrm>
          <a:prstGeom prst="ellipse">
            <a:avLst/>
          </a:prstGeom>
          <a:solidFill>
            <a:srgbClr val="14171C"/>
          </a:solidFill>
          <a:ln>
            <a:noFill/>
          </a:ln>
        </p:spPr>
        <p:txBody>
          <a:bodyPr/>
          <a:lstStyle/>
          <a:p>
            <a:endParaRPr lang="en-US"/>
          </a:p>
        </p:txBody>
      </p:sp>
      <p:sp>
        <p:nvSpPr>
          <p:cNvPr id="20" name="Dot 20"/>
          <p:cNvSpPr/>
          <p:nvPr/>
        </p:nvSpPr>
        <p:spPr>
          <a:xfrm>
            <a:off x="6210300" y="3630930"/>
            <a:ext cx="88900" cy="88900"/>
          </a:xfrm>
          <a:prstGeom prst="ellipse">
            <a:avLst/>
          </a:prstGeom>
          <a:solidFill>
            <a:srgbClr val="14171C"/>
          </a:solidFill>
          <a:ln>
            <a:noFill/>
          </a:ln>
        </p:spPr>
        <p:txBody>
          <a:bodyPr/>
          <a:lstStyle/>
          <a:p>
            <a:endParaRPr lang="en-US"/>
          </a:p>
        </p:txBody>
      </p:sp>
      <p:sp>
        <p:nvSpPr>
          <p:cNvPr id="21" name="Dot 21"/>
          <p:cNvSpPr/>
          <p:nvPr/>
        </p:nvSpPr>
        <p:spPr>
          <a:xfrm>
            <a:off x="6623050" y="4057650"/>
            <a:ext cx="88900" cy="88900"/>
          </a:xfrm>
          <a:prstGeom prst="ellipse">
            <a:avLst/>
          </a:prstGeom>
          <a:solidFill>
            <a:srgbClr val="14171C"/>
          </a:solidFill>
          <a:ln>
            <a:noFill/>
          </a:ln>
        </p:spPr>
        <p:txBody>
          <a:bodyPr/>
          <a:lstStyle/>
          <a:p>
            <a:endParaRPr lang="en-US"/>
          </a:p>
        </p:txBody>
      </p:sp>
      <p:sp>
        <p:nvSpPr>
          <p:cNvPr id="22" name="Dot 22"/>
          <p:cNvSpPr/>
          <p:nvPr/>
        </p:nvSpPr>
        <p:spPr>
          <a:xfrm>
            <a:off x="7035800" y="3569970"/>
            <a:ext cx="88900" cy="88900"/>
          </a:xfrm>
          <a:prstGeom prst="ellipse">
            <a:avLst/>
          </a:prstGeom>
          <a:solidFill>
            <a:srgbClr val="14171C"/>
          </a:solidFill>
          <a:ln>
            <a:noFill/>
          </a:ln>
        </p:spPr>
        <p:txBody>
          <a:bodyPr/>
          <a:lstStyle/>
          <a:p>
            <a:endParaRPr lang="en-US"/>
          </a:p>
        </p:txBody>
      </p:sp>
      <p:sp>
        <p:nvSpPr>
          <p:cNvPr id="23" name="Dot 23"/>
          <p:cNvSpPr/>
          <p:nvPr/>
        </p:nvSpPr>
        <p:spPr>
          <a:xfrm>
            <a:off x="7448550" y="3752850"/>
            <a:ext cx="88900" cy="88900"/>
          </a:xfrm>
          <a:prstGeom prst="ellipse">
            <a:avLst/>
          </a:prstGeom>
          <a:solidFill>
            <a:srgbClr val="14171C"/>
          </a:solidFill>
          <a:ln>
            <a:noFill/>
          </a:ln>
        </p:spPr>
        <p:txBody>
          <a:bodyPr/>
          <a:lstStyle/>
          <a:p>
            <a:endParaRPr lang="en-US"/>
          </a:p>
        </p:txBody>
      </p:sp>
      <p:sp>
        <p:nvSpPr>
          <p:cNvPr id="24" name="Dot 24"/>
          <p:cNvSpPr/>
          <p:nvPr/>
        </p:nvSpPr>
        <p:spPr>
          <a:xfrm>
            <a:off x="7861300" y="3874770"/>
            <a:ext cx="88900" cy="88900"/>
          </a:xfrm>
          <a:prstGeom prst="ellipse">
            <a:avLst/>
          </a:prstGeom>
          <a:solidFill>
            <a:srgbClr val="14171C"/>
          </a:solidFill>
          <a:ln>
            <a:noFill/>
          </a:ln>
        </p:spPr>
        <p:txBody>
          <a:bodyPr/>
          <a:lstStyle/>
          <a:p>
            <a:endParaRPr lang="en-US"/>
          </a:p>
        </p:txBody>
      </p:sp>
      <p:sp>
        <p:nvSpPr>
          <p:cNvPr id="25" name="Dot 25"/>
          <p:cNvSpPr/>
          <p:nvPr/>
        </p:nvSpPr>
        <p:spPr>
          <a:xfrm>
            <a:off x="8248650" y="2142490"/>
            <a:ext cx="139700" cy="139700"/>
          </a:xfrm>
          <a:prstGeom prst="ellipse">
            <a:avLst/>
          </a:prstGeom>
          <a:solidFill>
            <a:srgbClr val="14171C"/>
          </a:solidFill>
          <a:ln>
            <a:noFill/>
          </a:ln>
        </p:spPr>
        <p:txBody>
          <a:bodyPr/>
          <a:lstStyle/>
          <a:p>
            <a:endParaRPr lang="en-US"/>
          </a:p>
        </p:txBody>
      </p:sp>
      <p:sp>
        <p:nvSpPr>
          <p:cNvPr id="26" name="Dot 26"/>
          <p:cNvSpPr/>
          <p:nvPr/>
        </p:nvSpPr>
        <p:spPr>
          <a:xfrm>
            <a:off x="8686800" y="3691890"/>
            <a:ext cx="88900" cy="88900"/>
          </a:xfrm>
          <a:prstGeom prst="ellipse">
            <a:avLst/>
          </a:prstGeom>
          <a:solidFill>
            <a:srgbClr val="14171C"/>
          </a:solidFill>
          <a:ln>
            <a:noFill/>
          </a:ln>
        </p:spPr>
        <p:txBody>
          <a:bodyPr/>
          <a:lstStyle/>
          <a:p>
            <a:endParaRPr lang="en-US"/>
          </a:p>
        </p:txBody>
      </p:sp>
      <p:sp>
        <p:nvSpPr>
          <p:cNvPr id="27" name="Dot 27"/>
          <p:cNvSpPr/>
          <p:nvPr/>
        </p:nvSpPr>
        <p:spPr>
          <a:xfrm>
            <a:off x="9099550" y="3813810"/>
            <a:ext cx="88900" cy="88900"/>
          </a:xfrm>
          <a:prstGeom prst="ellipse">
            <a:avLst/>
          </a:prstGeom>
          <a:solidFill>
            <a:srgbClr val="14171C"/>
          </a:solidFill>
          <a:ln>
            <a:noFill/>
          </a:ln>
        </p:spPr>
        <p:txBody>
          <a:bodyPr/>
          <a:lstStyle/>
          <a:p>
            <a:endParaRPr lang="en-US"/>
          </a:p>
        </p:txBody>
      </p:sp>
      <p:sp>
        <p:nvSpPr>
          <p:cNvPr id="28" name="Dot 28"/>
          <p:cNvSpPr/>
          <p:nvPr/>
        </p:nvSpPr>
        <p:spPr>
          <a:xfrm>
            <a:off x="9512300" y="3630930"/>
            <a:ext cx="88900" cy="88900"/>
          </a:xfrm>
          <a:prstGeom prst="ellipse">
            <a:avLst/>
          </a:prstGeom>
          <a:solidFill>
            <a:srgbClr val="14171C"/>
          </a:solidFill>
          <a:ln>
            <a:noFill/>
          </a:ln>
        </p:spPr>
        <p:txBody>
          <a:bodyPr/>
          <a:lstStyle/>
          <a:p>
            <a:endParaRPr lang="en-US"/>
          </a:p>
        </p:txBody>
      </p:sp>
      <p:sp>
        <p:nvSpPr>
          <p:cNvPr id="29" name="Text 29"/>
          <p:cNvSpPr txBox="1"/>
          <p:nvPr/>
        </p:nvSpPr>
        <p:spPr>
          <a:xfrm>
            <a:off x="685800" y="2457450"/>
            <a:ext cx="584200" cy="213320"/>
          </a:xfrm>
          <a:prstGeom prst="rect">
            <a:avLst/>
          </a:prstGeom>
          <a:noFill/>
          <a:ln>
            <a:noFill/>
          </a:ln>
        </p:spPr>
        <p:txBody>
          <a:bodyPr wrap="square" lIns="0" tIns="0" rIns="0" bIns="0" anchor="t">
            <a:noAutofit/>
          </a:bodyPr>
          <a:lstStyle/>
          <a:p>
            <a:pPr algn="r"/>
            <a:r>
              <a:rPr lang="en-US" sz="1200" b="0" dirty="0">
                <a:solidFill>
                  <a:srgbClr val="6B7079"/>
                </a:solidFill>
                <a:latin typeface="IBM Plex Sans"/>
                <a:cs typeface="IBM Plex Sans"/>
              </a:rPr>
              <a:t>8</a:t>
            </a:r>
          </a:p>
        </p:txBody>
      </p:sp>
      <p:sp>
        <p:nvSpPr>
          <p:cNvPr id="30" name="Text 30"/>
          <p:cNvSpPr txBox="1"/>
          <p:nvPr/>
        </p:nvSpPr>
        <p:spPr>
          <a:xfrm>
            <a:off x="685800" y="3067050"/>
            <a:ext cx="584200" cy="213320"/>
          </a:xfrm>
          <a:prstGeom prst="rect">
            <a:avLst/>
          </a:prstGeom>
          <a:noFill/>
          <a:ln>
            <a:noFill/>
          </a:ln>
        </p:spPr>
        <p:txBody>
          <a:bodyPr wrap="square" lIns="0" tIns="0" rIns="0" bIns="0" anchor="t">
            <a:noAutofit/>
          </a:bodyPr>
          <a:lstStyle/>
          <a:p>
            <a:pPr algn="r"/>
            <a:r>
              <a:rPr lang="en-US" sz="1200" b="0" dirty="0">
                <a:solidFill>
                  <a:srgbClr val="6B7079"/>
                </a:solidFill>
                <a:latin typeface="IBM Plex Sans"/>
                <a:cs typeface="IBM Plex Sans"/>
              </a:rPr>
              <a:t>7</a:t>
            </a:r>
          </a:p>
        </p:txBody>
      </p:sp>
      <p:sp>
        <p:nvSpPr>
          <p:cNvPr id="31" name="Text 31"/>
          <p:cNvSpPr txBox="1"/>
          <p:nvPr/>
        </p:nvSpPr>
        <p:spPr>
          <a:xfrm>
            <a:off x="685800" y="3676650"/>
            <a:ext cx="584200" cy="213320"/>
          </a:xfrm>
          <a:prstGeom prst="rect">
            <a:avLst/>
          </a:prstGeom>
          <a:noFill/>
          <a:ln>
            <a:noFill/>
          </a:ln>
        </p:spPr>
        <p:txBody>
          <a:bodyPr wrap="square" lIns="0" tIns="0" rIns="0" bIns="0" anchor="t">
            <a:noAutofit/>
          </a:bodyPr>
          <a:lstStyle/>
          <a:p>
            <a:pPr algn="r"/>
            <a:r>
              <a:rPr lang="en-US" sz="1200" b="0" dirty="0">
                <a:solidFill>
                  <a:srgbClr val="6B7079"/>
                </a:solidFill>
                <a:latin typeface="IBM Plex Sans"/>
                <a:cs typeface="IBM Plex Sans"/>
              </a:rPr>
              <a:t>6</a:t>
            </a:r>
          </a:p>
        </p:txBody>
      </p:sp>
      <p:sp>
        <p:nvSpPr>
          <p:cNvPr id="32" name="Text 32"/>
          <p:cNvSpPr txBox="1"/>
          <p:nvPr/>
        </p:nvSpPr>
        <p:spPr>
          <a:xfrm>
            <a:off x="685800" y="4286250"/>
            <a:ext cx="584200" cy="213320"/>
          </a:xfrm>
          <a:prstGeom prst="rect">
            <a:avLst/>
          </a:prstGeom>
          <a:noFill/>
          <a:ln>
            <a:noFill/>
          </a:ln>
        </p:spPr>
        <p:txBody>
          <a:bodyPr wrap="square" lIns="0" tIns="0" rIns="0" bIns="0" anchor="t">
            <a:noAutofit/>
          </a:bodyPr>
          <a:lstStyle/>
          <a:p>
            <a:pPr algn="r"/>
            <a:r>
              <a:rPr lang="en-US" sz="1200" b="0" dirty="0">
                <a:solidFill>
                  <a:srgbClr val="6B7079"/>
                </a:solidFill>
                <a:latin typeface="IBM Plex Sans"/>
                <a:cs typeface="IBM Plex Sans"/>
              </a:rPr>
              <a:t>5</a:t>
            </a:r>
          </a:p>
        </p:txBody>
      </p:sp>
      <p:sp>
        <p:nvSpPr>
          <p:cNvPr id="33" name="Text 33"/>
          <p:cNvSpPr txBox="1"/>
          <p:nvPr/>
        </p:nvSpPr>
        <p:spPr>
          <a:xfrm>
            <a:off x="1231900" y="5130800"/>
            <a:ext cx="965200" cy="213320"/>
          </a:xfrm>
          <a:prstGeom prst="rect">
            <a:avLst/>
          </a:prstGeom>
          <a:noFill/>
          <a:ln>
            <a:noFill/>
          </a:ln>
        </p:spPr>
        <p:txBody>
          <a:bodyPr wrap="square" lIns="0" tIns="0" rIns="0" bIns="0" anchor="t">
            <a:noAutofit/>
          </a:bodyPr>
          <a:lstStyle/>
          <a:p>
            <a:pPr algn="ctr"/>
            <a:r>
              <a:rPr lang="en-US" sz="1200" b="0" dirty="0">
                <a:solidFill>
                  <a:srgbClr val="6B7079"/>
                </a:solidFill>
                <a:latin typeface="IBM Plex Sans"/>
                <a:cs typeface="IBM Plex Sans"/>
              </a:rPr>
              <a:t>Week 1</a:t>
            </a:r>
          </a:p>
        </p:txBody>
      </p:sp>
      <p:sp>
        <p:nvSpPr>
          <p:cNvPr id="34" name="Text 34"/>
          <p:cNvSpPr txBox="1"/>
          <p:nvPr/>
        </p:nvSpPr>
        <p:spPr>
          <a:xfrm>
            <a:off x="3708400" y="5130800"/>
            <a:ext cx="965200" cy="213320"/>
          </a:xfrm>
          <a:prstGeom prst="rect">
            <a:avLst/>
          </a:prstGeom>
          <a:noFill/>
          <a:ln>
            <a:noFill/>
          </a:ln>
        </p:spPr>
        <p:txBody>
          <a:bodyPr wrap="square" lIns="0" tIns="0" rIns="0" bIns="0" anchor="t">
            <a:noAutofit/>
          </a:bodyPr>
          <a:lstStyle/>
          <a:p>
            <a:pPr algn="ctr"/>
            <a:r>
              <a:rPr lang="en-US" sz="1200" b="1" dirty="0">
                <a:solidFill>
                  <a:srgbClr val="14171C"/>
                </a:solidFill>
                <a:latin typeface="IBM Plex Sans"/>
                <a:cs typeface="IBM Plex Sans"/>
              </a:rPr>
              <a:t>Week 7</a:t>
            </a:r>
          </a:p>
        </p:txBody>
      </p:sp>
      <p:sp>
        <p:nvSpPr>
          <p:cNvPr id="35" name="Text 35"/>
          <p:cNvSpPr txBox="1"/>
          <p:nvPr/>
        </p:nvSpPr>
        <p:spPr>
          <a:xfrm>
            <a:off x="7835900" y="5130800"/>
            <a:ext cx="965200" cy="213320"/>
          </a:xfrm>
          <a:prstGeom prst="rect">
            <a:avLst/>
          </a:prstGeom>
          <a:noFill/>
          <a:ln>
            <a:noFill/>
          </a:ln>
        </p:spPr>
        <p:txBody>
          <a:bodyPr wrap="square" lIns="0" tIns="0" rIns="0" bIns="0" anchor="t">
            <a:noAutofit/>
          </a:bodyPr>
          <a:lstStyle/>
          <a:p>
            <a:pPr algn="ctr"/>
            <a:r>
              <a:rPr lang="en-US" sz="1200" b="1" dirty="0">
                <a:solidFill>
                  <a:srgbClr val="14171C"/>
                </a:solidFill>
                <a:latin typeface="IBM Plex Sans"/>
                <a:cs typeface="IBM Plex Sans"/>
              </a:rPr>
              <a:t>Week 17</a:t>
            </a:r>
          </a:p>
        </p:txBody>
      </p:sp>
      <p:sp>
        <p:nvSpPr>
          <p:cNvPr id="36" name="Text 36"/>
          <p:cNvSpPr txBox="1"/>
          <p:nvPr/>
        </p:nvSpPr>
        <p:spPr>
          <a:xfrm>
            <a:off x="9074150" y="5130800"/>
            <a:ext cx="965200" cy="213320"/>
          </a:xfrm>
          <a:prstGeom prst="rect">
            <a:avLst/>
          </a:prstGeom>
          <a:noFill/>
          <a:ln>
            <a:noFill/>
          </a:ln>
        </p:spPr>
        <p:txBody>
          <a:bodyPr wrap="square" lIns="0" tIns="0" rIns="0" bIns="0" anchor="t">
            <a:noAutofit/>
          </a:bodyPr>
          <a:lstStyle/>
          <a:p>
            <a:pPr algn="ctr"/>
            <a:r>
              <a:rPr lang="en-US" sz="1200" b="0" dirty="0">
                <a:solidFill>
                  <a:srgbClr val="6B7079"/>
                </a:solidFill>
                <a:latin typeface="IBM Plex Sans"/>
                <a:cs typeface="IBM Plex Sans"/>
              </a:rPr>
              <a:t>Week 20</a:t>
            </a:r>
          </a:p>
        </p:txBody>
      </p:sp>
      <p:sp>
        <p:nvSpPr>
          <p:cNvPr id="47" name="Text 47"/>
          <p:cNvSpPr txBox="1"/>
          <p:nvPr/>
        </p:nvSpPr>
        <p:spPr>
          <a:xfrm>
            <a:off x="812800" y="6238280"/>
            <a:ext cx="228699" cy="213320"/>
          </a:xfrm>
          <a:prstGeom prst="rect">
            <a:avLst/>
          </a:prstGeom>
          <a:noFill/>
          <a:ln>
            <a:noFill/>
          </a:ln>
        </p:spPr>
        <p:txBody>
          <a:bodyPr wrap="square" lIns="0" tIns="0" rIns="0" bIns="0" anchor="t">
            <a:noAutofit/>
          </a:bodyPr>
          <a:lstStyle/>
          <a:p>
            <a:pPr algn="l"/>
            <a:r>
              <a:rPr lang="en-US" sz="1200" b="0" dirty="0">
                <a:solidFill>
                  <a:srgbClr val="6B7079"/>
                </a:solidFill>
                <a:latin typeface="IBM Plex Sans"/>
                <a:cs typeface="IBM Plex Sans"/>
              </a:rPr>
              <a:t>7 ·</a:t>
            </a:r>
          </a:p>
        </p:txBody>
      </p:sp>
      <p:grpSp>
        <p:nvGrpSpPr>
          <p:cNvPr id="48" name="Build 1"/>
          <p:cNvGrpSpPr/>
          <p:nvPr/>
        </p:nvGrpSpPr>
        <p:grpSpPr>
          <a:xfrm>
            <a:off x="0" y="0"/>
            <a:ext cx="12192000" cy="6858000"/>
            <a:chOff x="0" y="0"/>
            <a:chExt cx="12192000" cy="6858000"/>
          </a:xfrm>
        </p:grpSpPr>
        <p:cxnSp>
          <p:nvCxnSpPr>
            <p:cNvPr id="37" name="Line 37"/>
            <p:cNvCxnSpPr/>
            <p:nvPr/>
          </p:nvCxnSpPr>
          <p:spPr>
            <a:xfrm>
              <a:off x="1524000" y="3797300"/>
              <a:ext cx="8255000" cy="0"/>
            </a:xfrm>
            <a:prstGeom prst="line">
              <a:avLst/>
            </a:prstGeom>
            <a:ln w="19050">
              <a:solidFill>
                <a:srgbClr val="8A9099"/>
              </a:solidFill>
              <a:prstDash val="dash"/>
              <a:round/>
            </a:ln>
          </p:spPr>
        </p:cxnSp>
        <p:sp>
          <p:nvSpPr>
            <p:cNvPr id="38" name="Text 38"/>
            <p:cNvSpPr txBox="1"/>
            <p:nvPr/>
          </p:nvSpPr>
          <p:spPr>
            <a:xfrm>
              <a:off x="10033000" y="3689350"/>
              <a:ext cx="1397000" cy="213320"/>
            </a:xfrm>
            <a:prstGeom prst="rect">
              <a:avLst/>
            </a:prstGeom>
            <a:noFill/>
            <a:ln>
              <a:noFill/>
            </a:ln>
          </p:spPr>
          <p:txBody>
            <a:bodyPr wrap="square" lIns="0" tIns="0" rIns="0" bIns="0" anchor="t">
              <a:noAutofit/>
            </a:bodyPr>
            <a:lstStyle/>
            <a:p>
              <a:pPr algn="l"/>
              <a:r>
                <a:rPr lang="en-US" sz="1200" b="0" dirty="0">
                  <a:solidFill>
                    <a:srgbClr val="6B7079"/>
                  </a:solidFill>
                  <a:latin typeface="IBM Plex Sans"/>
                  <a:cs typeface="IBM Plex Sans"/>
                </a:rPr>
                <a:t>Average</a:t>
              </a:r>
            </a:p>
          </p:txBody>
        </p:sp>
      </p:grpSp>
      <p:grpSp>
        <p:nvGrpSpPr>
          <p:cNvPr id="49" name="Build 2"/>
          <p:cNvGrpSpPr/>
          <p:nvPr/>
        </p:nvGrpSpPr>
        <p:grpSpPr>
          <a:xfrm>
            <a:off x="0" y="0"/>
            <a:ext cx="12192000" cy="6858000"/>
            <a:chOff x="0" y="0"/>
            <a:chExt cx="12192000" cy="6858000"/>
          </a:xfrm>
        </p:grpSpPr>
        <p:sp>
          <p:nvSpPr>
            <p:cNvPr id="39" name="Rect 39"/>
            <p:cNvSpPr/>
            <p:nvPr/>
          </p:nvSpPr>
          <p:spPr>
            <a:xfrm>
              <a:off x="1524000" y="2882900"/>
              <a:ext cx="8255000" cy="1828800"/>
            </a:xfrm>
            <a:prstGeom prst="rect">
              <a:avLst/>
            </a:prstGeom>
            <a:solidFill>
              <a:srgbClr val="1F5FBF">
                <a:alpha val="9000"/>
              </a:srgbClr>
            </a:solidFill>
            <a:ln>
              <a:noFill/>
            </a:ln>
          </p:spPr>
          <p:txBody>
            <a:bodyPr/>
            <a:lstStyle/>
            <a:p>
              <a:endParaRPr lang="en-US"/>
            </a:p>
          </p:txBody>
        </p:sp>
        <p:cxnSp>
          <p:nvCxnSpPr>
            <p:cNvPr id="40" name="Line 40"/>
            <p:cNvCxnSpPr/>
            <p:nvPr/>
          </p:nvCxnSpPr>
          <p:spPr>
            <a:xfrm>
              <a:off x="1524000" y="2882900"/>
              <a:ext cx="8255000" cy="0"/>
            </a:xfrm>
            <a:prstGeom prst="line">
              <a:avLst/>
            </a:prstGeom>
            <a:ln w="19050">
              <a:solidFill>
                <a:srgbClr val="1F5FBF"/>
              </a:solidFill>
              <a:prstDash val="dash"/>
              <a:round/>
            </a:ln>
          </p:spPr>
        </p:cxnSp>
        <p:cxnSp>
          <p:nvCxnSpPr>
            <p:cNvPr id="41" name="Line 41"/>
            <p:cNvCxnSpPr/>
            <p:nvPr/>
          </p:nvCxnSpPr>
          <p:spPr>
            <a:xfrm>
              <a:off x="1524000" y="4711700"/>
              <a:ext cx="8255000" cy="0"/>
            </a:xfrm>
            <a:prstGeom prst="line">
              <a:avLst/>
            </a:prstGeom>
            <a:ln w="19050">
              <a:solidFill>
                <a:srgbClr val="1F5FBF"/>
              </a:solidFill>
              <a:prstDash val="dash"/>
              <a:round/>
            </a:ln>
          </p:spPr>
        </p:cxnSp>
        <p:sp>
          <p:nvSpPr>
            <p:cNvPr id="42" name="Text 42"/>
            <p:cNvSpPr txBox="1"/>
            <p:nvPr/>
          </p:nvSpPr>
          <p:spPr>
            <a:xfrm>
              <a:off x="10033000" y="2774950"/>
              <a:ext cx="1397000" cy="213320"/>
            </a:xfrm>
            <a:prstGeom prst="rect">
              <a:avLst/>
            </a:prstGeom>
            <a:noFill/>
            <a:ln>
              <a:noFill/>
            </a:ln>
          </p:spPr>
          <p:txBody>
            <a:bodyPr wrap="square" lIns="0" tIns="0" rIns="0" bIns="0" anchor="t">
              <a:noAutofit/>
            </a:bodyPr>
            <a:lstStyle/>
            <a:p>
              <a:pPr algn="l"/>
              <a:r>
                <a:rPr lang="en-US" sz="1200" b="1" dirty="0">
                  <a:solidFill>
                    <a:srgbClr val="1F5FBF"/>
                  </a:solidFill>
                  <a:latin typeface="IBM Plex Sans"/>
                  <a:cs typeface="IBM Plex Sans"/>
                </a:rPr>
                <a:t>Upper limit</a:t>
              </a:r>
            </a:p>
          </p:txBody>
        </p:sp>
        <p:sp>
          <p:nvSpPr>
            <p:cNvPr id="43" name="Text 43"/>
            <p:cNvSpPr txBox="1"/>
            <p:nvPr/>
          </p:nvSpPr>
          <p:spPr>
            <a:xfrm>
              <a:off x="10033000" y="4603750"/>
              <a:ext cx="1397000" cy="213320"/>
            </a:xfrm>
            <a:prstGeom prst="rect">
              <a:avLst/>
            </a:prstGeom>
            <a:noFill/>
            <a:ln>
              <a:noFill/>
            </a:ln>
          </p:spPr>
          <p:txBody>
            <a:bodyPr wrap="square" lIns="0" tIns="0" rIns="0" bIns="0" anchor="t">
              <a:noAutofit/>
            </a:bodyPr>
            <a:lstStyle/>
            <a:p>
              <a:pPr algn="l"/>
              <a:r>
                <a:rPr lang="en-US" sz="1200" b="1" dirty="0">
                  <a:solidFill>
                    <a:srgbClr val="1F5FBF"/>
                  </a:solidFill>
                  <a:latin typeface="IBM Plex Sans"/>
                  <a:cs typeface="IBM Plex Sans"/>
                </a:rPr>
                <a:t>Lower limit</a:t>
              </a:r>
            </a:p>
          </p:txBody>
        </p:sp>
        <p:sp>
          <p:nvSpPr>
            <p:cNvPr id="44" name="Text 44"/>
            <p:cNvSpPr txBox="1"/>
            <p:nvPr/>
          </p:nvSpPr>
          <p:spPr>
            <a:xfrm>
              <a:off x="4089400" y="4286250"/>
              <a:ext cx="3124200" cy="284460"/>
            </a:xfrm>
            <a:prstGeom prst="rect">
              <a:avLst/>
            </a:prstGeom>
            <a:noFill/>
            <a:ln>
              <a:noFill/>
            </a:ln>
          </p:spPr>
          <p:txBody>
            <a:bodyPr wrap="square" lIns="0" tIns="0" rIns="0" bIns="0" anchor="t">
              <a:noAutofit/>
            </a:bodyPr>
            <a:lstStyle/>
            <a:p>
              <a:pPr algn="ctr"/>
              <a:r>
                <a:rPr lang="en-US" sz="1600" b="1" dirty="0">
                  <a:solidFill>
                    <a:srgbClr val="1F5FBF"/>
                  </a:solidFill>
                  <a:latin typeface="IBM Plex Sans"/>
                  <a:cs typeface="IBM Plex Sans"/>
                </a:rPr>
                <a:t>Inside the band: noise</a:t>
              </a:r>
            </a:p>
          </p:txBody>
        </p:sp>
      </p:grpSp>
      <p:grpSp>
        <p:nvGrpSpPr>
          <p:cNvPr id="50" name="Build 3"/>
          <p:cNvGrpSpPr/>
          <p:nvPr/>
        </p:nvGrpSpPr>
        <p:grpSpPr>
          <a:xfrm>
            <a:off x="0" y="0"/>
            <a:ext cx="12192000" cy="6858000"/>
            <a:chOff x="0" y="0"/>
            <a:chExt cx="12192000" cy="6858000"/>
          </a:xfrm>
        </p:grpSpPr>
        <p:sp>
          <p:nvSpPr>
            <p:cNvPr id="45" name="Dot 45"/>
            <p:cNvSpPr/>
            <p:nvPr/>
          </p:nvSpPr>
          <p:spPr>
            <a:xfrm>
              <a:off x="8229600" y="2123440"/>
              <a:ext cx="177800" cy="177800"/>
            </a:xfrm>
            <a:prstGeom prst="ellipse">
              <a:avLst/>
            </a:prstGeom>
            <a:solidFill>
              <a:srgbClr val="B24A17"/>
            </a:solidFill>
            <a:ln>
              <a:noFill/>
            </a:ln>
          </p:spPr>
          <p:txBody>
            <a:bodyPr/>
            <a:lstStyle/>
            <a:p>
              <a:endParaRPr lang="en-US"/>
            </a:p>
          </p:txBody>
        </p:sp>
        <p:sp>
          <p:nvSpPr>
            <p:cNvPr id="46" name="Text 46"/>
            <p:cNvSpPr txBox="1"/>
            <p:nvPr/>
          </p:nvSpPr>
          <p:spPr>
            <a:xfrm>
              <a:off x="5511800" y="1879600"/>
              <a:ext cx="2679700" cy="284460"/>
            </a:xfrm>
            <a:prstGeom prst="rect">
              <a:avLst/>
            </a:prstGeom>
            <a:noFill/>
            <a:ln>
              <a:noFill/>
            </a:ln>
          </p:spPr>
          <p:txBody>
            <a:bodyPr wrap="square" lIns="0" tIns="0" rIns="0" bIns="0" anchor="t">
              <a:noAutofit/>
            </a:bodyPr>
            <a:lstStyle/>
            <a:p>
              <a:pPr algn="r"/>
              <a:r>
                <a:rPr lang="en-US" sz="1600" b="1" dirty="0">
                  <a:solidFill>
                    <a:srgbClr val="B24A17"/>
                  </a:solidFill>
                  <a:latin typeface="IBM Plex Sans"/>
                  <a:cs typeface="IBM Plex Sans"/>
                </a:rPr>
                <a:t>Outside: investigate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fade">
                                      <p:cBhvr>
                                        <p:cTn id="12" dur="500"/>
                                        <p:tgtEl>
                                          <p:spTgt spid="4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fade">
                                      <p:cBhvr>
                                        <p:cTn id="1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112772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171C"/>
                </a:solidFill>
                <a:latin typeface="Source Serif 4" pitchFamily="18" charset="0"/>
                <a:ea typeface="Source Serif 4" pitchFamily="18" charset="-122"/>
                <a:cs typeface="Source Serif 4" pitchFamily="18" charset="-120"/>
              </a:rPr>
              <a:t>Win rate fell from 52% to 33%. </a:t>
            </a:r>
            <a:br>
              <a:rPr lang="en-US" sz="3600" b="1" i="0" dirty="0">
                <a:solidFill>
                  <a:srgbClr val="14171C"/>
                </a:solidFill>
                <a:latin typeface="Source Serif 4" pitchFamily="18" charset="0"/>
                <a:ea typeface="Source Serif 4" pitchFamily="18" charset="-122"/>
                <a:cs typeface="Source Serif 4" pitchFamily="18" charset="-120"/>
              </a:rPr>
            </a:br>
            <a:r>
              <a:rPr lang="en-US" sz="3200" b="1" i="0" dirty="0">
                <a:solidFill>
                  <a:srgbClr val="14171C"/>
                </a:solidFill>
                <a:latin typeface="Source Serif 4" pitchFamily="18" charset="0"/>
                <a:ea typeface="Source Serif 4" pitchFamily="18" charset="-122"/>
                <a:cs typeface="Source Serif 4" pitchFamily="18" charset="-120"/>
              </a:rPr>
              <a:t>Retrain the disputes team?</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679700"/>
          <a:ext cx="10553700" cy="1757364"/>
        </p:xfrm>
        <a:graphic>
          <a:graphicData uri="http://schemas.openxmlformats.org/drawingml/2006/table">
            <a:tbl>
              <a:tblPr/>
              <a:tblGrid>
                <a:gridCol w="3799332">
                  <a:extLst>
                    <a:ext uri="{9D8B030D-6E8A-4147-A177-3AD203B41FA5}">
                      <a16:colId xmlns:a16="http://schemas.microsoft.com/office/drawing/2014/main" val="20000"/>
                    </a:ext>
                  </a:extLst>
                </a:gridCol>
                <a:gridCol w="1688592">
                  <a:extLst>
                    <a:ext uri="{9D8B030D-6E8A-4147-A177-3AD203B41FA5}">
                      <a16:colId xmlns:a16="http://schemas.microsoft.com/office/drawing/2014/main" val="20001"/>
                    </a:ext>
                  </a:extLst>
                </a:gridCol>
                <a:gridCol w="1688592">
                  <a:extLst>
                    <a:ext uri="{9D8B030D-6E8A-4147-A177-3AD203B41FA5}">
                      <a16:colId xmlns:a16="http://schemas.microsoft.com/office/drawing/2014/main" val="20002"/>
                    </a:ext>
                  </a:extLst>
                </a:gridCol>
                <a:gridCol w="1688592">
                  <a:extLst>
                    <a:ext uri="{9D8B030D-6E8A-4147-A177-3AD203B41FA5}">
                      <a16:colId xmlns:a16="http://schemas.microsoft.com/office/drawing/2014/main" val="20003"/>
                    </a:ext>
                  </a:extLst>
                </a:gridCol>
                <a:gridCol w="1688592">
                  <a:extLst>
                    <a:ext uri="{9D8B030D-6E8A-4147-A177-3AD203B41FA5}">
                      <a16:colId xmlns:a16="http://schemas.microsoft.com/office/drawing/2014/main" val="20004"/>
                    </a:ext>
                  </a:extLst>
                </a:gridCol>
              </a:tblGrid>
              <a:tr h="439341">
                <a:tc>
                  <a:txBody>
                    <a:bodyPr/>
                    <a:lstStyle/>
                    <a:p>
                      <a:pPr marL="0" indent="0">
                        <a:lnSpc>
                          <a:spcPts val="2240"/>
                        </a:lnSpc>
                        <a:buNone/>
                      </a:pPr>
                      <a:r>
                        <a:rPr lang="en-US" sz="1600" b="1" dirty="0">
                          <a:solidFill>
                            <a:srgbClr val="14171C"/>
                          </a:solidFill>
                          <a:latin typeface="IBM Plex Sans" pitchFamily="34" charset="0"/>
                          <a:ea typeface="IBM Plex Sans" pitchFamily="34" charset="-122"/>
                          <a:cs typeface="IBM Plex Sans" pitchFamily="34" charset="-120"/>
                        </a:rPr>
                        <a:t>Dispute type</a:t>
                      </a:r>
                      <a:endParaRPr lang="en-US" sz="1600" dirty="0">
                        <a:latin typeface="IBM Plex Sans" charset="0"/>
                        <a:ea typeface="IBM Plex Sans" charset="0"/>
                        <a:cs typeface="IBM Plex Sans"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2240"/>
                        </a:lnSpc>
                        <a:buNone/>
                      </a:pPr>
                      <a:r>
                        <a:rPr lang="en-US" sz="1600" b="1" dirty="0">
                          <a:solidFill>
                            <a:srgbClr val="14171C"/>
                          </a:solidFill>
                          <a:latin typeface="IBM Plex Sans" pitchFamily="34" charset="0"/>
                          <a:ea typeface="IBM Plex Sans" pitchFamily="34" charset="-122"/>
                          <a:cs typeface="IBM Plex Sans" pitchFamily="34" charset="-120"/>
                        </a:rPr>
                        <a:t>Q2 disputes</a:t>
                      </a:r>
                      <a:endParaRPr lang="en-US" sz="1600" dirty="0">
                        <a:latin typeface="IBM Plex Sans" charset="0"/>
                        <a:ea typeface="IBM Plex Sans" charset="0"/>
                        <a:cs typeface="IBM Plex Sans" charset="0"/>
                      </a:endParaRPr>
                    </a:p>
                  </a:txBody>
                  <a:tcPr marL="71120" marR="71120" marT="71120" marB="7112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2240"/>
                        </a:lnSpc>
                        <a:buNone/>
                      </a:pPr>
                      <a:r>
                        <a:rPr lang="en-US" sz="1600" b="1" dirty="0">
                          <a:solidFill>
                            <a:srgbClr val="14171C"/>
                          </a:solidFill>
                          <a:latin typeface="IBM Plex Sans" pitchFamily="34" charset="0"/>
                          <a:ea typeface="IBM Plex Sans" pitchFamily="34" charset="-122"/>
                          <a:cs typeface="IBM Plex Sans" pitchFamily="34" charset="-120"/>
                        </a:rPr>
                        <a:t>Q2 win rate</a:t>
                      </a:r>
                      <a:endParaRPr lang="en-US" sz="1600" dirty="0">
                        <a:latin typeface="IBM Plex Sans" charset="0"/>
                        <a:ea typeface="IBM Plex Sans" charset="0"/>
                        <a:cs typeface="IBM Plex Sans" charset="0"/>
                      </a:endParaRPr>
                    </a:p>
                  </a:txBody>
                  <a:tcPr marL="71120" marR="71120" marT="71120" marB="7112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2240"/>
                        </a:lnSpc>
                        <a:buNone/>
                      </a:pPr>
                      <a:r>
                        <a:rPr lang="en-US" sz="1600" b="1" dirty="0">
                          <a:solidFill>
                            <a:srgbClr val="14171C"/>
                          </a:solidFill>
                          <a:latin typeface="IBM Plex Sans" pitchFamily="34" charset="0"/>
                          <a:ea typeface="IBM Plex Sans" pitchFamily="34" charset="-122"/>
                          <a:cs typeface="IBM Plex Sans" pitchFamily="34" charset="-120"/>
                        </a:rPr>
                        <a:t>Q3 disputes</a:t>
                      </a:r>
                      <a:endParaRPr lang="en-US" sz="1600" dirty="0">
                        <a:latin typeface="IBM Plex Sans" charset="0"/>
                        <a:ea typeface="IBM Plex Sans" charset="0"/>
                        <a:cs typeface="IBM Plex Sans" charset="0"/>
                      </a:endParaRPr>
                    </a:p>
                  </a:txBody>
                  <a:tcPr marL="71120" marR="71120" marT="71120" marB="7112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2240"/>
                        </a:lnSpc>
                        <a:buNone/>
                      </a:pPr>
                      <a:r>
                        <a:rPr lang="en-US" sz="1600" b="1" dirty="0">
                          <a:solidFill>
                            <a:srgbClr val="14171C"/>
                          </a:solidFill>
                          <a:latin typeface="IBM Plex Sans" pitchFamily="34" charset="0"/>
                          <a:ea typeface="IBM Plex Sans" pitchFamily="34" charset="-122"/>
                          <a:cs typeface="IBM Plex Sans" pitchFamily="34" charset="-120"/>
                        </a:rPr>
                        <a:t>Q3 win rate</a:t>
                      </a:r>
                      <a:endParaRPr lang="en-US" sz="1600" dirty="0">
                        <a:latin typeface="IBM Plex Sans" charset="0"/>
                        <a:ea typeface="IBM Plex Sans" charset="0"/>
                        <a:cs typeface="IBM Plex Sans" charset="0"/>
                      </a:endParaRPr>
                    </a:p>
                  </a:txBody>
                  <a:tcPr marL="71120" marR="71120" marT="71120" marB="7112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14171C"/>
                          </a:solidFill>
                          <a:latin typeface="IBM Plex Sans" pitchFamily="34" charset="0"/>
                          <a:ea typeface="IBM Plex Sans" pitchFamily="34" charset="-122"/>
                          <a:cs typeface="IBM Plex Sans" pitchFamily="34" charset="-120"/>
                        </a:rPr>
                        <a:t>Fraud claims (hard to win)</a:t>
                      </a:r>
                      <a:endParaRPr lang="en-US" sz="1600" dirty="0">
                        <a:latin typeface="IBM Plex Sans" charset="0"/>
                        <a:ea typeface="IBM Plex Sans" charset="0"/>
                        <a:cs typeface="IBM Plex Sans"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14171C"/>
                          </a:solidFill>
                          <a:latin typeface="IBM Plex Sans" pitchFamily="34" charset="0"/>
                          <a:ea typeface="IBM Plex Sans" pitchFamily="34" charset="-122"/>
                          <a:cs typeface="IBM Plex Sans" pitchFamily="34" charset="-120"/>
                        </a:rPr>
                        <a:t>200</a:t>
                      </a:r>
                      <a:endParaRPr lang="en-US" sz="1600" dirty="0">
                        <a:latin typeface="IBM Plex Sans" charset="0"/>
                        <a:ea typeface="IBM Plex Sans" charset="0"/>
                        <a:cs typeface="IBM Plex Sans"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14171C"/>
                          </a:solidFill>
                          <a:latin typeface="IBM Plex Sans" pitchFamily="34" charset="0"/>
                          <a:ea typeface="IBM Plex Sans" pitchFamily="34" charset="-122"/>
                          <a:cs typeface="IBM Plex Sans" pitchFamily="34" charset="-120"/>
                        </a:rPr>
                        <a:t>20%</a:t>
                      </a:r>
                      <a:endParaRPr lang="en-US" sz="1600" dirty="0">
                        <a:latin typeface="IBM Plex Sans" charset="0"/>
                        <a:ea typeface="IBM Plex Sans" charset="0"/>
                        <a:cs typeface="IBM Plex Sans"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14171C"/>
                          </a:solidFill>
                          <a:latin typeface="IBM Plex Sans" pitchFamily="34" charset="0"/>
                          <a:ea typeface="IBM Plex Sans" pitchFamily="34" charset="-122"/>
                          <a:cs typeface="IBM Plex Sans" pitchFamily="34" charset="-120"/>
                        </a:rPr>
                        <a:t>800</a:t>
                      </a:r>
                      <a:endParaRPr lang="en-US" sz="1600" dirty="0">
                        <a:latin typeface="IBM Plex Sans" charset="0"/>
                        <a:ea typeface="IBM Plex Sans" charset="0"/>
                        <a:cs typeface="IBM Plex Sans"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1F5FBF"/>
                          </a:solidFill>
                          <a:latin typeface="IBM Plex Sans" pitchFamily="34" charset="0"/>
                          <a:ea typeface="IBM Plex Sans" pitchFamily="34" charset="-122"/>
                          <a:cs typeface="IBM Plex Sans" pitchFamily="34" charset="-120"/>
                        </a:rPr>
                        <a:t>25%</a:t>
                      </a:r>
                      <a:endParaRPr lang="en-US" sz="1600" dirty="0">
                        <a:latin typeface="IBM Plex Sans" charset="0"/>
                        <a:ea typeface="IBM Plex Sans" charset="0"/>
                        <a:cs typeface="IBM Plex Sans"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14171C"/>
                          </a:solidFill>
                          <a:latin typeface="IBM Plex Sans" pitchFamily="34" charset="0"/>
                          <a:ea typeface="IBM Plex Sans" pitchFamily="34" charset="-122"/>
                          <a:cs typeface="IBM Plex Sans" pitchFamily="34" charset="-120"/>
                        </a:rPr>
                        <a:t>Item not received (easier)</a:t>
                      </a:r>
                      <a:endParaRPr lang="en-US" sz="1600" dirty="0">
                        <a:latin typeface="IBM Plex Sans" charset="0"/>
                        <a:ea typeface="IBM Plex Sans" charset="0"/>
                        <a:cs typeface="IBM Plex Sans"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14171C"/>
                          </a:solidFill>
                          <a:latin typeface="IBM Plex Sans" pitchFamily="34" charset="0"/>
                          <a:ea typeface="IBM Plex Sans" pitchFamily="34" charset="-122"/>
                          <a:cs typeface="IBM Plex Sans" pitchFamily="34" charset="-120"/>
                        </a:rPr>
                        <a:t>800</a:t>
                      </a:r>
                      <a:endParaRPr lang="en-US" sz="1600" dirty="0">
                        <a:latin typeface="IBM Plex Sans" charset="0"/>
                        <a:ea typeface="IBM Plex Sans" charset="0"/>
                        <a:cs typeface="IBM Plex Sans"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14171C"/>
                          </a:solidFill>
                          <a:latin typeface="IBM Plex Sans" pitchFamily="34" charset="0"/>
                          <a:ea typeface="IBM Plex Sans" pitchFamily="34" charset="-122"/>
                          <a:cs typeface="IBM Plex Sans" pitchFamily="34" charset="-120"/>
                        </a:rPr>
                        <a:t>60%</a:t>
                      </a:r>
                      <a:endParaRPr lang="en-US" sz="1600" dirty="0">
                        <a:latin typeface="IBM Plex Sans" charset="0"/>
                        <a:ea typeface="IBM Plex Sans" charset="0"/>
                        <a:cs typeface="IBM Plex Sans"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14171C"/>
                          </a:solidFill>
                          <a:latin typeface="IBM Plex Sans" pitchFamily="34" charset="0"/>
                          <a:ea typeface="IBM Plex Sans" pitchFamily="34" charset="-122"/>
                          <a:cs typeface="IBM Plex Sans" pitchFamily="34" charset="-120"/>
                        </a:rPr>
                        <a:t>200</a:t>
                      </a:r>
                      <a:endParaRPr lang="en-US" sz="1600" dirty="0">
                        <a:latin typeface="IBM Plex Sans" charset="0"/>
                        <a:ea typeface="IBM Plex Sans" charset="0"/>
                        <a:cs typeface="IBM Plex Sans"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1F5FBF"/>
                          </a:solidFill>
                          <a:latin typeface="IBM Plex Sans" pitchFamily="34" charset="0"/>
                          <a:ea typeface="IBM Plex Sans" pitchFamily="34" charset="-122"/>
                          <a:cs typeface="IBM Plex Sans" pitchFamily="34" charset="-120"/>
                        </a:rPr>
                        <a:t>65%</a:t>
                      </a:r>
                      <a:endParaRPr lang="en-US" sz="1600" dirty="0">
                        <a:latin typeface="IBM Plex Sans" charset="0"/>
                        <a:ea typeface="IBM Plex Sans" charset="0"/>
                        <a:cs typeface="IBM Plex Sans"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439341">
                <a:tc>
                  <a:txBody>
                    <a:bodyPr/>
                    <a:lstStyle/>
                    <a:p>
                      <a:pPr marL="0" indent="0">
                        <a:lnSpc>
                          <a:spcPts val="2240"/>
                        </a:lnSpc>
                        <a:buNone/>
                      </a:pPr>
                      <a:r>
                        <a:rPr lang="en-US" sz="1600" dirty="0">
                          <a:solidFill>
                            <a:srgbClr val="14171C"/>
                          </a:solidFill>
                          <a:latin typeface="IBM Plex Sans" pitchFamily="34" charset="0"/>
                          <a:ea typeface="IBM Plex Sans" pitchFamily="34" charset="-122"/>
                          <a:cs typeface="IBM Plex Sans" pitchFamily="34" charset="-120"/>
                        </a:rPr>
                        <a:t>All disputes</a:t>
                      </a:r>
                      <a:endParaRPr lang="en-US" sz="1600" dirty="0">
                        <a:latin typeface="IBM Plex Sans" charset="0"/>
                        <a:ea typeface="IBM Plex Sans" charset="0"/>
                        <a:cs typeface="IBM Plex Sans"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BCBE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C0"/>
                      </a:solidFill>
                      <a:prstDash val="solid"/>
                      <a:round/>
                      <a:headEnd type="none" w="med" len="med"/>
                      <a:tailEnd type="none" w="med" len="med"/>
                    </a:lnB>
                    <a:solidFill>
                      <a:srgbClr val="ECEEF1"/>
                    </a:solidFill>
                  </a:tcPr>
                </a:tc>
                <a:tc>
                  <a:txBody>
                    <a:bodyPr/>
                    <a:lstStyle/>
                    <a:p>
                      <a:pPr marL="0" indent="0">
                        <a:lnSpc>
                          <a:spcPts val="2240"/>
                        </a:lnSpc>
                        <a:buNone/>
                      </a:pPr>
                      <a:r>
                        <a:rPr lang="en-US" sz="1600" dirty="0">
                          <a:solidFill>
                            <a:srgbClr val="14171C"/>
                          </a:solidFill>
                          <a:latin typeface="IBM Plex Sans" pitchFamily="34" charset="0"/>
                          <a:ea typeface="IBM Plex Sans" pitchFamily="34" charset="-122"/>
                          <a:cs typeface="IBM Plex Sans" pitchFamily="34" charset="-120"/>
                        </a:rPr>
                        <a:t>1,000</a:t>
                      </a:r>
                      <a:endParaRPr lang="en-US" sz="1600" dirty="0">
                        <a:latin typeface="IBM Plex Sans" charset="0"/>
                        <a:ea typeface="IBM Plex Sans" charset="0"/>
                        <a:cs typeface="IBM Plex Sans" charset="0"/>
                      </a:endParaRPr>
                    </a:p>
                  </a:txBody>
                  <a:tcPr marL="71120" marR="71120" marT="71120" marB="71120">
                    <a:lnL w="12700" cap="flat" cmpd="sng" algn="ctr">
                      <a:solidFill>
                        <a:srgbClr val="BCBEC0"/>
                      </a:solidFill>
                      <a:prstDash val="solid"/>
                      <a:round/>
                      <a:headEnd type="none" w="med" len="med"/>
                      <a:tailEnd type="none" w="med" len="med"/>
                    </a:lnL>
                    <a:lnR w="12700" cap="flat" cmpd="sng" algn="ctr">
                      <a:solidFill>
                        <a:srgbClr val="BCBE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C0"/>
                      </a:solidFill>
                      <a:prstDash val="solid"/>
                      <a:round/>
                      <a:headEnd type="none" w="med" len="med"/>
                      <a:tailEnd type="none" w="med" len="med"/>
                    </a:lnB>
                    <a:solidFill>
                      <a:srgbClr val="ECEEF1"/>
                    </a:solidFill>
                  </a:tcPr>
                </a:tc>
                <a:tc>
                  <a:txBody>
                    <a:bodyPr/>
                    <a:lstStyle/>
                    <a:p>
                      <a:pPr marL="0" indent="0">
                        <a:lnSpc>
                          <a:spcPts val="2240"/>
                        </a:lnSpc>
                        <a:buNone/>
                      </a:pPr>
                      <a:r>
                        <a:rPr lang="en-US" sz="1600" dirty="0">
                          <a:solidFill>
                            <a:srgbClr val="14171C"/>
                          </a:solidFill>
                          <a:latin typeface="IBM Plex Sans" pitchFamily="34" charset="0"/>
                          <a:ea typeface="IBM Plex Sans" pitchFamily="34" charset="-122"/>
                          <a:cs typeface="IBM Plex Sans" pitchFamily="34" charset="-120"/>
                        </a:rPr>
                        <a:t>52%</a:t>
                      </a:r>
                      <a:endParaRPr lang="en-US" sz="1600" dirty="0">
                        <a:latin typeface="IBM Plex Sans" charset="0"/>
                        <a:ea typeface="IBM Plex Sans" charset="0"/>
                        <a:cs typeface="IBM Plex Sans" charset="0"/>
                      </a:endParaRPr>
                    </a:p>
                  </a:txBody>
                  <a:tcPr marL="71120" marR="71120" marT="71120" marB="71120">
                    <a:lnL w="12700" cap="flat" cmpd="sng" algn="ctr">
                      <a:solidFill>
                        <a:srgbClr val="BCBEC0"/>
                      </a:solidFill>
                      <a:prstDash val="solid"/>
                      <a:round/>
                      <a:headEnd type="none" w="med" len="med"/>
                      <a:tailEnd type="none" w="med" len="med"/>
                    </a:lnL>
                    <a:lnR w="12700" cap="flat" cmpd="sng" algn="ctr">
                      <a:solidFill>
                        <a:srgbClr val="BCBE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C0"/>
                      </a:solidFill>
                      <a:prstDash val="solid"/>
                      <a:round/>
                      <a:headEnd type="none" w="med" len="med"/>
                      <a:tailEnd type="none" w="med" len="med"/>
                    </a:lnB>
                    <a:solidFill>
                      <a:srgbClr val="ECEEF1"/>
                    </a:solidFill>
                  </a:tcPr>
                </a:tc>
                <a:tc>
                  <a:txBody>
                    <a:bodyPr/>
                    <a:lstStyle/>
                    <a:p>
                      <a:pPr marL="0" indent="0">
                        <a:lnSpc>
                          <a:spcPts val="2240"/>
                        </a:lnSpc>
                        <a:buNone/>
                      </a:pPr>
                      <a:r>
                        <a:rPr lang="en-US" sz="1600" dirty="0">
                          <a:solidFill>
                            <a:srgbClr val="14171C"/>
                          </a:solidFill>
                          <a:latin typeface="IBM Plex Sans" pitchFamily="34" charset="0"/>
                          <a:ea typeface="IBM Plex Sans" pitchFamily="34" charset="-122"/>
                          <a:cs typeface="IBM Plex Sans" pitchFamily="34" charset="-120"/>
                        </a:rPr>
                        <a:t>1,000</a:t>
                      </a:r>
                      <a:endParaRPr lang="en-US" sz="1600" dirty="0">
                        <a:latin typeface="IBM Plex Sans" charset="0"/>
                        <a:ea typeface="IBM Plex Sans" charset="0"/>
                        <a:cs typeface="IBM Plex Sans" charset="0"/>
                      </a:endParaRPr>
                    </a:p>
                  </a:txBody>
                  <a:tcPr marL="71120" marR="71120" marT="71120" marB="71120">
                    <a:lnL w="12700" cap="flat" cmpd="sng" algn="ctr">
                      <a:solidFill>
                        <a:srgbClr val="BCBEC0"/>
                      </a:solidFill>
                      <a:prstDash val="solid"/>
                      <a:round/>
                      <a:headEnd type="none" w="med" len="med"/>
                      <a:tailEnd type="none" w="med" len="med"/>
                    </a:lnL>
                    <a:lnR w="12700" cap="flat" cmpd="sng" algn="ctr">
                      <a:solidFill>
                        <a:srgbClr val="BCBE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C0"/>
                      </a:solidFill>
                      <a:prstDash val="solid"/>
                      <a:round/>
                      <a:headEnd type="none" w="med" len="med"/>
                      <a:tailEnd type="none" w="med" len="med"/>
                    </a:lnB>
                    <a:solidFill>
                      <a:srgbClr val="ECEEF1"/>
                    </a:solidFill>
                  </a:tcPr>
                </a:tc>
                <a:tc>
                  <a:txBody>
                    <a:bodyPr/>
                    <a:lstStyle/>
                    <a:p>
                      <a:pPr marL="0" indent="0">
                        <a:lnSpc>
                          <a:spcPts val="2240"/>
                        </a:lnSpc>
                        <a:buNone/>
                      </a:pPr>
                      <a:r>
                        <a:rPr lang="en-US" sz="1600" dirty="0">
                          <a:solidFill>
                            <a:srgbClr val="14171C"/>
                          </a:solidFill>
                          <a:latin typeface="IBM Plex Sans" pitchFamily="34" charset="0"/>
                          <a:ea typeface="IBM Plex Sans" pitchFamily="34" charset="-122"/>
                          <a:cs typeface="IBM Plex Sans" pitchFamily="34" charset="-120"/>
                        </a:rPr>
                        <a:t>33%</a:t>
                      </a:r>
                      <a:endParaRPr lang="en-US" sz="1600" dirty="0">
                        <a:latin typeface="IBM Plex Sans" charset="0"/>
                        <a:ea typeface="IBM Plex Sans" charset="0"/>
                        <a:cs typeface="IBM Plex Sans" charset="0"/>
                      </a:endParaRPr>
                    </a:p>
                  </a:txBody>
                  <a:tcPr marL="71120" marR="71120" marT="71120" marB="71120">
                    <a:lnL w="12700" cap="flat" cmpd="sng" algn="ctr">
                      <a:solidFill>
                        <a:srgbClr val="BCBEC0"/>
                      </a:solidFill>
                      <a:prstDash val="solid"/>
                      <a:round/>
                      <a:headEnd type="none" w="med" len="med"/>
                      <a:tailEnd type="none" w="med" len="med"/>
                    </a:lnL>
                    <a:lnR w="12700" cap="flat" cmpd="sng" algn="ctr">
                      <a:solidFill>
                        <a:srgbClr val="BCBE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C0"/>
                      </a:solidFill>
                      <a:prstDash val="solid"/>
                      <a:round/>
                      <a:headEnd type="none" w="med" len="med"/>
                      <a:tailEnd type="none" w="med" len="med"/>
                    </a:lnB>
                    <a:solidFill>
                      <a:srgbClr val="ECEEF1"/>
                    </a:solidFill>
                  </a:tcPr>
                </a:tc>
                <a:extLst>
                  <a:ext uri="{0D108BD9-81ED-4DB2-BD59-A6C34878D82A}">
                    <a16:rowId xmlns:a16="http://schemas.microsoft.com/office/drawing/2014/main" val="10003"/>
                  </a:ext>
                </a:extLst>
              </a:tr>
            </a:tbl>
          </a:graphicData>
        </a:graphic>
      </p:graphicFrame>
      <p:sp>
        <p:nvSpPr>
          <p:cNvPr id="5" name="Text 2"/>
          <p:cNvSpPr/>
          <p:nvPr/>
        </p:nvSpPr>
        <p:spPr>
          <a:xfrm>
            <a:off x="812800" y="4826000"/>
            <a:ext cx="10883392"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F5FBF"/>
                </a:solidFill>
                <a:latin typeface="Source Serif 4" pitchFamily="18" charset="0"/>
                <a:ea typeface="Source Serif 4" pitchFamily="18" charset="-122"/>
                <a:cs typeface="Source Serif 4" pitchFamily="18" charset="-120"/>
              </a:rPr>
              <a:t>Better at both types. The mix flipped: four times as many fraud claims.</a:t>
            </a:r>
            <a:endParaRPr lang="en-US" sz="22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9"/>
                </a:solidFill>
                <a:latin typeface="IBM Plex Sans" pitchFamily="34" charset="0"/>
                <a:ea typeface="IBM Plex Sans" pitchFamily="34" charset="-122"/>
                <a:cs typeface="IBM Plex Sans" pitchFamily="34" charset="-120"/>
              </a:rPr>
              <a:t>8 ·</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2934917"/>
            <a:ext cx="10883392" cy="487660"/>
          </a:xfrm>
          <a:prstGeom prst="rect">
            <a:avLst/>
          </a:prstGeom>
          <a:noFill/>
          <a:ln/>
        </p:spPr>
        <p:txBody>
          <a:bodyPr wrap="square" lIns="0" tIns="0" rIns="0" bIns="0" rtlCol="0" anchor="t">
            <a:normAutofit/>
          </a:bodyPr>
          <a:lstStyle/>
          <a:p>
            <a:pPr marL="0" indent="0" algn="l">
              <a:lnSpc>
                <a:spcPts val="1680"/>
              </a:lnSpc>
              <a:buNone/>
            </a:pPr>
            <a:r>
              <a:rPr lang="en-US" sz="2400" b="1" kern="0" spc="150" dirty="0">
                <a:solidFill>
                  <a:srgbClr val="1F5FBF"/>
                </a:solidFill>
                <a:latin typeface="IBM Plex Sans" pitchFamily="34" charset="0"/>
                <a:ea typeface="IBM Plex Sans" pitchFamily="34" charset="-122"/>
                <a:cs typeface="IBM Plex Sans" pitchFamily="34" charset="-120"/>
              </a:rPr>
              <a:t>INTERESTING IS NOT THE SAME AS IMPORTANT</a:t>
            </a:r>
            <a:endParaRPr lang="en-US" sz="2400" dirty="0"/>
          </a:p>
        </p:txBody>
      </p:sp>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171C"/>
                </a:solidFill>
                <a:latin typeface="Source Serif 4" pitchFamily="18" charset="0"/>
                <a:ea typeface="Source Serif 4" pitchFamily="18" charset="-122"/>
                <a:cs typeface="Source Serif 4" pitchFamily="18" charset="-120"/>
              </a:rPr>
              <a:t>Write </a:t>
            </a:r>
            <a:r>
              <a:rPr lang="en-US" b="1" dirty="0">
                <a:latin typeface="Source Serif 4" pitchFamily="18" charset="0"/>
                <a:ea typeface="Source Serif 4" pitchFamily="18" charset="-122"/>
                <a:cs typeface="Source Serif 4" pitchFamily="18" charset="-120"/>
              </a:rPr>
              <a:t>your main point in</a:t>
            </a:r>
            <a:r>
              <a:rPr lang="en-US" sz="3600" b="1" i="0" dirty="0">
                <a:solidFill>
                  <a:srgbClr val="14171C"/>
                </a:solidFill>
                <a:latin typeface="Source Serif 4" pitchFamily="18" charset="0"/>
                <a:ea typeface="Source Serif 4" pitchFamily="18" charset="-122"/>
                <a:cs typeface="Source Serif 4" pitchFamily="18" charset="-120"/>
              </a:rPr>
              <a:t> one sentence</a:t>
            </a:r>
            <a:endParaRPr lang="en-US" sz="3600" dirty="0"/>
          </a:p>
        </p:txBody>
      </p:sp>
      <p:sp>
        <p:nvSpPr>
          <p:cNvPr id="4" name="Text 2"/>
          <p:cNvSpPr/>
          <p:nvPr/>
        </p:nvSpPr>
        <p:spPr>
          <a:xfrm>
            <a:off x="812800" y="1935411"/>
            <a:ext cx="2807047" cy="487660"/>
          </a:xfrm>
          <a:prstGeom prst="roundRect">
            <a:avLst>
              <a:gd name="adj" fmla="val 50000"/>
            </a:avLst>
          </a:prstGeom>
          <a:solidFill>
            <a:srgbClr val="E6EDF8"/>
          </a:solidFill>
          <a:ln/>
        </p:spPr>
        <p:txBody>
          <a:bodyPr wrap="none" lIns="0" tIns="0" rIns="0" bIns="0" rtlCol="0" anchor="ctr">
            <a:normAutofit/>
          </a:bodyPr>
          <a:lstStyle/>
          <a:p>
            <a:pPr marL="0" indent="0" algn="ctr">
              <a:lnSpc>
                <a:spcPts val="2240"/>
              </a:lnSpc>
              <a:buNone/>
            </a:pPr>
            <a:r>
              <a:rPr lang="en-US" sz="1600" dirty="0">
                <a:solidFill>
                  <a:srgbClr val="14171C"/>
                </a:solidFill>
                <a:latin typeface="IBM Plex Sans" pitchFamily="34" charset="0"/>
                <a:ea typeface="IBM Plex Sans" pitchFamily="34" charset="-122"/>
                <a:cs typeface="IBM Plex Sans" pitchFamily="34" charset="-120"/>
              </a:rPr>
              <a:t>Does it change a decision?</a:t>
            </a:r>
            <a:endParaRPr lang="en-US" sz="1600" dirty="0"/>
          </a:p>
        </p:txBody>
      </p:sp>
      <p:sp>
        <p:nvSpPr>
          <p:cNvPr id="5" name="Text 3"/>
          <p:cNvSpPr/>
          <p:nvPr/>
        </p:nvSpPr>
        <p:spPr>
          <a:xfrm>
            <a:off x="3772247" y="1935411"/>
            <a:ext cx="2796679" cy="487660"/>
          </a:xfrm>
          <a:prstGeom prst="roundRect">
            <a:avLst>
              <a:gd name="adj" fmla="val 50000"/>
            </a:avLst>
          </a:prstGeom>
          <a:solidFill>
            <a:srgbClr val="E6EDF8"/>
          </a:solidFill>
          <a:ln/>
        </p:spPr>
        <p:txBody>
          <a:bodyPr wrap="none" lIns="0" tIns="0" rIns="0" bIns="0" rtlCol="0" anchor="ctr">
            <a:normAutofit/>
          </a:bodyPr>
          <a:lstStyle/>
          <a:p>
            <a:pPr marL="0" indent="0" algn="ctr">
              <a:lnSpc>
                <a:spcPts val="2240"/>
              </a:lnSpc>
              <a:buNone/>
            </a:pPr>
            <a:r>
              <a:rPr lang="en-US" sz="1600" dirty="0">
                <a:solidFill>
                  <a:srgbClr val="14171C"/>
                </a:solidFill>
                <a:latin typeface="IBM Plex Sans" pitchFamily="34" charset="0"/>
                <a:ea typeface="IBM Plex Sans" pitchFamily="34" charset="-122"/>
                <a:cs typeface="IBM Plex Sans" pitchFamily="34" charset="-120"/>
              </a:rPr>
              <a:t>Is it big enough to matter?</a:t>
            </a:r>
            <a:endParaRPr lang="en-US" sz="1600" dirty="0"/>
          </a:p>
        </p:txBody>
      </p:sp>
      <p:sp>
        <p:nvSpPr>
          <p:cNvPr id="6" name="Text 4"/>
          <p:cNvSpPr/>
          <p:nvPr/>
        </p:nvSpPr>
        <p:spPr>
          <a:xfrm>
            <a:off x="6721326" y="1935411"/>
            <a:ext cx="2426841" cy="487660"/>
          </a:xfrm>
          <a:prstGeom prst="roundRect">
            <a:avLst>
              <a:gd name="adj" fmla="val 50000"/>
            </a:avLst>
          </a:prstGeom>
          <a:solidFill>
            <a:srgbClr val="E6EDF8"/>
          </a:solidFill>
          <a:ln/>
        </p:spPr>
        <p:txBody>
          <a:bodyPr wrap="none" lIns="0" tIns="0" rIns="0" bIns="0" rtlCol="0" anchor="ctr">
            <a:normAutofit/>
          </a:bodyPr>
          <a:lstStyle/>
          <a:p>
            <a:pPr marL="0" indent="0" algn="ctr">
              <a:lnSpc>
                <a:spcPts val="2240"/>
              </a:lnSpc>
              <a:buNone/>
            </a:pPr>
            <a:r>
              <a:rPr lang="en-US" sz="1600" dirty="0">
                <a:solidFill>
                  <a:srgbClr val="14171C"/>
                </a:solidFill>
                <a:latin typeface="IBM Plex Sans" pitchFamily="34" charset="0"/>
                <a:ea typeface="IBM Plex Sans" pitchFamily="34" charset="-122"/>
                <a:cs typeface="IBM Plex Sans" pitchFamily="34" charset="-120"/>
              </a:rPr>
              <a:t>Is it new to this room?</a:t>
            </a:r>
            <a:endParaRPr lang="en-US" sz="1600" dirty="0"/>
          </a:p>
        </p:txBody>
      </p:sp>
      <p:sp>
        <p:nvSpPr>
          <p:cNvPr id="7" name="Text 5"/>
          <p:cNvSpPr/>
          <p:nvPr/>
        </p:nvSpPr>
        <p:spPr>
          <a:xfrm>
            <a:off x="812800" y="3569965"/>
            <a:ext cx="10566400" cy="1521420"/>
          </a:xfrm>
          <a:prstGeom prst="roundRect">
            <a:avLst>
              <a:gd name="adj" fmla="val 6678"/>
            </a:avLst>
          </a:prstGeom>
          <a:solidFill>
            <a:srgbClr val="14171C"/>
          </a:solidFill>
          <a:ln/>
        </p:spPr>
        <p:txBody>
          <a:bodyPr wrap="square" lIns="376642" tIns="325842" rIns="84034" bIns="300442" rtlCol="0" anchor="t">
            <a:normAutofit/>
          </a:bodyPr>
          <a:lstStyle/>
          <a:p>
            <a:pPr marL="0" indent="0" algn="l">
              <a:lnSpc>
                <a:spcPts val="3190"/>
              </a:lnSpc>
              <a:buNone/>
            </a:pPr>
            <a:r>
              <a:rPr lang="en-US" sz="2200" dirty="0">
                <a:solidFill>
                  <a:srgbClr val="8FB4F0"/>
                </a:solidFill>
                <a:latin typeface="Source Serif 4" pitchFamily="18" charset="0"/>
                <a:ea typeface="Source Serif 4" pitchFamily="18" charset="-122"/>
                <a:cs typeface="Source Serif 4" pitchFamily="18" charset="-120"/>
              </a:rPr>
              <a:t>[What]</a:t>
            </a:r>
            <a:r>
              <a:rPr lang="en-US" sz="2200" dirty="0">
                <a:solidFill>
                  <a:srgbClr val="F3F4F2"/>
                </a:solidFill>
                <a:latin typeface="Source Serif 4" pitchFamily="18" charset="0"/>
                <a:ea typeface="Source Serif 4" pitchFamily="18" charset="-122"/>
                <a:cs typeface="Source Serif 4" pitchFamily="18" charset="-120"/>
              </a:rPr>
              <a:t> </a:t>
            </a:r>
            <a:r>
              <a:rPr lang="en-US" sz="2200" dirty="0">
                <a:solidFill>
                  <a:srgbClr val="8FB4F0"/>
                </a:solidFill>
                <a:latin typeface="Source Serif 4" pitchFamily="18" charset="0"/>
                <a:ea typeface="Source Serif 4" pitchFamily="18" charset="-122"/>
                <a:cs typeface="Source Serif 4" pitchFamily="18" charset="-120"/>
              </a:rPr>
              <a:t>[rose or fell]</a:t>
            </a:r>
            <a:r>
              <a:rPr lang="en-US" sz="2200" dirty="0">
                <a:solidFill>
                  <a:srgbClr val="F3F4F2"/>
                </a:solidFill>
                <a:latin typeface="Source Serif 4" pitchFamily="18" charset="0"/>
                <a:ea typeface="Source Serif 4" pitchFamily="18" charset="-122"/>
                <a:cs typeface="Source Serif 4" pitchFamily="18" charset="-120"/>
              </a:rPr>
              <a:t> by </a:t>
            </a:r>
            <a:r>
              <a:rPr lang="en-US" sz="2200" dirty="0">
                <a:solidFill>
                  <a:srgbClr val="8FB4F0"/>
                </a:solidFill>
                <a:latin typeface="Source Serif 4" pitchFamily="18" charset="0"/>
                <a:ea typeface="Source Serif 4" pitchFamily="18" charset="-122"/>
                <a:cs typeface="Source Serif 4" pitchFamily="18" charset="-120"/>
              </a:rPr>
              <a:t>[how much]</a:t>
            </a:r>
            <a:r>
              <a:rPr lang="en-US" sz="2200" dirty="0">
                <a:solidFill>
                  <a:srgbClr val="F3F4F2"/>
                </a:solidFill>
                <a:latin typeface="Source Serif 4" pitchFamily="18" charset="0"/>
                <a:ea typeface="Source Serif 4" pitchFamily="18" charset="-122"/>
                <a:cs typeface="Source Serif 4" pitchFamily="18" charset="-120"/>
              </a:rPr>
              <a:t> </a:t>
            </a:r>
            <a:r>
              <a:rPr lang="en-US" sz="2200" dirty="0">
                <a:solidFill>
                  <a:srgbClr val="8FB4F0"/>
                </a:solidFill>
                <a:latin typeface="Source Serif 4" pitchFamily="18" charset="0"/>
                <a:ea typeface="Source Serif 4" pitchFamily="18" charset="-122"/>
                <a:cs typeface="Source Serif 4" pitchFamily="18" charset="-120"/>
              </a:rPr>
              <a:t>[compared with what]</a:t>
            </a:r>
            <a:r>
              <a:rPr lang="en-US" sz="2200" dirty="0">
                <a:solidFill>
                  <a:srgbClr val="F3F4F2"/>
                </a:solidFill>
                <a:latin typeface="Source Serif 4" pitchFamily="18" charset="0"/>
                <a:ea typeface="Source Serif 4" pitchFamily="18" charset="-122"/>
                <a:cs typeface="Source Serif 4" pitchFamily="18" charset="-120"/>
              </a:rPr>
              <a:t>, driven by </a:t>
            </a:r>
            <a:r>
              <a:rPr lang="en-US" sz="2200" dirty="0">
                <a:solidFill>
                  <a:srgbClr val="8FB4F0"/>
                </a:solidFill>
                <a:latin typeface="Source Serif 4" pitchFamily="18" charset="0"/>
                <a:ea typeface="Source Serif 4" pitchFamily="18" charset="-122"/>
                <a:cs typeface="Source Serif 4" pitchFamily="18" charset="-120"/>
              </a:rPr>
              <a:t>[rate, volume or mix]</a:t>
            </a:r>
            <a:r>
              <a:rPr lang="en-US" sz="2200" dirty="0">
                <a:solidFill>
                  <a:srgbClr val="F3F4F2"/>
                </a:solidFill>
                <a:latin typeface="Source Serif 4" pitchFamily="18" charset="0"/>
                <a:ea typeface="Source Serif 4" pitchFamily="18" charset="-122"/>
                <a:cs typeface="Source Serif 4" pitchFamily="18" charset="-120"/>
              </a:rPr>
              <a:t> in </a:t>
            </a:r>
            <a:r>
              <a:rPr lang="en-US" sz="2200" dirty="0">
                <a:solidFill>
                  <a:srgbClr val="8FB4F0"/>
                </a:solidFill>
                <a:latin typeface="Source Serif 4" pitchFamily="18" charset="0"/>
                <a:ea typeface="Source Serif 4" pitchFamily="18" charset="-122"/>
                <a:cs typeface="Source Serif 4" pitchFamily="18" charset="-120"/>
              </a:rPr>
              <a:t>[which segment]</a:t>
            </a:r>
            <a:r>
              <a:rPr lang="en-US" sz="2200" dirty="0">
                <a:solidFill>
                  <a:srgbClr val="F3F4F2"/>
                </a:solidFill>
                <a:latin typeface="Source Serif 4" pitchFamily="18" charset="0"/>
                <a:ea typeface="Source Serif 4" pitchFamily="18" charset="-122"/>
                <a:cs typeface="Source Serif 4" pitchFamily="18" charset="-120"/>
              </a:rPr>
              <a:t>.</a:t>
            </a:r>
            <a:endParaRPr lang="en-US" sz="22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9"/>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171C"/>
                </a:solidFill>
                <a:latin typeface="Source Serif 4" pitchFamily="18" charset="0"/>
                <a:ea typeface="Source Serif 4" pitchFamily="18" charset="-122"/>
                <a:cs typeface="Source Serif 4" pitchFamily="18" charset="-120"/>
              </a:rPr>
              <a:t>The eye reads position best, colour worst</a:t>
            </a:r>
            <a:endParaRPr lang="en-US" sz="3600" dirty="0"/>
          </a:p>
        </p:txBody>
      </p:sp>
      <p:sp>
        <p:nvSpPr>
          <p:cNvPr id="4" name="Shape 2"/>
          <p:cNvSpPr/>
          <p:nvPr/>
        </p:nvSpPr>
        <p:spPr>
          <a:xfrm>
            <a:off x="812800" y="1833811"/>
            <a:ext cx="1676400" cy="1363960"/>
          </a:xfrm>
          <a:prstGeom prst="roundRect">
            <a:avLst>
              <a:gd name="adj" fmla="val 5587"/>
            </a:avLst>
          </a:prstGeom>
          <a:solidFill>
            <a:srgbClr val="F5F6F8"/>
          </a:solidFill>
          <a:ln/>
        </p:spPr>
      </p:sp>
      <p:pic>
        <p:nvPicPr>
          <p:cNvPr id="5" name="Image 0" descr="Dots on a common scale"/>
          <p:cNvPicPr>
            <a:picLocks noChangeAspect="1"/>
          </p:cNvPicPr>
          <p:nvPr/>
        </p:nvPicPr>
        <p:blipFill>
          <a:blip r:embed="rId3"/>
          <a:srcRect/>
          <a:stretch/>
        </p:blipFill>
        <p:spPr>
          <a:xfrm>
            <a:off x="952500" y="1986211"/>
            <a:ext cx="1397000" cy="698500"/>
          </a:xfrm>
          <a:prstGeom prst="rect">
            <a:avLst/>
          </a:prstGeom>
        </p:spPr>
      </p:pic>
      <p:sp>
        <p:nvSpPr>
          <p:cNvPr id="6" name="Text 3"/>
          <p:cNvSpPr/>
          <p:nvPr/>
        </p:nvSpPr>
        <p:spPr>
          <a:xfrm>
            <a:off x="1192793" y="2760911"/>
            <a:ext cx="916365"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4171C"/>
                </a:solidFill>
                <a:latin typeface="IBM Plex Sans" pitchFamily="34" charset="0"/>
                <a:ea typeface="IBM Plex Sans" pitchFamily="34" charset="-122"/>
                <a:cs typeface="IBM Plex Sans" pitchFamily="34" charset="-120"/>
              </a:rPr>
              <a:t>Position</a:t>
            </a:r>
            <a:endParaRPr lang="en-US" sz="1600" dirty="0"/>
          </a:p>
        </p:txBody>
      </p:sp>
      <p:sp>
        <p:nvSpPr>
          <p:cNvPr id="7" name="Shape 4"/>
          <p:cNvSpPr/>
          <p:nvPr/>
        </p:nvSpPr>
        <p:spPr>
          <a:xfrm>
            <a:off x="2590800" y="1833811"/>
            <a:ext cx="1676400" cy="1363960"/>
          </a:xfrm>
          <a:prstGeom prst="roundRect">
            <a:avLst>
              <a:gd name="adj" fmla="val 5587"/>
            </a:avLst>
          </a:prstGeom>
          <a:solidFill>
            <a:srgbClr val="F5F6F8"/>
          </a:solidFill>
          <a:ln/>
        </p:spPr>
      </p:sp>
      <p:pic>
        <p:nvPicPr>
          <p:cNvPr id="8" name="Image 1" descr="Dots on separate aligned scales"/>
          <p:cNvPicPr>
            <a:picLocks noChangeAspect="1"/>
          </p:cNvPicPr>
          <p:nvPr/>
        </p:nvPicPr>
        <p:blipFill>
          <a:blip r:embed="rId4"/>
          <a:srcRect/>
          <a:stretch/>
        </p:blipFill>
        <p:spPr>
          <a:xfrm>
            <a:off x="2730500" y="1986211"/>
            <a:ext cx="1397000" cy="698500"/>
          </a:xfrm>
          <a:prstGeom prst="rect">
            <a:avLst/>
          </a:prstGeom>
        </p:spPr>
      </p:pic>
      <p:sp>
        <p:nvSpPr>
          <p:cNvPr id="9" name="Text 5"/>
          <p:cNvSpPr/>
          <p:nvPr/>
        </p:nvSpPr>
        <p:spPr>
          <a:xfrm>
            <a:off x="2749352" y="2760911"/>
            <a:ext cx="1517848"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171C"/>
                </a:solidFill>
                <a:latin typeface="IBM Plex Sans" pitchFamily="34" charset="0"/>
                <a:ea typeface="IBM Plex Sans" pitchFamily="34" charset="-122"/>
                <a:cs typeface="IBM Plex Sans" pitchFamily="34" charset="-120"/>
              </a:rPr>
              <a:t>Aligned scales</a:t>
            </a:r>
            <a:endParaRPr lang="en-US" sz="1600" dirty="0"/>
          </a:p>
        </p:txBody>
      </p:sp>
      <p:sp>
        <p:nvSpPr>
          <p:cNvPr id="10" name="Shape 6"/>
          <p:cNvSpPr/>
          <p:nvPr/>
        </p:nvSpPr>
        <p:spPr>
          <a:xfrm>
            <a:off x="4368800" y="1833811"/>
            <a:ext cx="1676400" cy="1363960"/>
          </a:xfrm>
          <a:prstGeom prst="roundRect">
            <a:avLst>
              <a:gd name="adj" fmla="val 5587"/>
            </a:avLst>
          </a:prstGeom>
          <a:solidFill>
            <a:srgbClr val="F5F6F8"/>
          </a:solidFill>
          <a:ln/>
        </p:spPr>
      </p:sp>
      <p:pic>
        <p:nvPicPr>
          <p:cNvPr id="11" name="Image 2" descr="Bars of different lengths"/>
          <p:cNvPicPr>
            <a:picLocks noChangeAspect="1"/>
          </p:cNvPicPr>
          <p:nvPr/>
        </p:nvPicPr>
        <p:blipFill>
          <a:blip r:embed="rId5"/>
          <a:srcRect/>
          <a:stretch/>
        </p:blipFill>
        <p:spPr>
          <a:xfrm>
            <a:off x="4508500" y="1986211"/>
            <a:ext cx="1397000" cy="698500"/>
          </a:xfrm>
          <a:prstGeom prst="rect">
            <a:avLst/>
          </a:prstGeom>
        </p:spPr>
      </p:pic>
      <p:sp>
        <p:nvSpPr>
          <p:cNvPr id="12" name="Text 7"/>
          <p:cNvSpPr/>
          <p:nvPr/>
        </p:nvSpPr>
        <p:spPr>
          <a:xfrm>
            <a:off x="4821297" y="2760911"/>
            <a:ext cx="771406"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4171C"/>
                </a:solidFill>
                <a:latin typeface="IBM Plex Sans" pitchFamily="34" charset="0"/>
                <a:ea typeface="IBM Plex Sans" pitchFamily="34" charset="-122"/>
                <a:cs typeface="IBM Plex Sans" pitchFamily="34" charset="-120"/>
              </a:rPr>
              <a:t>Length</a:t>
            </a:r>
            <a:endParaRPr lang="en-US" sz="1600" dirty="0"/>
          </a:p>
        </p:txBody>
      </p:sp>
      <p:sp>
        <p:nvSpPr>
          <p:cNvPr id="13" name="Shape 8"/>
          <p:cNvSpPr/>
          <p:nvPr/>
        </p:nvSpPr>
        <p:spPr>
          <a:xfrm>
            <a:off x="6146800" y="1833811"/>
            <a:ext cx="1676400" cy="1363960"/>
          </a:xfrm>
          <a:prstGeom prst="roundRect">
            <a:avLst>
              <a:gd name="adj" fmla="val 5587"/>
            </a:avLst>
          </a:prstGeom>
          <a:solidFill>
            <a:srgbClr val="F5F6F8"/>
          </a:solidFill>
          <a:ln/>
        </p:spPr>
      </p:sp>
      <p:pic>
        <p:nvPicPr>
          <p:cNvPr id="14" name="Image 3" descr="Pie wedges compared by angle"/>
          <p:cNvPicPr>
            <a:picLocks noChangeAspect="1"/>
          </p:cNvPicPr>
          <p:nvPr/>
        </p:nvPicPr>
        <p:blipFill>
          <a:blip r:embed="rId6"/>
          <a:srcRect/>
          <a:stretch/>
        </p:blipFill>
        <p:spPr>
          <a:xfrm>
            <a:off x="6286500" y="1986211"/>
            <a:ext cx="1397000" cy="698500"/>
          </a:xfrm>
          <a:prstGeom prst="rect">
            <a:avLst/>
          </a:prstGeom>
        </p:spPr>
      </p:pic>
      <p:sp>
        <p:nvSpPr>
          <p:cNvPr id="15" name="Text 9"/>
          <p:cNvSpPr/>
          <p:nvPr/>
        </p:nvSpPr>
        <p:spPr>
          <a:xfrm>
            <a:off x="6661090" y="2760911"/>
            <a:ext cx="647819"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4171C"/>
                </a:solidFill>
                <a:latin typeface="IBM Plex Sans" pitchFamily="34" charset="0"/>
                <a:ea typeface="IBM Plex Sans" pitchFamily="34" charset="-122"/>
                <a:cs typeface="IBM Plex Sans" pitchFamily="34" charset="-120"/>
              </a:rPr>
              <a:t>Angle</a:t>
            </a:r>
            <a:endParaRPr lang="en-US" sz="1600" dirty="0"/>
          </a:p>
        </p:txBody>
      </p:sp>
      <p:sp>
        <p:nvSpPr>
          <p:cNvPr id="16" name="Shape 10"/>
          <p:cNvSpPr/>
          <p:nvPr/>
        </p:nvSpPr>
        <p:spPr>
          <a:xfrm>
            <a:off x="7924800" y="1833811"/>
            <a:ext cx="1676400" cy="1363960"/>
          </a:xfrm>
          <a:prstGeom prst="roundRect">
            <a:avLst>
              <a:gd name="adj" fmla="val 5587"/>
            </a:avLst>
          </a:prstGeom>
          <a:solidFill>
            <a:srgbClr val="F5F6F8"/>
          </a:solidFill>
          <a:ln/>
        </p:spPr>
      </p:sp>
      <p:pic>
        <p:nvPicPr>
          <p:cNvPr id="17" name="Image 4" descr="Circles of different areas"/>
          <p:cNvPicPr>
            <a:picLocks noChangeAspect="1"/>
          </p:cNvPicPr>
          <p:nvPr/>
        </p:nvPicPr>
        <p:blipFill>
          <a:blip r:embed="rId7"/>
          <a:srcRect/>
          <a:stretch/>
        </p:blipFill>
        <p:spPr>
          <a:xfrm>
            <a:off x="8064500" y="1986211"/>
            <a:ext cx="1397000" cy="698500"/>
          </a:xfrm>
          <a:prstGeom prst="rect">
            <a:avLst/>
          </a:prstGeom>
        </p:spPr>
      </p:pic>
      <p:sp>
        <p:nvSpPr>
          <p:cNvPr id="18" name="Text 11"/>
          <p:cNvSpPr/>
          <p:nvPr/>
        </p:nvSpPr>
        <p:spPr>
          <a:xfrm>
            <a:off x="8497555" y="2760911"/>
            <a:ext cx="530840"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4171C"/>
                </a:solidFill>
                <a:latin typeface="IBM Plex Sans" pitchFamily="34" charset="0"/>
                <a:ea typeface="IBM Plex Sans" pitchFamily="34" charset="-122"/>
                <a:cs typeface="IBM Plex Sans" pitchFamily="34" charset="-120"/>
              </a:rPr>
              <a:t>Area</a:t>
            </a:r>
            <a:endParaRPr lang="en-US" sz="1600" dirty="0"/>
          </a:p>
        </p:txBody>
      </p:sp>
      <p:sp>
        <p:nvSpPr>
          <p:cNvPr id="19" name="Shape 12"/>
          <p:cNvSpPr/>
          <p:nvPr/>
        </p:nvSpPr>
        <p:spPr>
          <a:xfrm>
            <a:off x="9702800" y="1833811"/>
            <a:ext cx="1676400" cy="1363960"/>
          </a:xfrm>
          <a:prstGeom prst="roundRect">
            <a:avLst>
              <a:gd name="adj" fmla="val 5587"/>
            </a:avLst>
          </a:prstGeom>
          <a:solidFill>
            <a:srgbClr val="F5F6F8"/>
          </a:solidFill>
          <a:ln/>
        </p:spPr>
      </p:sp>
      <p:pic>
        <p:nvPicPr>
          <p:cNvPr id="20" name="Image 5" descr="Squares in different shades"/>
          <p:cNvPicPr>
            <a:picLocks noChangeAspect="1"/>
          </p:cNvPicPr>
          <p:nvPr/>
        </p:nvPicPr>
        <p:blipFill>
          <a:blip r:embed="rId8"/>
          <a:srcRect/>
          <a:stretch/>
        </p:blipFill>
        <p:spPr>
          <a:xfrm>
            <a:off x="9842500" y="1986211"/>
            <a:ext cx="1397000" cy="698500"/>
          </a:xfrm>
          <a:prstGeom prst="rect">
            <a:avLst/>
          </a:prstGeom>
        </p:spPr>
      </p:pic>
      <p:sp>
        <p:nvSpPr>
          <p:cNvPr id="21" name="Text 13"/>
          <p:cNvSpPr/>
          <p:nvPr/>
        </p:nvSpPr>
        <p:spPr>
          <a:xfrm>
            <a:off x="9799484" y="2760911"/>
            <a:ext cx="1482983"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4171C"/>
                </a:solidFill>
                <a:latin typeface="IBM Plex Sans" pitchFamily="34" charset="0"/>
                <a:ea typeface="IBM Plex Sans" pitchFamily="34" charset="-122"/>
                <a:cs typeface="IBM Plex Sans" pitchFamily="34" charset="-120"/>
              </a:rPr>
              <a:t>Colour shade</a:t>
            </a:r>
            <a:endParaRPr lang="en-US" sz="1600" dirty="0"/>
          </a:p>
        </p:txBody>
      </p:sp>
      <p:sp>
        <p:nvSpPr>
          <p:cNvPr id="23" name="Shape 15"/>
          <p:cNvSpPr/>
          <p:nvPr/>
        </p:nvSpPr>
        <p:spPr>
          <a:xfrm>
            <a:off x="2287885" y="3494931"/>
            <a:ext cx="7907685" cy="25400"/>
          </a:xfrm>
          <a:prstGeom prst="rect">
            <a:avLst/>
          </a:prstGeom>
          <a:gradFill rotWithShape="1">
            <a:gsLst>
              <a:gs pos="0">
                <a:srgbClr val="1F5FBF"/>
              </a:gs>
              <a:gs pos="100000">
                <a:srgbClr val="C9CDD3"/>
              </a:gs>
            </a:gsLst>
            <a:lin ang="0" scaled="0"/>
          </a:gradFill>
          <a:ln/>
        </p:spPr>
      </p:sp>
      <p:sp>
        <p:nvSpPr>
          <p:cNvPr id="25" name="Shape 17"/>
          <p:cNvSpPr/>
          <p:nvPr/>
        </p:nvSpPr>
        <p:spPr>
          <a:xfrm>
            <a:off x="812800" y="3817491"/>
            <a:ext cx="10566400" cy="1320800"/>
          </a:xfrm>
          <a:prstGeom prst="roundRect">
            <a:avLst>
              <a:gd name="adj" fmla="val 5769"/>
            </a:avLst>
          </a:prstGeom>
          <a:solidFill>
            <a:srgbClr val="F5F6F8"/>
          </a:solidFill>
          <a:ln/>
        </p:spPr>
      </p:sp>
      <p:pic>
        <p:nvPicPr>
          <p:cNvPr id="26" name="Image 6" descr="A grid of grey dots with one blue dot"/>
          <p:cNvPicPr>
            <a:picLocks noChangeAspect="1"/>
          </p:cNvPicPr>
          <p:nvPr/>
        </p:nvPicPr>
        <p:blipFill>
          <a:blip r:embed="rId9"/>
          <a:srcRect/>
          <a:stretch/>
        </p:blipFill>
        <p:spPr>
          <a:xfrm>
            <a:off x="1016000" y="3969891"/>
            <a:ext cx="4064000" cy="1016000"/>
          </a:xfrm>
          <a:prstGeom prst="rect">
            <a:avLst/>
          </a:prstGeom>
        </p:spPr>
      </p:pic>
      <p:sp>
        <p:nvSpPr>
          <p:cNvPr id="27" name="Text 18"/>
          <p:cNvSpPr/>
          <p:nvPr/>
        </p:nvSpPr>
        <p:spPr>
          <a:xfrm>
            <a:off x="5384800" y="4303266"/>
            <a:ext cx="5994400" cy="374650"/>
          </a:xfrm>
          <a:prstGeom prst="rect">
            <a:avLst/>
          </a:prstGeom>
          <a:noFill/>
          <a:ln/>
        </p:spPr>
        <p:txBody>
          <a:bodyPr wrap="square" lIns="0" tIns="0" rIns="0" bIns="0" rtlCol="0" anchor="t">
            <a:normAutofit/>
          </a:bodyPr>
          <a:lstStyle/>
          <a:p>
            <a:pPr marL="0" indent="0" algn="l">
              <a:lnSpc>
                <a:spcPts val="2750"/>
              </a:lnSpc>
              <a:buNone/>
            </a:pPr>
            <a:r>
              <a:rPr lang="en-US" sz="2200" dirty="0">
                <a:solidFill>
                  <a:srgbClr val="14171C"/>
                </a:solidFill>
                <a:latin typeface="Source Serif 4" pitchFamily="18" charset="0"/>
                <a:ea typeface="Source Serif 4" pitchFamily="18" charset="-122"/>
                <a:cs typeface="Source Serif 4" pitchFamily="18" charset="-120"/>
              </a:rPr>
              <a:t>You found the blue dot before you read this.</a:t>
            </a:r>
            <a:endParaRPr lang="en-US" sz="2200" dirty="0"/>
          </a:p>
        </p:txBody>
      </p:sp>
      <p:sp>
        <p:nvSpPr>
          <p:cNvPr id="28" name="Text 1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9"/>
                </a:solidFill>
                <a:latin typeface="IBM Plex Sans" pitchFamily="34" charset="0"/>
                <a:ea typeface="IBM Plex Sans" pitchFamily="34" charset="-122"/>
                <a:cs typeface="IBM Plex Sans" pitchFamily="34" charset="-120"/>
              </a:rPr>
              <a:t>10 ·</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5FBF"/>
                </a:solidFill>
                <a:latin typeface="IBM Plex Sans" pitchFamily="34" charset="0"/>
                <a:ea typeface="IBM Plex Sans" pitchFamily="34" charset="-122"/>
                <a:cs typeface="IBM Plex Sans" pitchFamily="34" charset="-120"/>
              </a:rPr>
              <a:t>CHOOSING THE RIGHT CHART</a:t>
            </a:r>
            <a:endParaRPr lang="en-US" sz="1200" dirty="0"/>
          </a:p>
        </p:txBody>
      </p:sp>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171C"/>
                </a:solidFill>
                <a:latin typeface="Source Serif 4" pitchFamily="18" charset="0"/>
                <a:ea typeface="Source Serif 4" pitchFamily="18" charset="-122"/>
                <a:cs typeface="Source Serif 4" pitchFamily="18" charset="-120"/>
              </a:rPr>
              <a:t>Start from the question</a:t>
            </a:r>
            <a:endParaRPr lang="en-US" sz="3600" dirty="0"/>
          </a:p>
        </p:txBody>
      </p:sp>
      <p:sp>
        <p:nvSpPr>
          <p:cNvPr id="4" name="Shape 2"/>
          <p:cNvSpPr/>
          <p:nvPr/>
        </p:nvSpPr>
        <p:spPr>
          <a:xfrm>
            <a:off x="812800" y="1884611"/>
            <a:ext cx="2527300" cy="1704280"/>
          </a:xfrm>
          <a:prstGeom prst="roundRect">
            <a:avLst>
              <a:gd name="adj" fmla="val 4471"/>
            </a:avLst>
          </a:prstGeom>
          <a:solidFill>
            <a:srgbClr val="F5F6F8"/>
          </a:solidFill>
          <a:ln/>
        </p:spPr>
      </p:sp>
      <p:pic>
        <p:nvPicPr>
          <p:cNvPr id="5" name="Image 0" descr="Line chart icon"/>
          <p:cNvPicPr>
            <a:picLocks noChangeAspect="1"/>
          </p:cNvPicPr>
          <p:nvPr/>
        </p:nvPicPr>
        <p:blipFill>
          <a:blip r:embed="rId3"/>
          <a:srcRect/>
          <a:stretch/>
        </p:blipFill>
        <p:spPr>
          <a:xfrm>
            <a:off x="990600" y="2062411"/>
            <a:ext cx="1524000" cy="698500"/>
          </a:xfrm>
          <a:prstGeom prst="rect">
            <a:avLst/>
          </a:prstGeom>
        </p:spPr>
      </p:pic>
      <p:sp>
        <p:nvSpPr>
          <p:cNvPr id="6" name="Text 3"/>
          <p:cNvSpPr/>
          <p:nvPr/>
        </p:nvSpPr>
        <p:spPr>
          <a:xfrm>
            <a:off x="990600" y="2837111"/>
            <a:ext cx="2236851"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171C"/>
                </a:solidFill>
                <a:latin typeface="IBM Plex Sans" pitchFamily="34" charset="0"/>
                <a:ea typeface="IBM Plex Sans" pitchFamily="34" charset="-122"/>
                <a:cs typeface="IBM Plex Sans" pitchFamily="34" charset="-120"/>
              </a:rPr>
              <a:t>Over time?</a:t>
            </a:r>
            <a:endParaRPr lang="en-US" sz="1600" dirty="0"/>
          </a:p>
        </p:txBody>
      </p:sp>
      <p:sp>
        <p:nvSpPr>
          <p:cNvPr id="7" name="Text 4"/>
          <p:cNvSpPr/>
          <p:nvPr/>
        </p:nvSpPr>
        <p:spPr>
          <a:xfrm>
            <a:off x="990600" y="3197771"/>
            <a:ext cx="223685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5FBF"/>
                </a:solidFill>
                <a:latin typeface="IBM Plex Sans" pitchFamily="34" charset="0"/>
                <a:ea typeface="IBM Plex Sans" pitchFamily="34" charset="-122"/>
                <a:cs typeface="IBM Plex Sans" pitchFamily="34" charset="-120"/>
              </a:rPr>
              <a:t>Line</a:t>
            </a:r>
            <a:endParaRPr lang="en-US" sz="1200" dirty="0"/>
          </a:p>
        </p:txBody>
      </p:sp>
      <p:sp>
        <p:nvSpPr>
          <p:cNvPr id="8" name="Shape 5"/>
          <p:cNvSpPr/>
          <p:nvPr/>
        </p:nvSpPr>
        <p:spPr>
          <a:xfrm>
            <a:off x="3492500" y="1884611"/>
            <a:ext cx="2527300" cy="1704280"/>
          </a:xfrm>
          <a:prstGeom prst="roundRect">
            <a:avLst>
              <a:gd name="adj" fmla="val 4471"/>
            </a:avLst>
          </a:prstGeom>
          <a:solidFill>
            <a:srgbClr val="F5F6F8"/>
          </a:solidFill>
          <a:ln/>
        </p:spPr>
      </p:sp>
      <p:pic>
        <p:nvPicPr>
          <p:cNvPr id="9" name="Image 1" descr="Sorted bar chart icon"/>
          <p:cNvPicPr>
            <a:picLocks noChangeAspect="1"/>
          </p:cNvPicPr>
          <p:nvPr/>
        </p:nvPicPr>
        <p:blipFill>
          <a:blip r:embed="rId4"/>
          <a:srcRect/>
          <a:stretch/>
        </p:blipFill>
        <p:spPr>
          <a:xfrm>
            <a:off x="3670300" y="2062411"/>
            <a:ext cx="1524000" cy="698500"/>
          </a:xfrm>
          <a:prstGeom prst="rect">
            <a:avLst/>
          </a:prstGeom>
        </p:spPr>
      </p:pic>
      <p:sp>
        <p:nvSpPr>
          <p:cNvPr id="10" name="Text 6"/>
          <p:cNvSpPr/>
          <p:nvPr/>
        </p:nvSpPr>
        <p:spPr>
          <a:xfrm>
            <a:off x="3670300" y="2837111"/>
            <a:ext cx="2236851"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171C"/>
                </a:solidFill>
                <a:latin typeface="IBM Plex Sans" pitchFamily="34" charset="0"/>
                <a:ea typeface="IBM Plex Sans" pitchFamily="34" charset="-122"/>
                <a:cs typeface="IBM Plex Sans" pitchFamily="34" charset="-120"/>
              </a:rPr>
              <a:t>Which is biggest?</a:t>
            </a:r>
            <a:endParaRPr lang="en-US" sz="1600" dirty="0"/>
          </a:p>
        </p:txBody>
      </p:sp>
      <p:sp>
        <p:nvSpPr>
          <p:cNvPr id="11" name="Text 7"/>
          <p:cNvSpPr/>
          <p:nvPr/>
        </p:nvSpPr>
        <p:spPr>
          <a:xfrm>
            <a:off x="3670300" y="3197771"/>
            <a:ext cx="223685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5FBF"/>
                </a:solidFill>
                <a:latin typeface="IBM Plex Sans" pitchFamily="34" charset="0"/>
                <a:ea typeface="IBM Plex Sans" pitchFamily="34" charset="-122"/>
                <a:cs typeface="IBM Plex Sans" pitchFamily="34" charset="-120"/>
              </a:rPr>
              <a:t>Sorted bar</a:t>
            </a:r>
            <a:endParaRPr lang="en-US" sz="1200" dirty="0"/>
          </a:p>
        </p:txBody>
      </p:sp>
      <p:sp>
        <p:nvSpPr>
          <p:cNvPr id="12" name="Shape 8"/>
          <p:cNvSpPr/>
          <p:nvPr/>
        </p:nvSpPr>
        <p:spPr>
          <a:xfrm>
            <a:off x="6172200" y="1884611"/>
            <a:ext cx="2527300" cy="1704280"/>
          </a:xfrm>
          <a:prstGeom prst="roundRect">
            <a:avLst>
              <a:gd name="adj" fmla="val 4471"/>
            </a:avLst>
          </a:prstGeom>
          <a:solidFill>
            <a:srgbClr val="F5F6F8"/>
          </a:solidFill>
          <a:ln/>
        </p:spPr>
      </p:sp>
      <p:pic>
        <p:nvPicPr>
          <p:cNvPr id="13" name="Image 2" descr="Dumbbell chart icon"/>
          <p:cNvPicPr>
            <a:picLocks noChangeAspect="1"/>
          </p:cNvPicPr>
          <p:nvPr/>
        </p:nvPicPr>
        <p:blipFill>
          <a:blip r:embed="rId5"/>
          <a:srcRect/>
          <a:stretch/>
        </p:blipFill>
        <p:spPr>
          <a:xfrm>
            <a:off x="6350000" y="2062411"/>
            <a:ext cx="1524000" cy="698500"/>
          </a:xfrm>
          <a:prstGeom prst="rect">
            <a:avLst/>
          </a:prstGeom>
        </p:spPr>
      </p:pic>
      <p:sp>
        <p:nvSpPr>
          <p:cNvPr id="14" name="Text 9"/>
          <p:cNvSpPr/>
          <p:nvPr/>
        </p:nvSpPr>
        <p:spPr>
          <a:xfrm>
            <a:off x="6350000" y="2837111"/>
            <a:ext cx="2236851"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171C"/>
                </a:solidFill>
                <a:latin typeface="IBM Plex Sans" pitchFamily="34" charset="0"/>
                <a:ea typeface="IBM Plex Sans" pitchFamily="34" charset="-122"/>
                <a:cs typeface="IBM Plex Sans" pitchFamily="34" charset="-120"/>
              </a:rPr>
              <a:t>What shifted?</a:t>
            </a:r>
            <a:endParaRPr lang="en-US" sz="1600" dirty="0"/>
          </a:p>
        </p:txBody>
      </p:sp>
      <p:sp>
        <p:nvSpPr>
          <p:cNvPr id="15" name="Text 10"/>
          <p:cNvSpPr/>
          <p:nvPr/>
        </p:nvSpPr>
        <p:spPr>
          <a:xfrm>
            <a:off x="6350000" y="3197771"/>
            <a:ext cx="223685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5FBF"/>
                </a:solidFill>
                <a:latin typeface="IBM Plex Sans" pitchFamily="34" charset="0"/>
                <a:ea typeface="IBM Plex Sans" pitchFamily="34" charset="-122"/>
                <a:cs typeface="IBM Plex Sans" pitchFamily="34" charset="-120"/>
              </a:rPr>
              <a:t>Dumbbell or slope</a:t>
            </a:r>
            <a:endParaRPr lang="en-US" sz="1200" dirty="0"/>
          </a:p>
        </p:txBody>
      </p:sp>
      <p:sp>
        <p:nvSpPr>
          <p:cNvPr id="16" name="Shape 11"/>
          <p:cNvSpPr/>
          <p:nvPr/>
        </p:nvSpPr>
        <p:spPr>
          <a:xfrm>
            <a:off x="8851900" y="1884611"/>
            <a:ext cx="2527300" cy="1704280"/>
          </a:xfrm>
          <a:prstGeom prst="roundRect">
            <a:avLst>
              <a:gd name="adj" fmla="val 4471"/>
            </a:avLst>
          </a:prstGeom>
          <a:solidFill>
            <a:srgbClr val="F5F6F8"/>
          </a:solidFill>
          <a:ln/>
        </p:spPr>
      </p:sp>
      <p:pic>
        <p:nvPicPr>
          <p:cNvPr id="17" name="Image 3" descr="Waterfall chart icon"/>
          <p:cNvPicPr>
            <a:picLocks noChangeAspect="1"/>
          </p:cNvPicPr>
          <p:nvPr/>
        </p:nvPicPr>
        <p:blipFill>
          <a:blip r:embed="rId6"/>
          <a:srcRect/>
          <a:stretch/>
        </p:blipFill>
        <p:spPr>
          <a:xfrm>
            <a:off x="9029700" y="2062411"/>
            <a:ext cx="1524000" cy="698500"/>
          </a:xfrm>
          <a:prstGeom prst="rect">
            <a:avLst/>
          </a:prstGeom>
        </p:spPr>
      </p:pic>
      <p:sp>
        <p:nvSpPr>
          <p:cNvPr id="18" name="Text 12"/>
          <p:cNvSpPr/>
          <p:nvPr/>
        </p:nvSpPr>
        <p:spPr>
          <a:xfrm>
            <a:off x="9029700" y="2837111"/>
            <a:ext cx="2236851"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171C"/>
                </a:solidFill>
                <a:latin typeface="IBM Plex Sans" pitchFamily="34" charset="0"/>
                <a:ea typeface="IBM Plex Sans" pitchFamily="34" charset="-122"/>
                <a:cs typeface="IBM Plex Sans" pitchFamily="34" charset="-120"/>
              </a:rPr>
              <a:t>How did A become B?</a:t>
            </a:r>
            <a:endParaRPr lang="en-US" sz="1600" dirty="0"/>
          </a:p>
        </p:txBody>
      </p:sp>
      <p:sp>
        <p:nvSpPr>
          <p:cNvPr id="19" name="Text 13"/>
          <p:cNvSpPr/>
          <p:nvPr/>
        </p:nvSpPr>
        <p:spPr>
          <a:xfrm>
            <a:off x="9029700" y="3197771"/>
            <a:ext cx="223685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5FBF"/>
                </a:solidFill>
                <a:latin typeface="IBM Plex Sans" pitchFamily="34" charset="0"/>
                <a:ea typeface="IBM Plex Sans" pitchFamily="34" charset="-122"/>
                <a:cs typeface="IBM Plex Sans" pitchFamily="34" charset="-120"/>
              </a:rPr>
              <a:t>Waterfall</a:t>
            </a:r>
            <a:endParaRPr lang="en-US" sz="1200" dirty="0"/>
          </a:p>
        </p:txBody>
      </p:sp>
      <p:sp>
        <p:nvSpPr>
          <p:cNvPr id="20" name="Shape 14"/>
          <p:cNvSpPr/>
          <p:nvPr/>
        </p:nvSpPr>
        <p:spPr>
          <a:xfrm>
            <a:off x="812800" y="3741291"/>
            <a:ext cx="2527300" cy="1704280"/>
          </a:xfrm>
          <a:prstGeom prst="roundRect">
            <a:avLst>
              <a:gd name="adj" fmla="val 4471"/>
            </a:avLst>
          </a:prstGeom>
          <a:solidFill>
            <a:srgbClr val="F5F6F8"/>
          </a:solidFill>
          <a:ln/>
        </p:spPr>
      </p:sp>
      <p:pic>
        <p:nvPicPr>
          <p:cNvPr id="21" name="Image 4" descr="Histogram icon"/>
          <p:cNvPicPr>
            <a:picLocks noChangeAspect="1"/>
          </p:cNvPicPr>
          <p:nvPr/>
        </p:nvPicPr>
        <p:blipFill>
          <a:blip r:embed="rId7"/>
          <a:srcRect/>
          <a:stretch/>
        </p:blipFill>
        <p:spPr>
          <a:xfrm>
            <a:off x="990600" y="3919091"/>
            <a:ext cx="1524000" cy="698500"/>
          </a:xfrm>
          <a:prstGeom prst="rect">
            <a:avLst/>
          </a:prstGeom>
        </p:spPr>
      </p:pic>
      <p:sp>
        <p:nvSpPr>
          <p:cNvPr id="22" name="Text 15"/>
          <p:cNvSpPr/>
          <p:nvPr/>
        </p:nvSpPr>
        <p:spPr>
          <a:xfrm>
            <a:off x="990600" y="4693791"/>
            <a:ext cx="2236851"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171C"/>
                </a:solidFill>
                <a:latin typeface="IBM Plex Sans" pitchFamily="34" charset="0"/>
                <a:ea typeface="IBM Plex Sans" pitchFamily="34" charset="-122"/>
                <a:cs typeface="IBM Plex Sans" pitchFamily="34" charset="-120"/>
              </a:rPr>
              <a:t>What's typical?</a:t>
            </a:r>
            <a:endParaRPr lang="en-US" sz="1600" dirty="0"/>
          </a:p>
        </p:txBody>
      </p:sp>
      <p:sp>
        <p:nvSpPr>
          <p:cNvPr id="23" name="Text 16"/>
          <p:cNvSpPr/>
          <p:nvPr/>
        </p:nvSpPr>
        <p:spPr>
          <a:xfrm>
            <a:off x="990600" y="5054451"/>
            <a:ext cx="223685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5FBF"/>
                </a:solidFill>
                <a:latin typeface="IBM Plex Sans" pitchFamily="34" charset="0"/>
                <a:ea typeface="IBM Plex Sans" pitchFamily="34" charset="-122"/>
                <a:cs typeface="IBM Plex Sans" pitchFamily="34" charset="-120"/>
              </a:rPr>
              <a:t>Histogram</a:t>
            </a:r>
            <a:endParaRPr lang="en-US" sz="1200" dirty="0"/>
          </a:p>
        </p:txBody>
      </p:sp>
      <p:sp>
        <p:nvSpPr>
          <p:cNvPr id="24" name="Shape 17"/>
          <p:cNvSpPr/>
          <p:nvPr/>
        </p:nvSpPr>
        <p:spPr>
          <a:xfrm>
            <a:off x="3492500" y="3741291"/>
            <a:ext cx="2527300" cy="1704280"/>
          </a:xfrm>
          <a:prstGeom prst="roundRect">
            <a:avLst>
              <a:gd name="adj" fmla="val 4471"/>
            </a:avLst>
          </a:prstGeom>
          <a:solidFill>
            <a:srgbClr val="F5F6F8"/>
          </a:solidFill>
          <a:ln/>
        </p:spPr>
      </p:sp>
      <p:pic>
        <p:nvPicPr>
          <p:cNvPr id="25" name="Image 5" descr="Funnel plot icon"/>
          <p:cNvPicPr>
            <a:picLocks noChangeAspect="1"/>
          </p:cNvPicPr>
          <p:nvPr/>
        </p:nvPicPr>
        <p:blipFill>
          <a:blip r:embed="rId8"/>
          <a:srcRect/>
          <a:stretch/>
        </p:blipFill>
        <p:spPr>
          <a:xfrm>
            <a:off x="3670300" y="3919091"/>
            <a:ext cx="1524000" cy="698500"/>
          </a:xfrm>
          <a:prstGeom prst="rect">
            <a:avLst/>
          </a:prstGeom>
        </p:spPr>
      </p:pic>
      <p:sp>
        <p:nvSpPr>
          <p:cNvPr id="26" name="Text 18"/>
          <p:cNvSpPr/>
          <p:nvPr/>
        </p:nvSpPr>
        <p:spPr>
          <a:xfrm>
            <a:off x="3670300" y="4693791"/>
            <a:ext cx="2236851"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171C"/>
                </a:solidFill>
                <a:latin typeface="IBM Plex Sans" pitchFamily="34" charset="0"/>
                <a:ea typeface="IBM Plex Sans" pitchFamily="34" charset="-122"/>
                <a:cs typeface="IBM Plex Sans" pitchFamily="34" charset="-120"/>
              </a:rPr>
              <a:t>A real outlier?</a:t>
            </a:r>
            <a:endParaRPr lang="en-US" sz="1600" dirty="0"/>
          </a:p>
        </p:txBody>
      </p:sp>
      <p:sp>
        <p:nvSpPr>
          <p:cNvPr id="27" name="Text 19"/>
          <p:cNvSpPr/>
          <p:nvPr/>
        </p:nvSpPr>
        <p:spPr>
          <a:xfrm>
            <a:off x="3670300" y="5054451"/>
            <a:ext cx="223685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5FBF"/>
                </a:solidFill>
                <a:latin typeface="IBM Plex Sans" pitchFamily="34" charset="0"/>
                <a:ea typeface="IBM Plex Sans" pitchFamily="34" charset="-122"/>
                <a:cs typeface="IBM Plex Sans" pitchFamily="34" charset="-120"/>
              </a:rPr>
              <a:t>Funnel plot</a:t>
            </a:r>
            <a:endParaRPr lang="en-US" sz="1200" dirty="0"/>
          </a:p>
        </p:txBody>
      </p:sp>
      <p:sp>
        <p:nvSpPr>
          <p:cNvPr id="28" name="Shape 20"/>
          <p:cNvSpPr/>
          <p:nvPr/>
        </p:nvSpPr>
        <p:spPr>
          <a:xfrm>
            <a:off x="6172200" y="3741291"/>
            <a:ext cx="2527300" cy="1704280"/>
          </a:xfrm>
          <a:prstGeom prst="roundRect">
            <a:avLst>
              <a:gd name="adj" fmla="val 4471"/>
            </a:avLst>
          </a:prstGeom>
          <a:solidFill>
            <a:srgbClr val="F5F6F8"/>
          </a:solidFill>
          <a:ln/>
        </p:spPr>
      </p:sp>
      <p:pic>
        <p:nvPicPr>
          <p:cNvPr id="29" name="Image 6" descr="Scatter plot icon"/>
          <p:cNvPicPr>
            <a:picLocks noChangeAspect="1"/>
          </p:cNvPicPr>
          <p:nvPr/>
        </p:nvPicPr>
        <p:blipFill>
          <a:blip r:embed="rId9"/>
          <a:srcRect/>
          <a:stretch/>
        </p:blipFill>
        <p:spPr>
          <a:xfrm>
            <a:off x="6350000" y="3919091"/>
            <a:ext cx="1524000" cy="698500"/>
          </a:xfrm>
          <a:prstGeom prst="rect">
            <a:avLst/>
          </a:prstGeom>
        </p:spPr>
      </p:pic>
      <p:sp>
        <p:nvSpPr>
          <p:cNvPr id="30" name="Text 21"/>
          <p:cNvSpPr/>
          <p:nvPr/>
        </p:nvSpPr>
        <p:spPr>
          <a:xfrm>
            <a:off x="6350000" y="4693791"/>
            <a:ext cx="2236851"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171C"/>
                </a:solidFill>
                <a:latin typeface="IBM Plex Sans" pitchFamily="34" charset="0"/>
                <a:ea typeface="IBM Plex Sans" pitchFamily="34" charset="-122"/>
                <a:cs typeface="IBM Plex Sans" pitchFamily="34" charset="-120"/>
              </a:rPr>
              <a:t>Related?</a:t>
            </a:r>
            <a:endParaRPr lang="en-US" sz="1600" dirty="0"/>
          </a:p>
        </p:txBody>
      </p:sp>
      <p:sp>
        <p:nvSpPr>
          <p:cNvPr id="31" name="Text 22"/>
          <p:cNvSpPr/>
          <p:nvPr/>
        </p:nvSpPr>
        <p:spPr>
          <a:xfrm>
            <a:off x="6350000" y="5054451"/>
            <a:ext cx="223685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5FBF"/>
                </a:solidFill>
                <a:latin typeface="IBM Plex Sans" pitchFamily="34" charset="0"/>
                <a:ea typeface="IBM Plex Sans" pitchFamily="34" charset="-122"/>
                <a:cs typeface="IBM Plex Sans" pitchFamily="34" charset="-120"/>
              </a:rPr>
              <a:t>Scatter</a:t>
            </a:r>
            <a:endParaRPr lang="en-US" sz="1200" dirty="0"/>
          </a:p>
        </p:txBody>
      </p:sp>
      <p:sp>
        <p:nvSpPr>
          <p:cNvPr id="32" name="Shape 23"/>
          <p:cNvSpPr/>
          <p:nvPr/>
        </p:nvSpPr>
        <p:spPr>
          <a:xfrm>
            <a:off x="8851900" y="3741291"/>
            <a:ext cx="2527300" cy="1704280"/>
          </a:xfrm>
          <a:prstGeom prst="roundRect">
            <a:avLst>
              <a:gd name="adj" fmla="val 4471"/>
            </a:avLst>
          </a:prstGeom>
          <a:solidFill>
            <a:srgbClr val="F5F6F8"/>
          </a:solidFill>
          <a:ln/>
        </p:spPr>
      </p:sp>
      <p:sp>
        <p:nvSpPr>
          <p:cNvPr id="33" name="Text 24"/>
          <p:cNvSpPr/>
          <p:nvPr/>
        </p:nvSpPr>
        <p:spPr>
          <a:xfrm>
            <a:off x="9029700" y="3919091"/>
            <a:ext cx="2236851" cy="711200"/>
          </a:xfrm>
          <a:prstGeom prst="rect">
            <a:avLst/>
          </a:prstGeom>
          <a:noFill/>
          <a:ln/>
        </p:spPr>
        <p:txBody>
          <a:bodyPr wrap="square" lIns="0" tIns="0" rIns="0" bIns="0" rtlCol="0" anchor="t">
            <a:normAutofit/>
          </a:bodyPr>
          <a:lstStyle/>
          <a:p>
            <a:pPr marL="0" indent="0" algn="l">
              <a:lnSpc>
                <a:spcPts val="5400"/>
              </a:lnSpc>
              <a:buNone/>
            </a:pPr>
            <a:r>
              <a:rPr lang="en-US" sz="3600" b="1" dirty="0">
                <a:solidFill>
                  <a:srgbClr val="1F5FBF"/>
                </a:solidFill>
                <a:latin typeface="Source Serif 4" pitchFamily="18" charset="0"/>
                <a:ea typeface="Source Serif 4" pitchFamily="18" charset="-122"/>
                <a:cs typeface="Source Serif 4" pitchFamily="18" charset="-120"/>
              </a:rPr>
              <a:t>1,656</a:t>
            </a:r>
            <a:endParaRPr lang="en-US" sz="3600" dirty="0"/>
          </a:p>
        </p:txBody>
      </p:sp>
      <p:sp>
        <p:nvSpPr>
          <p:cNvPr id="34" name="Text 25"/>
          <p:cNvSpPr/>
          <p:nvPr/>
        </p:nvSpPr>
        <p:spPr>
          <a:xfrm>
            <a:off x="9029700" y="4681091"/>
            <a:ext cx="2236851"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171C"/>
                </a:solidFill>
                <a:latin typeface="IBM Plex Sans" pitchFamily="34" charset="0"/>
                <a:ea typeface="IBM Plex Sans" pitchFamily="34" charset="-122"/>
                <a:cs typeface="IBM Plex Sans" pitchFamily="34" charset="-120"/>
              </a:rPr>
              <a:t>Just one number?</a:t>
            </a:r>
            <a:endParaRPr lang="en-US" sz="1600" dirty="0"/>
          </a:p>
        </p:txBody>
      </p:sp>
      <p:sp>
        <p:nvSpPr>
          <p:cNvPr id="35" name="Text 26"/>
          <p:cNvSpPr/>
          <p:nvPr/>
        </p:nvSpPr>
        <p:spPr>
          <a:xfrm>
            <a:off x="9029700" y="5041751"/>
            <a:ext cx="223685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5FBF"/>
                </a:solidFill>
                <a:latin typeface="IBM Plex Sans" pitchFamily="34" charset="0"/>
                <a:ea typeface="IBM Plex Sans" pitchFamily="34" charset="-122"/>
                <a:cs typeface="IBM Plex Sans" pitchFamily="34" charset="-120"/>
              </a:rPr>
              <a:t>No chart. Big number.</a:t>
            </a:r>
            <a:endParaRPr lang="en-US" sz="1200" dirty="0"/>
          </a:p>
        </p:txBody>
      </p:sp>
      <p:sp>
        <p:nvSpPr>
          <p:cNvPr id="36" name="Text 2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9"/>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171C"/>
                </a:solidFill>
                <a:latin typeface="Source Serif 4" pitchFamily="18" charset="0"/>
                <a:ea typeface="Source Serif 4" pitchFamily="18" charset="-122"/>
                <a:cs typeface="Source Serif 4" pitchFamily="18" charset="-120"/>
              </a:rPr>
              <a:t>Which chart?</a:t>
            </a:r>
            <a:endParaRPr lang="en-US" sz="3600" dirty="0"/>
          </a:p>
        </p:txBody>
      </p:sp>
      <p:sp>
        <p:nvSpPr>
          <p:cNvPr id="4" name="Shape 2"/>
          <p:cNvSpPr/>
          <p:nvPr/>
        </p:nvSpPr>
        <p:spPr>
          <a:xfrm>
            <a:off x="812800" y="1884611"/>
            <a:ext cx="2527300" cy="2225030"/>
          </a:xfrm>
          <a:prstGeom prst="roundRect">
            <a:avLst>
              <a:gd name="adj" fmla="val 4566"/>
            </a:avLst>
          </a:prstGeom>
          <a:solidFill>
            <a:srgbClr val="F5F6F8"/>
          </a:solidFill>
          <a:ln/>
        </p:spPr>
      </p:sp>
      <p:sp>
        <p:nvSpPr>
          <p:cNvPr id="5" name="Text 3"/>
          <p:cNvSpPr/>
          <p:nvPr/>
        </p:nvSpPr>
        <p:spPr>
          <a:xfrm>
            <a:off x="1925886" y="2062411"/>
            <a:ext cx="301129" cy="482600"/>
          </a:xfrm>
          <a:prstGeom prst="rect">
            <a:avLst/>
          </a:prstGeom>
          <a:noFill/>
          <a:ln/>
        </p:spPr>
        <p:txBody>
          <a:bodyPr wrap="square" lIns="0" tIns="0" rIns="0" bIns="0" rtlCol="0" anchor="t">
            <a:normAutofit/>
          </a:bodyPr>
          <a:lstStyle/>
          <a:p>
            <a:pPr marL="0" indent="0" algn="ctr">
              <a:lnSpc>
                <a:spcPts val="3600"/>
              </a:lnSpc>
              <a:buNone/>
            </a:pPr>
            <a:r>
              <a:rPr lang="en-US" sz="3600" b="1" dirty="0">
                <a:solidFill>
                  <a:srgbClr val="1F5FBF"/>
                </a:solidFill>
                <a:latin typeface="Source Serif 4" pitchFamily="18" charset="0"/>
                <a:ea typeface="Source Serif 4" pitchFamily="18" charset="-122"/>
                <a:cs typeface="Source Serif 4" pitchFamily="18" charset="-120"/>
              </a:rPr>
              <a:t>1</a:t>
            </a:r>
            <a:endParaRPr lang="en-US" sz="3600" dirty="0"/>
          </a:p>
        </p:txBody>
      </p:sp>
      <p:pic>
        <p:nvPicPr>
          <p:cNvPr id="6" name="Image 0" descr="Dumbbell chart icon"/>
          <p:cNvPicPr>
            <a:picLocks noChangeAspect="1"/>
          </p:cNvPicPr>
          <p:nvPr/>
        </p:nvPicPr>
        <p:blipFill>
          <a:blip r:embed="rId3"/>
          <a:srcRect/>
          <a:stretch/>
        </p:blipFill>
        <p:spPr>
          <a:xfrm>
            <a:off x="1123950" y="2595811"/>
            <a:ext cx="1905000" cy="1016000"/>
          </a:xfrm>
          <a:prstGeom prst="rect">
            <a:avLst/>
          </a:prstGeom>
        </p:spPr>
      </p:pic>
      <p:sp>
        <p:nvSpPr>
          <p:cNvPr id="7" name="Text 4"/>
          <p:cNvSpPr/>
          <p:nvPr/>
        </p:nvSpPr>
        <p:spPr>
          <a:xfrm>
            <a:off x="1527398" y="3688011"/>
            <a:ext cx="1098054" cy="269230"/>
          </a:xfrm>
          <a:prstGeom prst="rect">
            <a:avLst/>
          </a:prstGeom>
          <a:noFill/>
          <a:ln/>
        </p:spPr>
        <p:txBody>
          <a:bodyPr wrap="square" lIns="0" tIns="0" rIns="0" bIns="0" rtlCol="0" anchor="t">
            <a:normAutofit/>
          </a:bodyPr>
          <a:lstStyle/>
          <a:p>
            <a:pPr marL="0" indent="0" algn="ctr">
              <a:lnSpc>
                <a:spcPts val="1920"/>
              </a:lnSpc>
              <a:buNone/>
            </a:pPr>
            <a:r>
              <a:rPr lang="en-US" sz="1600" b="1" dirty="0">
                <a:solidFill>
                  <a:srgbClr val="14171C"/>
                </a:solidFill>
                <a:latin typeface="IBM Plex Sans" pitchFamily="34" charset="0"/>
                <a:ea typeface="IBM Plex Sans" pitchFamily="34" charset="-122"/>
                <a:cs typeface="IBM Plex Sans" pitchFamily="34" charset="-120"/>
              </a:rPr>
              <a:t>Dumbbell</a:t>
            </a:r>
            <a:endParaRPr lang="en-US" sz="1600" dirty="0"/>
          </a:p>
        </p:txBody>
      </p:sp>
      <p:sp>
        <p:nvSpPr>
          <p:cNvPr id="8" name="Shape 5"/>
          <p:cNvSpPr/>
          <p:nvPr/>
        </p:nvSpPr>
        <p:spPr>
          <a:xfrm>
            <a:off x="3492500" y="1884611"/>
            <a:ext cx="2527300" cy="2225030"/>
          </a:xfrm>
          <a:prstGeom prst="roundRect">
            <a:avLst>
              <a:gd name="adj" fmla="val 4566"/>
            </a:avLst>
          </a:prstGeom>
          <a:solidFill>
            <a:srgbClr val="F5F6F8"/>
          </a:solidFill>
          <a:ln/>
        </p:spPr>
      </p:sp>
      <p:sp>
        <p:nvSpPr>
          <p:cNvPr id="9" name="Text 6"/>
          <p:cNvSpPr/>
          <p:nvPr/>
        </p:nvSpPr>
        <p:spPr>
          <a:xfrm>
            <a:off x="4605586" y="2062411"/>
            <a:ext cx="301129" cy="482600"/>
          </a:xfrm>
          <a:prstGeom prst="rect">
            <a:avLst/>
          </a:prstGeom>
          <a:noFill/>
          <a:ln/>
        </p:spPr>
        <p:txBody>
          <a:bodyPr wrap="square" lIns="0" tIns="0" rIns="0" bIns="0" rtlCol="0" anchor="t">
            <a:normAutofit/>
          </a:bodyPr>
          <a:lstStyle/>
          <a:p>
            <a:pPr marL="0" indent="0" algn="ctr">
              <a:lnSpc>
                <a:spcPts val="3600"/>
              </a:lnSpc>
              <a:buNone/>
            </a:pPr>
            <a:r>
              <a:rPr lang="en-US" sz="3600" b="1" dirty="0">
                <a:solidFill>
                  <a:srgbClr val="1F5FBF"/>
                </a:solidFill>
                <a:latin typeface="Source Serif 4" pitchFamily="18" charset="0"/>
                <a:ea typeface="Source Serif 4" pitchFamily="18" charset="-122"/>
                <a:cs typeface="Source Serif 4" pitchFamily="18" charset="-120"/>
              </a:rPr>
              <a:t>2</a:t>
            </a:r>
            <a:endParaRPr lang="en-US" sz="3600" dirty="0"/>
          </a:p>
        </p:txBody>
      </p:sp>
      <p:pic>
        <p:nvPicPr>
          <p:cNvPr id="10" name="Image 1" descr="Waterfall chart icon"/>
          <p:cNvPicPr>
            <a:picLocks noChangeAspect="1"/>
          </p:cNvPicPr>
          <p:nvPr/>
        </p:nvPicPr>
        <p:blipFill>
          <a:blip r:embed="rId4"/>
          <a:srcRect/>
          <a:stretch/>
        </p:blipFill>
        <p:spPr>
          <a:xfrm>
            <a:off x="3803650" y="2595811"/>
            <a:ext cx="1905000" cy="1016000"/>
          </a:xfrm>
          <a:prstGeom prst="rect">
            <a:avLst/>
          </a:prstGeom>
        </p:spPr>
      </p:pic>
      <p:sp>
        <p:nvSpPr>
          <p:cNvPr id="11" name="Text 7"/>
          <p:cNvSpPr/>
          <p:nvPr/>
        </p:nvSpPr>
        <p:spPr>
          <a:xfrm>
            <a:off x="4232275" y="3688011"/>
            <a:ext cx="1047750" cy="269230"/>
          </a:xfrm>
          <a:prstGeom prst="rect">
            <a:avLst/>
          </a:prstGeom>
          <a:noFill/>
          <a:ln/>
        </p:spPr>
        <p:txBody>
          <a:bodyPr wrap="square" lIns="0" tIns="0" rIns="0" bIns="0" rtlCol="0" anchor="t">
            <a:normAutofit/>
          </a:bodyPr>
          <a:lstStyle/>
          <a:p>
            <a:pPr marL="0" indent="0" algn="ctr">
              <a:lnSpc>
                <a:spcPts val="1920"/>
              </a:lnSpc>
              <a:buNone/>
            </a:pPr>
            <a:r>
              <a:rPr lang="en-US" sz="1600" b="1" dirty="0">
                <a:solidFill>
                  <a:srgbClr val="14171C"/>
                </a:solidFill>
                <a:latin typeface="IBM Plex Sans" pitchFamily="34" charset="0"/>
                <a:ea typeface="IBM Plex Sans" pitchFamily="34" charset="-122"/>
                <a:cs typeface="IBM Plex Sans" pitchFamily="34" charset="-120"/>
              </a:rPr>
              <a:t>Waterfall</a:t>
            </a:r>
            <a:endParaRPr lang="en-US" sz="1600" dirty="0"/>
          </a:p>
        </p:txBody>
      </p:sp>
      <p:sp>
        <p:nvSpPr>
          <p:cNvPr id="12" name="Shape 8"/>
          <p:cNvSpPr/>
          <p:nvPr/>
        </p:nvSpPr>
        <p:spPr>
          <a:xfrm>
            <a:off x="6172200" y="1884611"/>
            <a:ext cx="2527300" cy="2225030"/>
          </a:xfrm>
          <a:prstGeom prst="roundRect">
            <a:avLst>
              <a:gd name="adj" fmla="val 4566"/>
            </a:avLst>
          </a:prstGeom>
          <a:solidFill>
            <a:srgbClr val="F5F6F8"/>
          </a:solidFill>
          <a:ln/>
        </p:spPr>
      </p:sp>
      <p:sp>
        <p:nvSpPr>
          <p:cNvPr id="13" name="Text 9"/>
          <p:cNvSpPr/>
          <p:nvPr/>
        </p:nvSpPr>
        <p:spPr>
          <a:xfrm>
            <a:off x="7285286" y="2062411"/>
            <a:ext cx="301129" cy="482600"/>
          </a:xfrm>
          <a:prstGeom prst="rect">
            <a:avLst/>
          </a:prstGeom>
          <a:noFill/>
          <a:ln/>
        </p:spPr>
        <p:txBody>
          <a:bodyPr wrap="square" lIns="0" tIns="0" rIns="0" bIns="0" rtlCol="0" anchor="t">
            <a:normAutofit/>
          </a:bodyPr>
          <a:lstStyle/>
          <a:p>
            <a:pPr marL="0" indent="0" algn="ctr">
              <a:lnSpc>
                <a:spcPts val="3600"/>
              </a:lnSpc>
              <a:buNone/>
            </a:pPr>
            <a:r>
              <a:rPr lang="en-US" sz="3600" b="1" dirty="0">
                <a:solidFill>
                  <a:srgbClr val="1F5FBF"/>
                </a:solidFill>
                <a:latin typeface="Source Serif 4" pitchFamily="18" charset="0"/>
                <a:ea typeface="Source Serif 4" pitchFamily="18" charset="-122"/>
                <a:cs typeface="Source Serif 4" pitchFamily="18" charset="-120"/>
              </a:rPr>
              <a:t>3</a:t>
            </a:r>
            <a:endParaRPr lang="en-US" sz="3600" dirty="0"/>
          </a:p>
        </p:txBody>
      </p:sp>
      <p:pic>
        <p:nvPicPr>
          <p:cNvPr id="14" name="Image 2" descr="Histogram icon, right-skewed"/>
          <p:cNvPicPr>
            <a:picLocks noChangeAspect="1"/>
          </p:cNvPicPr>
          <p:nvPr/>
        </p:nvPicPr>
        <p:blipFill>
          <a:blip r:embed="rId5"/>
          <a:srcRect/>
          <a:stretch/>
        </p:blipFill>
        <p:spPr>
          <a:xfrm>
            <a:off x="6483350" y="2595811"/>
            <a:ext cx="1905000" cy="1016000"/>
          </a:xfrm>
          <a:prstGeom prst="rect">
            <a:avLst/>
          </a:prstGeom>
        </p:spPr>
      </p:pic>
      <p:sp>
        <p:nvSpPr>
          <p:cNvPr id="15" name="Text 10"/>
          <p:cNvSpPr/>
          <p:nvPr/>
        </p:nvSpPr>
        <p:spPr>
          <a:xfrm>
            <a:off x="6851670" y="3688011"/>
            <a:ext cx="1168360" cy="269230"/>
          </a:xfrm>
          <a:prstGeom prst="rect">
            <a:avLst/>
          </a:prstGeom>
          <a:noFill/>
          <a:ln/>
        </p:spPr>
        <p:txBody>
          <a:bodyPr wrap="square" lIns="0" tIns="0" rIns="0" bIns="0" rtlCol="0" anchor="t">
            <a:normAutofit/>
          </a:bodyPr>
          <a:lstStyle/>
          <a:p>
            <a:pPr marL="0" indent="0" algn="ctr">
              <a:lnSpc>
                <a:spcPts val="1920"/>
              </a:lnSpc>
              <a:buNone/>
            </a:pPr>
            <a:r>
              <a:rPr lang="en-US" sz="1600" b="1" dirty="0">
                <a:solidFill>
                  <a:srgbClr val="14171C"/>
                </a:solidFill>
                <a:latin typeface="IBM Plex Sans" pitchFamily="34" charset="0"/>
                <a:ea typeface="IBM Plex Sans" pitchFamily="34" charset="-122"/>
                <a:cs typeface="IBM Plex Sans" pitchFamily="34" charset="-120"/>
              </a:rPr>
              <a:t>Histogram</a:t>
            </a:r>
            <a:endParaRPr lang="en-US" sz="1600" dirty="0"/>
          </a:p>
        </p:txBody>
      </p:sp>
      <p:sp>
        <p:nvSpPr>
          <p:cNvPr id="16" name="Shape 11"/>
          <p:cNvSpPr/>
          <p:nvPr/>
        </p:nvSpPr>
        <p:spPr>
          <a:xfrm>
            <a:off x="8851900" y="1884611"/>
            <a:ext cx="2527300" cy="2225030"/>
          </a:xfrm>
          <a:prstGeom prst="roundRect">
            <a:avLst>
              <a:gd name="adj" fmla="val 4566"/>
            </a:avLst>
          </a:prstGeom>
          <a:solidFill>
            <a:srgbClr val="F5F6F8"/>
          </a:solidFill>
          <a:ln/>
        </p:spPr>
      </p:sp>
      <p:sp>
        <p:nvSpPr>
          <p:cNvPr id="17" name="Text 12"/>
          <p:cNvSpPr/>
          <p:nvPr/>
        </p:nvSpPr>
        <p:spPr>
          <a:xfrm>
            <a:off x="9964986" y="2062411"/>
            <a:ext cx="301129" cy="482600"/>
          </a:xfrm>
          <a:prstGeom prst="rect">
            <a:avLst/>
          </a:prstGeom>
          <a:noFill/>
          <a:ln/>
        </p:spPr>
        <p:txBody>
          <a:bodyPr wrap="square" lIns="0" tIns="0" rIns="0" bIns="0" rtlCol="0" anchor="t">
            <a:normAutofit/>
          </a:bodyPr>
          <a:lstStyle/>
          <a:p>
            <a:pPr marL="0" indent="0" algn="ctr">
              <a:lnSpc>
                <a:spcPts val="3600"/>
              </a:lnSpc>
              <a:buNone/>
            </a:pPr>
            <a:r>
              <a:rPr lang="en-US" sz="3600" b="1" dirty="0">
                <a:solidFill>
                  <a:srgbClr val="1F5FBF"/>
                </a:solidFill>
                <a:latin typeface="Source Serif 4" pitchFamily="18" charset="0"/>
                <a:ea typeface="Source Serif 4" pitchFamily="18" charset="-122"/>
                <a:cs typeface="Source Serif 4" pitchFamily="18" charset="-120"/>
              </a:rPr>
              <a:t>4</a:t>
            </a:r>
            <a:endParaRPr lang="en-US" sz="3600" dirty="0"/>
          </a:p>
        </p:txBody>
      </p:sp>
      <p:pic>
        <p:nvPicPr>
          <p:cNvPr id="18" name="Image 3" descr="Funnel plot icon with one outlier above the limits"/>
          <p:cNvPicPr>
            <a:picLocks noChangeAspect="1"/>
          </p:cNvPicPr>
          <p:nvPr/>
        </p:nvPicPr>
        <p:blipFill>
          <a:blip r:embed="rId6"/>
          <a:srcRect/>
          <a:stretch/>
        </p:blipFill>
        <p:spPr>
          <a:xfrm>
            <a:off x="9163050" y="2595811"/>
            <a:ext cx="1905000" cy="1016000"/>
          </a:xfrm>
          <a:prstGeom prst="rect">
            <a:avLst/>
          </a:prstGeom>
        </p:spPr>
      </p:pic>
      <p:sp>
        <p:nvSpPr>
          <p:cNvPr id="19" name="Text 13"/>
          <p:cNvSpPr/>
          <p:nvPr/>
        </p:nvSpPr>
        <p:spPr>
          <a:xfrm>
            <a:off x="9477970" y="3688011"/>
            <a:ext cx="1275159" cy="269230"/>
          </a:xfrm>
          <a:prstGeom prst="rect">
            <a:avLst/>
          </a:prstGeom>
          <a:noFill/>
          <a:ln/>
        </p:spPr>
        <p:txBody>
          <a:bodyPr wrap="square" lIns="0" tIns="0" rIns="0" bIns="0" rtlCol="0" anchor="t">
            <a:normAutofit/>
          </a:bodyPr>
          <a:lstStyle/>
          <a:p>
            <a:pPr marL="0" indent="0" algn="ctr">
              <a:lnSpc>
                <a:spcPts val="1920"/>
              </a:lnSpc>
              <a:buNone/>
            </a:pPr>
            <a:r>
              <a:rPr lang="en-US" sz="1600" b="1" dirty="0">
                <a:solidFill>
                  <a:srgbClr val="14171C"/>
                </a:solidFill>
                <a:latin typeface="IBM Plex Sans" pitchFamily="34" charset="0"/>
                <a:ea typeface="IBM Plex Sans" pitchFamily="34" charset="-122"/>
                <a:cs typeface="IBM Plex Sans" pitchFamily="34" charset="-120"/>
              </a:rPr>
              <a:t>Funnel plot</a:t>
            </a:r>
            <a:endParaRPr lang="en-US" sz="1600" dirty="0"/>
          </a:p>
        </p:txBody>
      </p:sp>
      <p:sp>
        <p:nvSpPr>
          <p:cNvPr id="20" name="Text 14"/>
          <p:cNvSpPr/>
          <p:nvPr/>
        </p:nvSpPr>
        <p:spPr>
          <a:xfrm>
            <a:off x="812800" y="4363641"/>
            <a:ext cx="544169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5FBF"/>
                </a:solidFill>
                <a:latin typeface="IBM Plex Sans" pitchFamily="34" charset="0"/>
                <a:ea typeface="IBM Plex Sans" pitchFamily="34" charset="-122"/>
                <a:cs typeface="IBM Plex Sans" pitchFamily="34" charset="-120"/>
              </a:rPr>
              <a:t>A</a:t>
            </a:r>
            <a:r>
              <a:rPr lang="en-US" sz="1600" dirty="0">
                <a:solidFill>
                  <a:srgbClr val="14171C"/>
                </a:solidFill>
                <a:latin typeface="IBM Plex Sans" pitchFamily="34" charset="0"/>
                <a:ea typeface="IBM Plex Sans" pitchFamily="34" charset="-122"/>
                <a:cs typeface="IBM Plex Sans" pitchFamily="34" charset="-120"/>
              </a:rPr>
              <a:t> Before vs after, 8 reason codes</a:t>
            </a:r>
            <a:endParaRPr lang="en-US" sz="1600" dirty="0"/>
          </a:p>
        </p:txBody>
      </p:sp>
      <p:sp>
        <p:nvSpPr>
          <p:cNvPr id="21" name="Text 15"/>
          <p:cNvSpPr/>
          <p:nvPr/>
        </p:nvSpPr>
        <p:spPr>
          <a:xfrm>
            <a:off x="6096000" y="4363641"/>
            <a:ext cx="544169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5FBF"/>
                </a:solidFill>
                <a:latin typeface="IBM Plex Sans" pitchFamily="34" charset="0"/>
                <a:ea typeface="IBM Plex Sans" pitchFamily="34" charset="-122"/>
                <a:cs typeface="IBM Plex Sans" pitchFamily="34" charset="-120"/>
              </a:rPr>
              <a:t>B</a:t>
            </a:r>
            <a:r>
              <a:rPr lang="en-US" sz="1600" dirty="0">
                <a:solidFill>
                  <a:srgbClr val="14171C"/>
                </a:solidFill>
                <a:latin typeface="IBM Plex Sans" pitchFamily="34" charset="0"/>
                <a:ea typeface="IBM Plex Sans" pitchFamily="34" charset="-122"/>
                <a:cs typeface="IBM Plex Sans" pitchFamily="34" charset="-120"/>
              </a:rPr>
              <a:t> $1.2M → $1.5M: what made the gap?</a:t>
            </a:r>
            <a:endParaRPr lang="en-US" sz="1600" dirty="0"/>
          </a:p>
        </p:txBody>
      </p:sp>
      <p:sp>
        <p:nvSpPr>
          <p:cNvPr id="22" name="Text 16"/>
          <p:cNvSpPr/>
          <p:nvPr/>
        </p:nvSpPr>
        <p:spPr>
          <a:xfrm>
            <a:off x="812800" y="4648101"/>
            <a:ext cx="544169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5FBF"/>
                </a:solidFill>
                <a:latin typeface="IBM Plex Sans" pitchFamily="34" charset="0"/>
                <a:ea typeface="IBM Plex Sans" pitchFamily="34" charset="-122"/>
                <a:cs typeface="IBM Plex Sans" pitchFamily="34" charset="-120"/>
              </a:rPr>
              <a:t>C</a:t>
            </a:r>
            <a:r>
              <a:rPr lang="en-US" sz="1600" dirty="0">
                <a:solidFill>
                  <a:srgbClr val="14171C"/>
                </a:solidFill>
                <a:latin typeface="IBM Plex Sans" pitchFamily="34" charset="0"/>
                <a:ea typeface="IBM Plex Sans" pitchFamily="34" charset="-122"/>
                <a:cs typeface="IBM Plex Sans" pitchFamily="34" charset="-120"/>
              </a:rPr>
              <a:t> Typical time, if some take a week?</a:t>
            </a:r>
            <a:endParaRPr lang="en-US" sz="1600" dirty="0"/>
          </a:p>
        </p:txBody>
      </p:sp>
      <p:sp>
        <p:nvSpPr>
          <p:cNvPr id="23" name="Text 17"/>
          <p:cNvSpPr/>
          <p:nvPr/>
        </p:nvSpPr>
        <p:spPr>
          <a:xfrm>
            <a:off x="6096000" y="4648101"/>
            <a:ext cx="544169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5FBF"/>
                </a:solidFill>
                <a:latin typeface="IBM Plex Sans" pitchFamily="34" charset="0"/>
                <a:ea typeface="IBM Plex Sans" pitchFamily="34" charset="-122"/>
                <a:cs typeface="IBM Plex Sans" pitchFamily="34" charset="-120"/>
              </a:rPr>
              <a:t>D</a:t>
            </a:r>
            <a:r>
              <a:rPr lang="en-US" sz="1600" dirty="0">
                <a:solidFill>
                  <a:srgbClr val="14171C"/>
                </a:solidFill>
                <a:latin typeface="IBM Plex Sans" pitchFamily="34" charset="0"/>
                <a:ea typeface="IBM Plex Sans" pitchFamily="34" charset="-122"/>
                <a:cs typeface="IBM Plex Sans" pitchFamily="34" charset="-120"/>
              </a:rPr>
              <a:t> Which of 40 groups is truly unusual?</a:t>
            </a:r>
            <a:endParaRPr lang="en-US" sz="1600" dirty="0"/>
          </a:p>
        </p:txBody>
      </p:sp>
      <p:sp>
        <p:nvSpPr>
          <p:cNvPr id="24"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9"/>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9622B"/>
                </a:solidFill>
                <a:latin typeface="IBM Plex Sans" pitchFamily="34" charset="0"/>
                <a:ea typeface="IBM Plex Sans" pitchFamily="34" charset="-122"/>
                <a:cs typeface="IBM Plex Sans" pitchFamily="34" charset="-120"/>
              </a:rPr>
              <a:t>SPOT THE PROBLEM · 1 OF 4</a:t>
            </a:r>
            <a:endParaRPr lang="en-US" sz="1200" dirty="0"/>
          </a:p>
        </p:txBody>
      </p:sp>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171C"/>
                </a:solidFill>
                <a:latin typeface="Source Serif 4" pitchFamily="18" charset="0"/>
                <a:ea typeface="Source Serif 4" pitchFamily="18" charset="-122"/>
                <a:cs typeface="Source Serif 4" pitchFamily="18" charset="-120"/>
              </a:rPr>
              <a:t>The stretched gap</a:t>
            </a:r>
            <a:endParaRPr lang="en-US" sz="36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9"/>
                </a:solidFill>
                <a:latin typeface="IBM Plex Sans" pitchFamily="34" charset="0"/>
                <a:ea typeface="IBM Plex Sans" pitchFamily="34" charset="-122"/>
                <a:cs typeface="IBM Plex Sans" pitchFamily="34" charset="-120"/>
              </a:rPr>
              <a:t>13 ·</a:t>
            </a:r>
            <a:endParaRPr lang="en-US" sz="1200" dirty="0"/>
          </a:p>
        </p:txBody>
      </p:sp>
      <p:grpSp>
        <p:nvGrpSpPr>
          <p:cNvPr id="39" name="Chart 1"/>
          <p:cNvGrpSpPr/>
          <p:nvPr/>
        </p:nvGrpSpPr>
        <p:grpSpPr>
          <a:xfrm>
            <a:off x="0" y="0"/>
            <a:ext cx="12192000" cy="6858000"/>
            <a:chOff x="0" y="0"/>
            <a:chExt cx="12192000" cy="6858000"/>
          </a:xfrm>
        </p:grpSpPr>
        <p:sp>
          <p:nvSpPr>
            <p:cNvPr id="23" name="Text 23"/>
            <p:cNvSpPr txBox="1"/>
            <p:nvPr/>
          </p:nvSpPr>
          <p:spPr>
            <a:xfrm>
              <a:off x="736600" y="3850680"/>
              <a:ext cx="533400" cy="213320"/>
            </a:xfrm>
            <a:prstGeom prst="rect">
              <a:avLst/>
            </a:prstGeom>
            <a:noFill/>
            <a:ln>
              <a:noFill/>
            </a:ln>
          </p:spPr>
          <p:txBody>
            <a:bodyPr wrap="square" lIns="0" tIns="0" rIns="0" bIns="0" anchor="t">
              <a:noAutofit/>
            </a:bodyPr>
            <a:lstStyle/>
            <a:p>
              <a:pPr algn="r"/>
              <a:r>
                <a:rPr lang="en-US" sz="1200" b="1" dirty="0">
                  <a:solidFill>
                    <a:srgbClr val="4A4F57"/>
                  </a:solidFill>
                  <a:latin typeface="IBM Plex Sans"/>
                  <a:cs typeface="IBM Plex Sans"/>
                </a:rPr>
                <a:t>95%</a:t>
              </a:r>
            </a:p>
          </p:txBody>
        </p:sp>
        <p:cxnSp>
          <p:nvCxnSpPr>
            <p:cNvPr id="24" name="Line 24"/>
            <p:cNvCxnSpPr/>
            <p:nvPr/>
          </p:nvCxnSpPr>
          <p:spPr>
            <a:xfrm>
              <a:off x="1371600" y="4057650"/>
              <a:ext cx="4267200" cy="0"/>
            </a:xfrm>
            <a:prstGeom prst="line">
              <a:avLst/>
            </a:prstGeom>
            <a:ln w="12700">
              <a:solidFill>
                <a:srgbClr val="14171C"/>
              </a:solidFill>
              <a:round/>
            </a:ln>
          </p:spPr>
        </p:cxnSp>
        <p:sp>
          <p:nvSpPr>
            <p:cNvPr id="25" name="Text 25"/>
            <p:cNvSpPr txBox="1"/>
            <p:nvPr/>
          </p:nvSpPr>
          <p:spPr>
            <a:xfrm>
              <a:off x="2412802" y="3239790"/>
              <a:ext cx="457498" cy="284460"/>
            </a:xfrm>
            <a:prstGeom prst="rect">
              <a:avLst/>
            </a:prstGeom>
            <a:noFill/>
            <a:ln>
              <a:noFill/>
            </a:ln>
          </p:spPr>
          <p:txBody>
            <a:bodyPr wrap="square" lIns="0" tIns="0" rIns="0" bIns="0" anchor="t">
              <a:noAutofit/>
            </a:bodyPr>
            <a:lstStyle/>
            <a:p>
              <a:pPr algn="l"/>
              <a:r>
                <a:rPr lang="en-US" sz="1600" b="0" dirty="0">
                  <a:solidFill>
                    <a:srgbClr val="14171C"/>
                  </a:solidFill>
                  <a:latin typeface="IBM Plex Sans"/>
                  <a:cs typeface="IBM Plex Sans"/>
                </a:rPr>
                <a:t>96%</a:t>
              </a:r>
            </a:p>
          </p:txBody>
        </p:sp>
        <p:sp>
          <p:nvSpPr>
            <p:cNvPr id="26" name="Rect 26"/>
            <p:cNvSpPr/>
            <p:nvPr/>
          </p:nvSpPr>
          <p:spPr>
            <a:xfrm>
              <a:off x="2108200" y="3575050"/>
              <a:ext cx="1016000" cy="476250"/>
            </a:xfrm>
            <a:prstGeom prst="rect">
              <a:avLst/>
            </a:prstGeom>
            <a:solidFill>
              <a:srgbClr val="B8BCC2"/>
            </a:solidFill>
            <a:ln>
              <a:noFill/>
            </a:ln>
          </p:spPr>
          <p:txBody>
            <a:bodyPr/>
            <a:lstStyle/>
            <a:p>
              <a:endParaRPr lang="en-US"/>
            </a:p>
          </p:txBody>
        </p:sp>
        <p:sp>
          <p:nvSpPr>
            <p:cNvPr id="27" name="Text 27"/>
            <p:cNvSpPr txBox="1"/>
            <p:nvPr/>
          </p:nvSpPr>
          <p:spPr>
            <a:xfrm>
              <a:off x="4190802" y="2287290"/>
              <a:ext cx="457498" cy="284460"/>
            </a:xfrm>
            <a:prstGeom prst="rect">
              <a:avLst/>
            </a:prstGeom>
            <a:noFill/>
            <a:ln>
              <a:noFill/>
            </a:ln>
          </p:spPr>
          <p:txBody>
            <a:bodyPr wrap="square" lIns="0" tIns="0" rIns="0" bIns="0" anchor="t">
              <a:noAutofit/>
            </a:bodyPr>
            <a:lstStyle/>
            <a:p>
              <a:pPr algn="l"/>
              <a:r>
                <a:rPr lang="en-US" sz="1600" b="0" dirty="0">
                  <a:solidFill>
                    <a:srgbClr val="14171C"/>
                  </a:solidFill>
                  <a:latin typeface="IBM Plex Sans"/>
                  <a:cs typeface="IBM Plex Sans"/>
                </a:rPr>
                <a:t>98%</a:t>
              </a:r>
            </a:p>
          </p:txBody>
        </p:sp>
        <p:sp>
          <p:nvSpPr>
            <p:cNvPr id="28" name="Rect 28"/>
            <p:cNvSpPr/>
            <p:nvPr/>
          </p:nvSpPr>
          <p:spPr>
            <a:xfrm>
              <a:off x="3886200" y="2622550"/>
              <a:ext cx="1016000" cy="1428750"/>
            </a:xfrm>
            <a:prstGeom prst="rect">
              <a:avLst/>
            </a:prstGeom>
            <a:solidFill>
              <a:srgbClr val="D9622B"/>
            </a:solidFill>
            <a:ln>
              <a:noFill/>
            </a:ln>
          </p:spPr>
          <p:txBody>
            <a:bodyPr/>
            <a:lstStyle/>
            <a:p>
              <a:endParaRPr lang="en-US"/>
            </a:p>
          </p:txBody>
        </p:sp>
        <p:sp>
          <p:nvSpPr>
            <p:cNvPr id="29" name="Text 29"/>
            <p:cNvSpPr txBox="1"/>
            <p:nvPr/>
          </p:nvSpPr>
          <p:spPr>
            <a:xfrm>
              <a:off x="2070100" y="4165600"/>
              <a:ext cx="1092200" cy="213320"/>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Team A</a:t>
              </a:r>
            </a:p>
          </p:txBody>
        </p:sp>
        <p:sp>
          <p:nvSpPr>
            <p:cNvPr id="30" name="Text 30"/>
            <p:cNvSpPr txBox="1"/>
            <p:nvPr/>
          </p:nvSpPr>
          <p:spPr>
            <a:xfrm>
              <a:off x="3848100" y="4165600"/>
              <a:ext cx="1092200" cy="213320"/>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Team B</a:t>
              </a:r>
            </a:p>
          </p:txBody>
        </p:sp>
      </p:grpSp>
      <p:grpSp>
        <p:nvGrpSpPr>
          <p:cNvPr id="40" name="Chart 2"/>
          <p:cNvGrpSpPr/>
          <p:nvPr/>
        </p:nvGrpSpPr>
        <p:grpSpPr>
          <a:xfrm>
            <a:off x="0" y="0"/>
            <a:ext cx="12192000" cy="6858000"/>
            <a:chOff x="0" y="0"/>
            <a:chExt cx="12192000" cy="6858000"/>
          </a:xfrm>
        </p:grpSpPr>
        <p:sp>
          <p:nvSpPr>
            <p:cNvPr id="31" name="Text 31"/>
            <p:cNvSpPr txBox="1"/>
            <p:nvPr/>
          </p:nvSpPr>
          <p:spPr>
            <a:xfrm>
              <a:off x="6477000" y="3850680"/>
              <a:ext cx="533400" cy="213320"/>
            </a:xfrm>
            <a:prstGeom prst="rect">
              <a:avLst/>
            </a:prstGeom>
            <a:noFill/>
            <a:ln>
              <a:noFill/>
            </a:ln>
          </p:spPr>
          <p:txBody>
            <a:bodyPr wrap="square" lIns="0" tIns="0" rIns="0" bIns="0" anchor="t">
              <a:noAutofit/>
            </a:bodyPr>
            <a:lstStyle/>
            <a:p>
              <a:pPr algn="r"/>
              <a:r>
                <a:rPr lang="en-US" sz="1200" b="1" dirty="0">
                  <a:solidFill>
                    <a:srgbClr val="4A4F57"/>
                  </a:solidFill>
                  <a:latin typeface="IBM Plex Sans"/>
                  <a:cs typeface="IBM Plex Sans"/>
                </a:rPr>
                <a:t>0%</a:t>
              </a:r>
            </a:p>
          </p:txBody>
        </p:sp>
        <p:cxnSp>
          <p:nvCxnSpPr>
            <p:cNvPr id="32" name="Line 32"/>
            <p:cNvCxnSpPr/>
            <p:nvPr/>
          </p:nvCxnSpPr>
          <p:spPr>
            <a:xfrm>
              <a:off x="7112000" y="4057650"/>
              <a:ext cx="4267200" cy="0"/>
            </a:xfrm>
            <a:prstGeom prst="line">
              <a:avLst/>
            </a:prstGeom>
            <a:ln w="12700">
              <a:solidFill>
                <a:srgbClr val="14171C"/>
              </a:solidFill>
              <a:round/>
            </a:ln>
          </p:spPr>
        </p:cxnSp>
        <p:sp>
          <p:nvSpPr>
            <p:cNvPr id="33" name="Text 33"/>
            <p:cNvSpPr txBox="1"/>
            <p:nvPr/>
          </p:nvSpPr>
          <p:spPr>
            <a:xfrm>
              <a:off x="8153202" y="1887240"/>
              <a:ext cx="457498" cy="284460"/>
            </a:xfrm>
            <a:prstGeom prst="rect">
              <a:avLst/>
            </a:prstGeom>
            <a:noFill/>
            <a:ln>
              <a:noFill/>
            </a:ln>
          </p:spPr>
          <p:txBody>
            <a:bodyPr wrap="square" lIns="0" tIns="0" rIns="0" bIns="0" anchor="t">
              <a:noAutofit/>
            </a:bodyPr>
            <a:lstStyle/>
            <a:p>
              <a:pPr algn="l"/>
              <a:r>
                <a:rPr lang="en-US" sz="1600" b="0" dirty="0">
                  <a:solidFill>
                    <a:srgbClr val="14171C"/>
                  </a:solidFill>
                  <a:latin typeface="IBM Plex Sans"/>
                  <a:cs typeface="IBM Plex Sans"/>
                </a:rPr>
                <a:t>96%</a:t>
              </a:r>
            </a:p>
          </p:txBody>
        </p:sp>
        <p:sp>
          <p:nvSpPr>
            <p:cNvPr id="34" name="Rect 34"/>
            <p:cNvSpPr/>
            <p:nvPr/>
          </p:nvSpPr>
          <p:spPr>
            <a:xfrm>
              <a:off x="7848600" y="2222500"/>
              <a:ext cx="1016000" cy="1828800"/>
            </a:xfrm>
            <a:prstGeom prst="rect">
              <a:avLst/>
            </a:prstGeom>
            <a:solidFill>
              <a:srgbClr val="B8BCC2"/>
            </a:solidFill>
            <a:ln>
              <a:noFill/>
            </a:ln>
          </p:spPr>
          <p:txBody>
            <a:bodyPr/>
            <a:lstStyle/>
            <a:p>
              <a:endParaRPr lang="en-US"/>
            </a:p>
          </p:txBody>
        </p:sp>
        <p:sp>
          <p:nvSpPr>
            <p:cNvPr id="35" name="Text 35"/>
            <p:cNvSpPr txBox="1"/>
            <p:nvPr/>
          </p:nvSpPr>
          <p:spPr>
            <a:xfrm>
              <a:off x="9931202" y="1849140"/>
              <a:ext cx="457498" cy="284460"/>
            </a:xfrm>
            <a:prstGeom prst="rect">
              <a:avLst/>
            </a:prstGeom>
            <a:noFill/>
            <a:ln>
              <a:noFill/>
            </a:ln>
          </p:spPr>
          <p:txBody>
            <a:bodyPr wrap="square" lIns="0" tIns="0" rIns="0" bIns="0" anchor="t">
              <a:noAutofit/>
            </a:bodyPr>
            <a:lstStyle/>
            <a:p>
              <a:pPr algn="l"/>
              <a:r>
                <a:rPr lang="en-US" sz="1600" b="0" dirty="0">
                  <a:solidFill>
                    <a:srgbClr val="14171C"/>
                  </a:solidFill>
                  <a:latin typeface="IBM Plex Sans"/>
                  <a:cs typeface="IBM Plex Sans"/>
                </a:rPr>
                <a:t>98%</a:t>
              </a:r>
            </a:p>
          </p:txBody>
        </p:sp>
        <p:sp>
          <p:nvSpPr>
            <p:cNvPr id="36" name="Rect 36"/>
            <p:cNvSpPr/>
            <p:nvPr/>
          </p:nvSpPr>
          <p:spPr>
            <a:xfrm>
              <a:off x="9626600" y="2184400"/>
              <a:ext cx="1016000" cy="1866900"/>
            </a:xfrm>
            <a:prstGeom prst="rect">
              <a:avLst/>
            </a:prstGeom>
            <a:solidFill>
              <a:srgbClr val="1F5FBF"/>
            </a:solidFill>
            <a:ln>
              <a:noFill/>
            </a:ln>
          </p:spPr>
          <p:txBody>
            <a:bodyPr/>
            <a:lstStyle/>
            <a:p>
              <a:endParaRPr lang="en-US"/>
            </a:p>
          </p:txBody>
        </p:sp>
        <p:sp>
          <p:nvSpPr>
            <p:cNvPr id="37" name="Text 37"/>
            <p:cNvSpPr txBox="1"/>
            <p:nvPr/>
          </p:nvSpPr>
          <p:spPr>
            <a:xfrm>
              <a:off x="7810500" y="4165600"/>
              <a:ext cx="1092200" cy="213320"/>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Team A</a:t>
              </a:r>
            </a:p>
          </p:txBody>
        </p:sp>
        <p:sp>
          <p:nvSpPr>
            <p:cNvPr id="38" name="Text 38"/>
            <p:cNvSpPr txBox="1"/>
            <p:nvPr/>
          </p:nvSpPr>
          <p:spPr>
            <a:xfrm>
              <a:off x="9588500" y="4165600"/>
              <a:ext cx="1092200" cy="213320"/>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Team B</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9622B"/>
                </a:solidFill>
                <a:latin typeface="IBM Plex Sans" pitchFamily="34" charset="0"/>
                <a:ea typeface="IBM Plex Sans" pitchFamily="34" charset="-122"/>
                <a:cs typeface="IBM Plex Sans" pitchFamily="34" charset="-120"/>
              </a:rPr>
              <a:t>SPOT THE PROBLEM · 2 OF 4</a:t>
            </a:r>
            <a:endParaRPr lang="en-US" sz="1200" dirty="0"/>
          </a:p>
        </p:txBody>
      </p:sp>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171C"/>
                </a:solidFill>
                <a:latin typeface="Source Serif 4" pitchFamily="18" charset="0"/>
                <a:ea typeface="Source Serif 4" pitchFamily="18" charset="-122"/>
                <a:cs typeface="Source Serif 4" pitchFamily="18" charset="-120"/>
              </a:rPr>
              <a:t>The cumulative trap</a:t>
            </a:r>
            <a:endParaRPr lang="en-US" sz="3600" dirty="0"/>
          </a:p>
        </p:txBody>
      </p:sp>
      <p:sp>
        <p:nvSpPr>
          <p:cNvPr id="27" name="Text 2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9"/>
                </a:solidFill>
                <a:latin typeface="IBM Plex Sans" pitchFamily="34" charset="0"/>
                <a:ea typeface="IBM Plex Sans" pitchFamily="34" charset="-122"/>
                <a:cs typeface="IBM Plex Sans" pitchFamily="34" charset="-120"/>
              </a:rPr>
              <a:t>14 ·</a:t>
            </a:r>
            <a:endParaRPr lang="en-US" sz="1200" dirty="0"/>
          </a:p>
        </p:txBody>
      </p:sp>
      <p:grpSp>
        <p:nvGrpSpPr>
          <p:cNvPr id="75" name="Chart 1"/>
          <p:cNvGrpSpPr/>
          <p:nvPr/>
        </p:nvGrpSpPr>
        <p:grpSpPr>
          <a:xfrm>
            <a:off x="0" y="0"/>
            <a:ext cx="12192000" cy="6858000"/>
            <a:chOff x="0" y="0"/>
            <a:chExt cx="12192000" cy="6858000"/>
          </a:xfrm>
        </p:grpSpPr>
        <p:sp>
          <p:nvSpPr>
            <p:cNvPr id="28" name="Text 28"/>
            <p:cNvSpPr txBox="1"/>
            <p:nvPr/>
          </p:nvSpPr>
          <p:spPr>
            <a:xfrm>
              <a:off x="812800" y="1841500"/>
              <a:ext cx="4876800" cy="243780"/>
            </a:xfrm>
            <a:prstGeom prst="rect">
              <a:avLst/>
            </a:prstGeom>
            <a:noFill/>
            <a:ln>
              <a:noFill/>
            </a:ln>
          </p:spPr>
          <p:txBody>
            <a:bodyPr wrap="square" lIns="0" tIns="0" rIns="0" bIns="0" anchor="t">
              <a:noAutofit/>
            </a:bodyPr>
            <a:lstStyle/>
            <a:p>
              <a:pPr algn="l"/>
              <a:r>
                <a:rPr lang="en-US" sz="1600" b="1" dirty="0">
                  <a:solidFill>
                    <a:srgbClr val="4A4F57"/>
                  </a:solidFill>
                  <a:latin typeface="IBM Plex Sans"/>
                  <a:cs typeface="IBM Plex Sans"/>
                </a:rPr>
                <a:t>Year to date growth</a:t>
              </a:r>
            </a:p>
          </p:txBody>
        </p:sp>
        <p:sp>
          <p:nvSpPr>
            <p:cNvPr id="29" name="Text 29"/>
            <p:cNvSpPr txBox="1"/>
            <p:nvPr/>
          </p:nvSpPr>
          <p:spPr>
            <a:xfrm>
              <a:off x="736600" y="4371280"/>
              <a:ext cx="635000" cy="213320"/>
            </a:xfrm>
            <a:prstGeom prst="rect">
              <a:avLst/>
            </a:prstGeom>
            <a:noFill/>
            <a:ln>
              <a:noFill/>
            </a:ln>
          </p:spPr>
          <p:txBody>
            <a:bodyPr wrap="none" lIns="0" tIns="0" rIns="0" bIns="0" anchor="t">
              <a:noAutofit/>
            </a:bodyPr>
            <a:lstStyle/>
            <a:p>
              <a:pPr algn="r"/>
              <a:r>
                <a:rPr lang="en-US" sz="1200" b="0" dirty="0">
                  <a:solidFill>
                    <a:srgbClr val="6B7079"/>
                  </a:solidFill>
                  <a:latin typeface="IBM Plex Sans"/>
                  <a:cs typeface="IBM Plex Sans"/>
                </a:rPr>
                <a:t>0</a:t>
              </a:r>
            </a:p>
          </p:txBody>
        </p:sp>
        <p:sp>
          <p:nvSpPr>
            <p:cNvPr id="30" name="Text 30"/>
            <p:cNvSpPr txBox="1"/>
            <p:nvPr/>
          </p:nvSpPr>
          <p:spPr>
            <a:xfrm>
              <a:off x="736600" y="3736280"/>
              <a:ext cx="635000" cy="213320"/>
            </a:xfrm>
            <a:prstGeom prst="rect">
              <a:avLst/>
            </a:prstGeom>
            <a:noFill/>
            <a:ln>
              <a:noFill/>
            </a:ln>
          </p:spPr>
          <p:txBody>
            <a:bodyPr wrap="none" lIns="0" tIns="0" rIns="0" bIns="0" anchor="t">
              <a:noAutofit/>
            </a:bodyPr>
            <a:lstStyle/>
            <a:p>
              <a:pPr algn="r"/>
              <a:r>
                <a:rPr lang="en-US" sz="1200" b="0" dirty="0">
                  <a:solidFill>
                    <a:srgbClr val="6B7079"/>
                  </a:solidFill>
                  <a:latin typeface="IBM Plex Sans"/>
                  <a:cs typeface="IBM Plex Sans"/>
                </a:rPr>
                <a:t>1,000</a:t>
              </a:r>
            </a:p>
          </p:txBody>
        </p:sp>
        <p:sp>
          <p:nvSpPr>
            <p:cNvPr id="31" name="Text 31"/>
            <p:cNvSpPr txBox="1"/>
            <p:nvPr/>
          </p:nvSpPr>
          <p:spPr>
            <a:xfrm>
              <a:off x="736600" y="3101280"/>
              <a:ext cx="635000" cy="213320"/>
            </a:xfrm>
            <a:prstGeom prst="rect">
              <a:avLst/>
            </a:prstGeom>
            <a:noFill/>
            <a:ln>
              <a:noFill/>
            </a:ln>
          </p:spPr>
          <p:txBody>
            <a:bodyPr wrap="none" lIns="0" tIns="0" rIns="0" bIns="0" anchor="t">
              <a:noAutofit/>
            </a:bodyPr>
            <a:lstStyle/>
            <a:p>
              <a:pPr algn="r"/>
              <a:r>
                <a:rPr lang="en-US" sz="1200" b="0" dirty="0">
                  <a:solidFill>
                    <a:srgbClr val="6B7079"/>
                  </a:solidFill>
                  <a:latin typeface="IBM Plex Sans"/>
                  <a:cs typeface="IBM Plex Sans"/>
                </a:rPr>
                <a:t>2,000</a:t>
              </a:r>
            </a:p>
          </p:txBody>
        </p:sp>
        <p:sp>
          <p:nvSpPr>
            <p:cNvPr id="32" name="Text 32"/>
            <p:cNvSpPr txBox="1"/>
            <p:nvPr/>
          </p:nvSpPr>
          <p:spPr>
            <a:xfrm>
              <a:off x="736600" y="2466280"/>
              <a:ext cx="635000" cy="213320"/>
            </a:xfrm>
            <a:prstGeom prst="rect">
              <a:avLst/>
            </a:prstGeom>
            <a:noFill/>
            <a:ln>
              <a:noFill/>
            </a:ln>
          </p:spPr>
          <p:txBody>
            <a:bodyPr wrap="none" lIns="0" tIns="0" rIns="0" bIns="0" anchor="t">
              <a:noAutofit/>
            </a:bodyPr>
            <a:lstStyle/>
            <a:p>
              <a:pPr algn="r"/>
              <a:r>
                <a:rPr lang="en-US" sz="1200" b="0" dirty="0">
                  <a:solidFill>
                    <a:srgbClr val="6B7079"/>
                  </a:solidFill>
                  <a:latin typeface="IBM Plex Sans"/>
                  <a:cs typeface="IBM Plex Sans"/>
                </a:rPr>
                <a:t>3,000</a:t>
              </a:r>
            </a:p>
          </p:txBody>
        </p:sp>
        <p:cxnSp>
          <p:nvCxnSpPr>
            <p:cNvPr id="33" name="Line 33"/>
            <p:cNvCxnSpPr/>
            <p:nvPr/>
          </p:nvCxnSpPr>
          <p:spPr>
            <a:xfrm>
              <a:off x="1473200" y="3831530"/>
              <a:ext cx="4165600" cy="0"/>
            </a:xfrm>
            <a:prstGeom prst="line">
              <a:avLst/>
            </a:prstGeom>
            <a:ln w="12700">
              <a:solidFill>
                <a:srgbClr val="EEF0F2"/>
              </a:solidFill>
              <a:round/>
            </a:ln>
          </p:spPr>
        </p:cxnSp>
        <p:cxnSp>
          <p:nvCxnSpPr>
            <p:cNvPr id="34" name="Line 34"/>
            <p:cNvCxnSpPr/>
            <p:nvPr/>
          </p:nvCxnSpPr>
          <p:spPr>
            <a:xfrm>
              <a:off x="1473200" y="3196530"/>
              <a:ext cx="4165600" cy="0"/>
            </a:xfrm>
            <a:prstGeom prst="line">
              <a:avLst/>
            </a:prstGeom>
            <a:ln w="12700">
              <a:solidFill>
                <a:srgbClr val="EEF0F2"/>
              </a:solidFill>
              <a:round/>
            </a:ln>
          </p:spPr>
        </p:cxnSp>
        <p:cxnSp>
          <p:nvCxnSpPr>
            <p:cNvPr id="35" name="Line 35"/>
            <p:cNvCxnSpPr/>
            <p:nvPr/>
          </p:nvCxnSpPr>
          <p:spPr>
            <a:xfrm>
              <a:off x="1473200" y="2561530"/>
              <a:ext cx="4165600" cy="0"/>
            </a:xfrm>
            <a:prstGeom prst="line">
              <a:avLst/>
            </a:prstGeom>
            <a:ln w="12700">
              <a:solidFill>
                <a:srgbClr val="EEF0F2"/>
              </a:solidFill>
              <a:round/>
            </a:ln>
          </p:spPr>
        </p:cxnSp>
        <p:cxnSp>
          <p:nvCxnSpPr>
            <p:cNvPr id="36" name="Line 36"/>
            <p:cNvCxnSpPr/>
            <p:nvPr/>
          </p:nvCxnSpPr>
          <p:spPr>
            <a:xfrm>
              <a:off x="1479550" y="2186880"/>
              <a:ext cx="0" cy="2286000"/>
            </a:xfrm>
            <a:prstGeom prst="line">
              <a:avLst/>
            </a:prstGeom>
            <a:ln w="12700">
              <a:solidFill>
                <a:srgbClr val="14171C"/>
              </a:solidFill>
              <a:round/>
            </a:ln>
          </p:spPr>
        </p:cxnSp>
        <p:cxnSp>
          <p:nvCxnSpPr>
            <p:cNvPr id="37" name="Line 37"/>
            <p:cNvCxnSpPr/>
            <p:nvPr/>
          </p:nvCxnSpPr>
          <p:spPr>
            <a:xfrm>
              <a:off x="1473200" y="4466530"/>
              <a:ext cx="4165600" cy="0"/>
            </a:xfrm>
            <a:prstGeom prst="line">
              <a:avLst/>
            </a:prstGeom>
            <a:ln w="12700">
              <a:solidFill>
                <a:srgbClr val="14171C"/>
              </a:solidFill>
              <a:round/>
            </a:ln>
          </p:spPr>
        </p:cxnSp>
        <p:sp>
          <p:nvSpPr>
            <p:cNvPr id="38" name="Line chart 38"/>
            <p:cNvSpPr/>
            <p:nvPr/>
          </p:nvSpPr>
          <p:spPr>
            <a:xfrm>
              <a:off x="1663700" y="2288480"/>
              <a:ext cx="3784600" cy="1987550"/>
            </a:xfrm>
            <a:custGeom>
              <a:avLst/>
              <a:gdLst/>
              <a:ahLst/>
              <a:cxnLst/>
              <a:rect l="0" t="0" r="r" b="b"/>
              <a:pathLst>
                <a:path w="3784600" h="1987550" fill="none">
                  <a:moveTo>
                    <a:pt x="0" y="1987550"/>
                  </a:moveTo>
                  <a:lnTo>
                    <a:pt x="473075" y="1790700"/>
                  </a:lnTo>
                  <a:lnTo>
                    <a:pt x="946150" y="1603375"/>
                  </a:lnTo>
                  <a:lnTo>
                    <a:pt x="1419225" y="1409700"/>
                  </a:lnTo>
                  <a:lnTo>
                    <a:pt x="1892300" y="1219200"/>
                  </a:lnTo>
                  <a:lnTo>
                    <a:pt x="2365375" y="1022350"/>
                  </a:lnTo>
                  <a:lnTo>
                    <a:pt x="2838450" y="819150"/>
                  </a:lnTo>
                  <a:lnTo>
                    <a:pt x="3311525" y="412750"/>
                  </a:lnTo>
                  <a:lnTo>
                    <a:pt x="3784600" y="0"/>
                  </a:lnTo>
                </a:path>
              </a:pathLst>
            </a:custGeom>
            <a:noFill/>
            <a:ln w="38100">
              <a:solidFill>
                <a:srgbClr val="8A9099"/>
              </a:solidFill>
              <a:round/>
            </a:ln>
          </p:spPr>
          <p:txBody>
            <a:bodyPr/>
            <a:lstStyle/>
            <a:p>
              <a:endParaRPr lang="en-US"/>
            </a:p>
          </p:txBody>
        </p:sp>
        <p:sp>
          <p:nvSpPr>
            <p:cNvPr id="39" name="Text 39"/>
            <p:cNvSpPr txBox="1"/>
            <p:nvPr/>
          </p:nvSpPr>
          <p:spPr>
            <a:xfrm>
              <a:off x="1435100" y="4574480"/>
              <a:ext cx="457200" cy="213320"/>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Jan</a:t>
              </a:r>
            </a:p>
          </p:txBody>
        </p:sp>
        <p:sp>
          <p:nvSpPr>
            <p:cNvPr id="40" name="Text 40"/>
            <p:cNvSpPr txBox="1"/>
            <p:nvPr/>
          </p:nvSpPr>
          <p:spPr>
            <a:xfrm>
              <a:off x="1908175" y="4574480"/>
              <a:ext cx="457200" cy="213320"/>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Feb</a:t>
              </a:r>
            </a:p>
          </p:txBody>
        </p:sp>
        <p:sp>
          <p:nvSpPr>
            <p:cNvPr id="41" name="Text 41"/>
            <p:cNvSpPr txBox="1"/>
            <p:nvPr/>
          </p:nvSpPr>
          <p:spPr>
            <a:xfrm>
              <a:off x="2381250" y="4574480"/>
              <a:ext cx="457200" cy="213320"/>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Mar</a:t>
              </a:r>
            </a:p>
          </p:txBody>
        </p:sp>
        <p:sp>
          <p:nvSpPr>
            <p:cNvPr id="42" name="Text 42"/>
            <p:cNvSpPr txBox="1"/>
            <p:nvPr/>
          </p:nvSpPr>
          <p:spPr>
            <a:xfrm>
              <a:off x="2854325" y="4574480"/>
              <a:ext cx="457200" cy="213320"/>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Apr</a:t>
              </a:r>
            </a:p>
          </p:txBody>
        </p:sp>
        <p:sp>
          <p:nvSpPr>
            <p:cNvPr id="43" name="Text 43"/>
            <p:cNvSpPr txBox="1"/>
            <p:nvPr/>
          </p:nvSpPr>
          <p:spPr>
            <a:xfrm>
              <a:off x="3327400" y="4574480"/>
              <a:ext cx="457200" cy="213320"/>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May</a:t>
              </a:r>
            </a:p>
          </p:txBody>
        </p:sp>
        <p:sp>
          <p:nvSpPr>
            <p:cNvPr id="44" name="Text 44"/>
            <p:cNvSpPr txBox="1"/>
            <p:nvPr/>
          </p:nvSpPr>
          <p:spPr>
            <a:xfrm>
              <a:off x="3800475" y="4574480"/>
              <a:ext cx="457200" cy="213320"/>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Jun</a:t>
              </a:r>
            </a:p>
          </p:txBody>
        </p:sp>
        <p:sp>
          <p:nvSpPr>
            <p:cNvPr id="45" name="Text 45"/>
            <p:cNvSpPr txBox="1"/>
            <p:nvPr/>
          </p:nvSpPr>
          <p:spPr>
            <a:xfrm>
              <a:off x="4273550" y="4574480"/>
              <a:ext cx="457200" cy="213320"/>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Jul</a:t>
              </a:r>
            </a:p>
          </p:txBody>
        </p:sp>
        <p:sp>
          <p:nvSpPr>
            <p:cNvPr id="46" name="Text 46"/>
            <p:cNvSpPr txBox="1"/>
            <p:nvPr/>
          </p:nvSpPr>
          <p:spPr>
            <a:xfrm>
              <a:off x="4746625" y="4574480"/>
              <a:ext cx="457200" cy="213320"/>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Aug</a:t>
              </a:r>
            </a:p>
          </p:txBody>
        </p:sp>
        <p:sp>
          <p:nvSpPr>
            <p:cNvPr id="47" name="Text 47"/>
            <p:cNvSpPr txBox="1"/>
            <p:nvPr/>
          </p:nvSpPr>
          <p:spPr>
            <a:xfrm>
              <a:off x="5219700" y="4574480"/>
              <a:ext cx="457200" cy="213320"/>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Sep</a:t>
              </a:r>
            </a:p>
          </p:txBody>
        </p:sp>
        <p:sp>
          <p:nvSpPr>
            <p:cNvPr id="48" name="Text 48"/>
            <p:cNvSpPr txBox="1"/>
            <p:nvPr/>
          </p:nvSpPr>
          <p:spPr>
            <a:xfrm>
              <a:off x="812800" y="4889401"/>
              <a:ext cx="4876800" cy="213320"/>
            </a:xfrm>
            <a:prstGeom prst="rect">
              <a:avLst/>
            </a:prstGeom>
            <a:noFill/>
            <a:ln>
              <a:noFill/>
            </a:ln>
          </p:spPr>
          <p:txBody>
            <a:bodyPr wrap="square" lIns="0" tIns="0" rIns="0" bIns="0" anchor="t">
              <a:noAutofit/>
            </a:bodyPr>
            <a:lstStyle/>
            <a:p>
              <a:pPr algn="l"/>
              <a:r>
                <a:rPr lang="en-US" sz="1200" b="0" dirty="0">
                  <a:solidFill>
                    <a:srgbClr val="4A4F57"/>
                  </a:solidFill>
                  <a:latin typeface="IBM Plex Sans"/>
                  <a:cs typeface="IBM Plex Sans"/>
                </a:rPr>
                <a:t>Total chargebacks since January</a:t>
              </a:r>
            </a:p>
          </p:txBody>
        </p:sp>
      </p:grpSp>
      <p:grpSp>
        <p:nvGrpSpPr>
          <p:cNvPr id="76" name="Chart 2"/>
          <p:cNvGrpSpPr/>
          <p:nvPr/>
        </p:nvGrpSpPr>
        <p:grpSpPr>
          <a:xfrm>
            <a:off x="0" y="0"/>
            <a:ext cx="12192000" cy="6858000"/>
            <a:chOff x="0" y="0"/>
            <a:chExt cx="12192000" cy="6858000"/>
          </a:xfrm>
        </p:grpSpPr>
        <p:sp>
          <p:nvSpPr>
            <p:cNvPr id="49" name="Text 49"/>
            <p:cNvSpPr txBox="1"/>
            <p:nvPr/>
          </p:nvSpPr>
          <p:spPr>
            <a:xfrm>
              <a:off x="6553200" y="1841500"/>
              <a:ext cx="4876800" cy="243780"/>
            </a:xfrm>
            <a:prstGeom prst="rect">
              <a:avLst/>
            </a:prstGeom>
            <a:noFill/>
            <a:ln>
              <a:noFill/>
            </a:ln>
          </p:spPr>
          <p:txBody>
            <a:bodyPr wrap="square" lIns="0" tIns="0" rIns="0" bIns="0" anchor="t">
              <a:noAutofit/>
            </a:bodyPr>
            <a:lstStyle/>
            <a:p>
              <a:pPr algn="l"/>
              <a:r>
                <a:rPr lang="en-US" sz="1600" b="1" dirty="0">
                  <a:solidFill>
                    <a:srgbClr val="1F5FBF"/>
                  </a:solidFill>
                  <a:latin typeface="IBM Plex Sans"/>
                  <a:cs typeface="IBM Plex Sans"/>
                </a:rPr>
                <a:t>Monthly: it doubled in August</a:t>
              </a:r>
            </a:p>
          </p:txBody>
        </p:sp>
        <p:sp>
          <p:nvSpPr>
            <p:cNvPr id="50" name="Text 50"/>
            <p:cNvSpPr txBox="1"/>
            <p:nvPr/>
          </p:nvSpPr>
          <p:spPr>
            <a:xfrm>
              <a:off x="6477000" y="4377630"/>
              <a:ext cx="635000" cy="213320"/>
            </a:xfrm>
            <a:prstGeom prst="rect">
              <a:avLst/>
            </a:prstGeom>
            <a:noFill/>
            <a:ln>
              <a:noFill/>
            </a:ln>
          </p:spPr>
          <p:txBody>
            <a:bodyPr wrap="none" lIns="0" tIns="0" rIns="0" bIns="0" anchor="t">
              <a:noAutofit/>
            </a:bodyPr>
            <a:lstStyle/>
            <a:p>
              <a:pPr algn="r"/>
              <a:r>
                <a:rPr lang="en-US" sz="1200" b="0" dirty="0">
                  <a:solidFill>
                    <a:srgbClr val="6B7079"/>
                  </a:solidFill>
                  <a:latin typeface="IBM Plex Sans"/>
                  <a:cs typeface="IBM Plex Sans"/>
                </a:rPr>
                <a:t>0</a:t>
              </a:r>
            </a:p>
          </p:txBody>
        </p:sp>
        <p:sp>
          <p:nvSpPr>
            <p:cNvPr id="51" name="Text 51"/>
            <p:cNvSpPr txBox="1"/>
            <p:nvPr/>
          </p:nvSpPr>
          <p:spPr>
            <a:xfrm>
              <a:off x="6477000" y="3742630"/>
              <a:ext cx="635000" cy="213320"/>
            </a:xfrm>
            <a:prstGeom prst="rect">
              <a:avLst/>
            </a:prstGeom>
            <a:noFill/>
            <a:ln>
              <a:noFill/>
            </a:ln>
          </p:spPr>
          <p:txBody>
            <a:bodyPr wrap="none" lIns="0" tIns="0" rIns="0" bIns="0" anchor="t">
              <a:noAutofit/>
            </a:bodyPr>
            <a:lstStyle/>
            <a:p>
              <a:pPr algn="r"/>
              <a:r>
                <a:rPr lang="en-US" sz="1200" b="0" dirty="0">
                  <a:solidFill>
                    <a:srgbClr val="6B7079"/>
                  </a:solidFill>
                  <a:latin typeface="IBM Plex Sans"/>
                  <a:cs typeface="IBM Plex Sans"/>
                </a:rPr>
                <a:t>200</a:t>
              </a:r>
            </a:p>
          </p:txBody>
        </p:sp>
        <p:sp>
          <p:nvSpPr>
            <p:cNvPr id="52" name="Text 52"/>
            <p:cNvSpPr txBox="1"/>
            <p:nvPr/>
          </p:nvSpPr>
          <p:spPr>
            <a:xfrm>
              <a:off x="6477000" y="3107630"/>
              <a:ext cx="635000" cy="213320"/>
            </a:xfrm>
            <a:prstGeom prst="rect">
              <a:avLst/>
            </a:prstGeom>
            <a:noFill/>
            <a:ln>
              <a:noFill/>
            </a:ln>
          </p:spPr>
          <p:txBody>
            <a:bodyPr wrap="none" lIns="0" tIns="0" rIns="0" bIns="0" anchor="t">
              <a:noAutofit/>
            </a:bodyPr>
            <a:lstStyle/>
            <a:p>
              <a:pPr algn="r"/>
              <a:r>
                <a:rPr lang="en-US" sz="1200" b="0" dirty="0">
                  <a:solidFill>
                    <a:srgbClr val="6B7079"/>
                  </a:solidFill>
                  <a:latin typeface="IBM Plex Sans"/>
                  <a:cs typeface="IBM Plex Sans"/>
                </a:rPr>
                <a:t>400</a:t>
              </a:r>
            </a:p>
          </p:txBody>
        </p:sp>
        <p:sp>
          <p:nvSpPr>
            <p:cNvPr id="53" name="Text 53"/>
            <p:cNvSpPr txBox="1"/>
            <p:nvPr/>
          </p:nvSpPr>
          <p:spPr>
            <a:xfrm>
              <a:off x="6477000" y="2472630"/>
              <a:ext cx="635000" cy="213320"/>
            </a:xfrm>
            <a:prstGeom prst="rect">
              <a:avLst/>
            </a:prstGeom>
            <a:noFill/>
            <a:ln>
              <a:noFill/>
            </a:ln>
          </p:spPr>
          <p:txBody>
            <a:bodyPr wrap="none" lIns="0" tIns="0" rIns="0" bIns="0" anchor="t">
              <a:noAutofit/>
            </a:bodyPr>
            <a:lstStyle/>
            <a:p>
              <a:pPr algn="r"/>
              <a:r>
                <a:rPr lang="en-US" sz="1200" b="0" dirty="0">
                  <a:solidFill>
                    <a:srgbClr val="6B7079"/>
                  </a:solidFill>
                  <a:latin typeface="IBM Plex Sans"/>
                  <a:cs typeface="IBM Plex Sans"/>
                </a:rPr>
                <a:t>600</a:t>
              </a:r>
            </a:p>
          </p:txBody>
        </p:sp>
        <p:cxnSp>
          <p:nvCxnSpPr>
            <p:cNvPr id="54" name="Line 54"/>
            <p:cNvCxnSpPr/>
            <p:nvPr/>
          </p:nvCxnSpPr>
          <p:spPr>
            <a:xfrm>
              <a:off x="7213600" y="4466530"/>
              <a:ext cx="4165600" cy="0"/>
            </a:xfrm>
            <a:prstGeom prst="line">
              <a:avLst/>
            </a:prstGeom>
            <a:ln w="12700">
              <a:solidFill>
                <a:srgbClr val="14171C"/>
              </a:solidFill>
              <a:round/>
            </a:ln>
          </p:spPr>
        </p:cxnSp>
        <p:cxnSp>
          <p:nvCxnSpPr>
            <p:cNvPr id="55" name="Line 55"/>
            <p:cNvCxnSpPr/>
            <p:nvPr/>
          </p:nvCxnSpPr>
          <p:spPr>
            <a:xfrm>
              <a:off x="7219950" y="2186880"/>
              <a:ext cx="0" cy="2286000"/>
            </a:xfrm>
            <a:prstGeom prst="line">
              <a:avLst/>
            </a:prstGeom>
            <a:ln w="12700">
              <a:solidFill>
                <a:srgbClr val="14171C"/>
              </a:solidFill>
              <a:round/>
            </a:ln>
          </p:spPr>
        </p:cxnSp>
        <p:sp>
          <p:nvSpPr>
            <p:cNvPr id="56" name="Rect 56"/>
            <p:cNvSpPr/>
            <p:nvPr/>
          </p:nvSpPr>
          <p:spPr>
            <a:xfrm>
              <a:off x="7264400" y="3507680"/>
              <a:ext cx="317500" cy="952500"/>
            </a:xfrm>
            <a:prstGeom prst="rect">
              <a:avLst/>
            </a:prstGeom>
            <a:solidFill>
              <a:srgbClr val="B8BCC2"/>
            </a:solidFill>
            <a:ln>
              <a:noFill/>
            </a:ln>
          </p:spPr>
          <p:txBody>
            <a:bodyPr/>
            <a:lstStyle/>
            <a:p>
              <a:endParaRPr lang="en-US"/>
            </a:p>
          </p:txBody>
        </p:sp>
        <p:sp>
          <p:nvSpPr>
            <p:cNvPr id="57" name="Rect 57"/>
            <p:cNvSpPr/>
            <p:nvPr/>
          </p:nvSpPr>
          <p:spPr>
            <a:xfrm>
              <a:off x="7734300" y="3475930"/>
              <a:ext cx="317500" cy="984250"/>
            </a:xfrm>
            <a:prstGeom prst="rect">
              <a:avLst/>
            </a:prstGeom>
            <a:solidFill>
              <a:srgbClr val="B8BCC2"/>
            </a:solidFill>
            <a:ln>
              <a:noFill/>
            </a:ln>
          </p:spPr>
          <p:txBody>
            <a:bodyPr/>
            <a:lstStyle/>
            <a:p>
              <a:endParaRPr lang="en-US"/>
            </a:p>
          </p:txBody>
        </p:sp>
        <p:sp>
          <p:nvSpPr>
            <p:cNvPr id="58" name="Rect 58"/>
            <p:cNvSpPr/>
            <p:nvPr/>
          </p:nvSpPr>
          <p:spPr>
            <a:xfrm>
              <a:off x="8204200" y="3523555"/>
              <a:ext cx="317500" cy="936625"/>
            </a:xfrm>
            <a:prstGeom prst="rect">
              <a:avLst/>
            </a:prstGeom>
            <a:solidFill>
              <a:srgbClr val="B8BCC2"/>
            </a:solidFill>
            <a:ln>
              <a:noFill/>
            </a:ln>
          </p:spPr>
          <p:txBody>
            <a:bodyPr/>
            <a:lstStyle/>
            <a:p>
              <a:endParaRPr lang="en-US"/>
            </a:p>
          </p:txBody>
        </p:sp>
        <p:sp>
          <p:nvSpPr>
            <p:cNvPr id="59" name="Rect 59"/>
            <p:cNvSpPr/>
            <p:nvPr/>
          </p:nvSpPr>
          <p:spPr>
            <a:xfrm>
              <a:off x="8674100" y="3491805"/>
              <a:ext cx="317500" cy="968375"/>
            </a:xfrm>
            <a:prstGeom prst="rect">
              <a:avLst/>
            </a:prstGeom>
            <a:solidFill>
              <a:srgbClr val="B8BCC2"/>
            </a:solidFill>
            <a:ln>
              <a:noFill/>
            </a:ln>
          </p:spPr>
          <p:txBody>
            <a:bodyPr/>
            <a:lstStyle/>
            <a:p>
              <a:endParaRPr lang="en-US"/>
            </a:p>
          </p:txBody>
        </p:sp>
        <p:sp>
          <p:nvSpPr>
            <p:cNvPr id="60" name="Rect 60"/>
            <p:cNvSpPr/>
            <p:nvPr/>
          </p:nvSpPr>
          <p:spPr>
            <a:xfrm>
              <a:off x="9144000" y="3507680"/>
              <a:ext cx="317500" cy="952500"/>
            </a:xfrm>
            <a:prstGeom prst="rect">
              <a:avLst/>
            </a:prstGeom>
            <a:solidFill>
              <a:srgbClr val="B8BCC2"/>
            </a:solidFill>
            <a:ln>
              <a:noFill/>
            </a:ln>
          </p:spPr>
          <p:txBody>
            <a:bodyPr/>
            <a:lstStyle/>
            <a:p>
              <a:endParaRPr lang="en-US"/>
            </a:p>
          </p:txBody>
        </p:sp>
        <p:sp>
          <p:nvSpPr>
            <p:cNvPr id="61" name="Rect 61"/>
            <p:cNvSpPr/>
            <p:nvPr/>
          </p:nvSpPr>
          <p:spPr>
            <a:xfrm>
              <a:off x="9613900" y="3475930"/>
              <a:ext cx="317500" cy="984250"/>
            </a:xfrm>
            <a:prstGeom prst="rect">
              <a:avLst/>
            </a:prstGeom>
            <a:solidFill>
              <a:srgbClr val="B8BCC2"/>
            </a:solidFill>
            <a:ln>
              <a:noFill/>
            </a:ln>
          </p:spPr>
          <p:txBody>
            <a:bodyPr/>
            <a:lstStyle/>
            <a:p>
              <a:endParaRPr lang="en-US"/>
            </a:p>
          </p:txBody>
        </p:sp>
        <p:sp>
          <p:nvSpPr>
            <p:cNvPr id="62" name="Rect 62"/>
            <p:cNvSpPr/>
            <p:nvPr/>
          </p:nvSpPr>
          <p:spPr>
            <a:xfrm>
              <a:off x="10083800" y="3444180"/>
              <a:ext cx="317500" cy="1016000"/>
            </a:xfrm>
            <a:prstGeom prst="rect">
              <a:avLst/>
            </a:prstGeom>
            <a:solidFill>
              <a:srgbClr val="B8BCC2"/>
            </a:solidFill>
            <a:ln>
              <a:noFill/>
            </a:ln>
          </p:spPr>
          <p:txBody>
            <a:bodyPr/>
            <a:lstStyle/>
            <a:p>
              <a:endParaRPr lang="en-US"/>
            </a:p>
          </p:txBody>
        </p:sp>
        <p:sp>
          <p:nvSpPr>
            <p:cNvPr id="63" name="Rect 63"/>
            <p:cNvSpPr/>
            <p:nvPr/>
          </p:nvSpPr>
          <p:spPr>
            <a:xfrm>
              <a:off x="10553700" y="2428180"/>
              <a:ext cx="317500" cy="2032000"/>
            </a:xfrm>
            <a:prstGeom prst="rect">
              <a:avLst/>
            </a:prstGeom>
            <a:solidFill>
              <a:srgbClr val="1F5FBF"/>
            </a:solidFill>
            <a:ln>
              <a:noFill/>
            </a:ln>
          </p:spPr>
          <p:txBody>
            <a:bodyPr/>
            <a:lstStyle/>
            <a:p>
              <a:endParaRPr lang="en-US"/>
            </a:p>
          </p:txBody>
        </p:sp>
        <p:sp>
          <p:nvSpPr>
            <p:cNvPr id="64" name="Rect 64"/>
            <p:cNvSpPr/>
            <p:nvPr/>
          </p:nvSpPr>
          <p:spPr>
            <a:xfrm>
              <a:off x="11023600" y="2396430"/>
              <a:ext cx="317500" cy="2063750"/>
            </a:xfrm>
            <a:prstGeom prst="rect">
              <a:avLst/>
            </a:prstGeom>
            <a:solidFill>
              <a:srgbClr val="1F5FBF"/>
            </a:solidFill>
            <a:ln>
              <a:noFill/>
            </a:ln>
          </p:spPr>
          <p:txBody>
            <a:bodyPr/>
            <a:lstStyle/>
            <a:p>
              <a:endParaRPr lang="en-US"/>
            </a:p>
          </p:txBody>
        </p:sp>
        <p:sp>
          <p:nvSpPr>
            <p:cNvPr id="65" name="Text 65"/>
            <p:cNvSpPr txBox="1"/>
            <p:nvPr/>
          </p:nvSpPr>
          <p:spPr>
            <a:xfrm>
              <a:off x="7226300" y="4574480"/>
              <a:ext cx="393700" cy="213320"/>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Jan</a:t>
              </a:r>
            </a:p>
          </p:txBody>
        </p:sp>
        <p:sp>
          <p:nvSpPr>
            <p:cNvPr id="66" name="Text 66"/>
            <p:cNvSpPr txBox="1"/>
            <p:nvPr/>
          </p:nvSpPr>
          <p:spPr>
            <a:xfrm>
              <a:off x="7696200" y="4574480"/>
              <a:ext cx="393700" cy="213320"/>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Feb</a:t>
              </a:r>
            </a:p>
          </p:txBody>
        </p:sp>
        <p:sp>
          <p:nvSpPr>
            <p:cNvPr id="67" name="Text 67"/>
            <p:cNvSpPr txBox="1"/>
            <p:nvPr/>
          </p:nvSpPr>
          <p:spPr>
            <a:xfrm>
              <a:off x="8166100" y="4574480"/>
              <a:ext cx="393700" cy="213320"/>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Mar</a:t>
              </a:r>
            </a:p>
          </p:txBody>
        </p:sp>
        <p:sp>
          <p:nvSpPr>
            <p:cNvPr id="68" name="Text 68"/>
            <p:cNvSpPr txBox="1"/>
            <p:nvPr/>
          </p:nvSpPr>
          <p:spPr>
            <a:xfrm>
              <a:off x="8636000" y="4574480"/>
              <a:ext cx="393700" cy="213320"/>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Apr</a:t>
              </a:r>
            </a:p>
          </p:txBody>
        </p:sp>
        <p:sp>
          <p:nvSpPr>
            <p:cNvPr id="69" name="Text 69"/>
            <p:cNvSpPr txBox="1"/>
            <p:nvPr/>
          </p:nvSpPr>
          <p:spPr>
            <a:xfrm>
              <a:off x="9105900" y="4574480"/>
              <a:ext cx="393700" cy="213320"/>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May</a:t>
              </a:r>
            </a:p>
          </p:txBody>
        </p:sp>
        <p:sp>
          <p:nvSpPr>
            <p:cNvPr id="70" name="Text 70"/>
            <p:cNvSpPr txBox="1"/>
            <p:nvPr/>
          </p:nvSpPr>
          <p:spPr>
            <a:xfrm>
              <a:off x="9575800" y="4574480"/>
              <a:ext cx="393700" cy="213320"/>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Jun</a:t>
              </a:r>
            </a:p>
          </p:txBody>
        </p:sp>
        <p:sp>
          <p:nvSpPr>
            <p:cNvPr id="71" name="Text 71"/>
            <p:cNvSpPr txBox="1"/>
            <p:nvPr/>
          </p:nvSpPr>
          <p:spPr>
            <a:xfrm>
              <a:off x="10045700" y="4574480"/>
              <a:ext cx="393700" cy="213320"/>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Jul</a:t>
              </a:r>
            </a:p>
          </p:txBody>
        </p:sp>
        <p:sp>
          <p:nvSpPr>
            <p:cNvPr id="72" name="Text 72"/>
            <p:cNvSpPr txBox="1"/>
            <p:nvPr/>
          </p:nvSpPr>
          <p:spPr>
            <a:xfrm>
              <a:off x="10515600" y="4574480"/>
              <a:ext cx="393700" cy="213320"/>
            </a:xfrm>
            <a:prstGeom prst="rect">
              <a:avLst/>
            </a:prstGeom>
            <a:noFill/>
            <a:ln>
              <a:noFill/>
            </a:ln>
          </p:spPr>
          <p:txBody>
            <a:bodyPr wrap="square" lIns="0" tIns="0" rIns="0" bIns="0" anchor="t">
              <a:noAutofit/>
            </a:bodyPr>
            <a:lstStyle/>
            <a:p>
              <a:pPr algn="ctr"/>
              <a:r>
                <a:rPr lang="en-US" sz="1200" b="0" dirty="0">
                  <a:solidFill>
                    <a:srgbClr val="14171C"/>
                  </a:solidFill>
                  <a:latin typeface="IBM Plex Sans"/>
                  <a:cs typeface="IBM Plex Sans"/>
                </a:rPr>
                <a:t>Aug</a:t>
              </a:r>
            </a:p>
          </p:txBody>
        </p:sp>
        <p:sp>
          <p:nvSpPr>
            <p:cNvPr id="73" name="Text 73"/>
            <p:cNvSpPr txBox="1"/>
            <p:nvPr/>
          </p:nvSpPr>
          <p:spPr>
            <a:xfrm>
              <a:off x="10985500" y="4574480"/>
              <a:ext cx="393700" cy="213320"/>
            </a:xfrm>
            <a:prstGeom prst="rect">
              <a:avLst/>
            </a:prstGeom>
            <a:noFill/>
            <a:ln>
              <a:noFill/>
            </a:ln>
          </p:spPr>
          <p:txBody>
            <a:bodyPr wrap="square" lIns="0" tIns="0" rIns="0" bIns="0" anchor="t">
              <a:noAutofit/>
            </a:bodyPr>
            <a:lstStyle/>
            <a:p>
              <a:pPr algn="ctr"/>
              <a:r>
                <a:rPr lang="en-US" sz="1200" b="0" dirty="0">
                  <a:solidFill>
                    <a:srgbClr val="14171C"/>
                  </a:solidFill>
                  <a:latin typeface="IBM Plex Sans"/>
                  <a:cs typeface="IBM Plex Sans"/>
                </a:rPr>
                <a:t>Sep</a:t>
              </a:r>
            </a:p>
          </p:txBody>
        </p:sp>
        <p:sp>
          <p:nvSpPr>
            <p:cNvPr id="74" name="Text 74"/>
            <p:cNvSpPr txBox="1"/>
            <p:nvPr/>
          </p:nvSpPr>
          <p:spPr>
            <a:xfrm>
              <a:off x="6553200" y="4889401"/>
              <a:ext cx="4876800" cy="213320"/>
            </a:xfrm>
            <a:prstGeom prst="rect">
              <a:avLst/>
            </a:prstGeom>
            <a:noFill/>
            <a:ln>
              <a:noFill/>
            </a:ln>
          </p:spPr>
          <p:txBody>
            <a:bodyPr wrap="square" lIns="0" tIns="0" rIns="0" bIns="0" anchor="t">
              <a:noAutofit/>
            </a:bodyPr>
            <a:lstStyle/>
            <a:p>
              <a:pPr algn="l"/>
              <a:r>
                <a:rPr lang="en-US" sz="1200" b="0" dirty="0">
                  <a:solidFill>
                    <a:srgbClr val="4A4F57"/>
                  </a:solidFill>
                  <a:latin typeface="IBM Plex Sans"/>
                  <a:cs typeface="IBM Plex Sans"/>
                </a:rPr>
                <a:t>Chargebacks added each month</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fade">
                                      <p:cBhvr>
                                        <p:cTn id="7" dur="500"/>
                                        <p:tgtEl>
                                          <p:spTgt spid="7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6"/>
                                        </p:tgtEl>
                                        <p:attrNameLst>
                                          <p:attrName>style.visibility</p:attrName>
                                        </p:attrNameLst>
                                      </p:cBhvr>
                                      <p:to>
                                        <p:strVal val="visible"/>
                                      </p:to>
                                    </p:set>
                                    <p:animEffect transition="in" filter="fade">
                                      <p:cBhvr>
                                        <p:cTn id="12"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9622B"/>
                </a:solidFill>
                <a:latin typeface="IBM Plex Sans" pitchFamily="34" charset="0"/>
                <a:ea typeface="IBM Plex Sans" pitchFamily="34" charset="-122"/>
                <a:cs typeface="IBM Plex Sans" pitchFamily="34" charset="-120"/>
              </a:rPr>
              <a:t>SPOT THE PROBLEM · 3 OF 4</a:t>
            </a:r>
            <a:endParaRPr lang="en-US" sz="1200" dirty="0"/>
          </a:p>
        </p:txBody>
      </p:sp>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171C"/>
                </a:solidFill>
                <a:latin typeface="Source Serif 4" pitchFamily="18" charset="0"/>
                <a:ea typeface="Source Serif 4" pitchFamily="18" charset="-122"/>
                <a:cs typeface="Source Serif 4" pitchFamily="18" charset="-120"/>
              </a:rPr>
              <a:t>Every map of totals is a population map</a:t>
            </a:r>
            <a:endParaRPr lang="en-US" sz="3600" dirty="0"/>
          </a:p>
        </p:txBody>
      </p:sp>
      <p:sp>
        <p:nvSpPr>
          <p:cNvPr id="38" name="Text 3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9"/>
                </a:solidFill>
                <a:latin typeface="IBM Plex Sans" pitchFamily="34" charset="0"/>
                <a:ea typeface="IBM Plex Sans" pitchFamily="34" charset="-122"/>
                <a:cs typeface="IBM Plex Sans" pitchFamily="34" charset="-120"/>
              </a:rPr>
              <a:t>15 ·</a:t>
            </a:r>
            <a:endParaRPr lang="en-US" sz="1200" dirty="0"/>
          </a:p>
        </p:txBody>
      </p:sp>
      <p:grpSp>
        <p:nvGrpSpPr>
          <p:cNvPr id="71" name="Chart 1"/>
          <p:cNvGrpSpPr/>
          <p:nvPr/>
        </p:nvGrpSpPr>
        <p:grpSpPr>
          <a:xfrm>
            <a:off x="0" y="0"/>
            <a:ext cx="12192000" cy="6858000"/>
            <a:chOff x="0" y="0"/>
            <a:chExt cx="12192000" cy="6858000"/>
          </a:xfrm>
        </p:grpSpPr>
        <p:sp>
          <p:nvSpPr>
            <p:cNvPr id="39" name="Text 39"/>
            <p:cNvSpPr txBox="1"/>
            <p:nvPr/>
          </p:nvSpPr>
          <p:spPr>
            <a:xfrm>
              <a:off x="812800" y="2200573"/>
              <a:ext cx="4941491" cy="243780"/>
            </a:xfrm>
            <a:prstGeom prst="rect">
              <a:avLst/>
            </a:prstGeom>
            <a:noFill/>
            <a:ln>
              <a:noFill/>
            </a:ln>
          </p:spPr>
          <p:txBody>
            <a:bodyPr wrap="square" lIns="0" tIns="0" rIns="0" bIns="0" anchor="t">
              <a:noAutofit/>
            </a:bodyPr>
            <a:lstStyle/>
            <a:p>
              <a:pPr algn="l"/>
              <a:r>
                <a:rPr lang="en-US" sz="1600" b="1" dirty="0">
                  <a:solidFill>
                    <a:srgbClr val="4A4F57"/>
                  </a:solidFill>
                  <a:latin typeface="IBM Plex Sans"/>
                  <a:cs typeface="IBM Plex Sans"/>
                </a:rPr>
                <a:t>Chargebacks by state (count)</a:t>
              </a:r>
            </a:p>
          </p:txBody>
        </p:sp>
        <p:sp>
          <p:nvSpPr>
            <p:cNvPr id="40" name="Text 40"/>
            <p:cNvSpPr txBox="1"/>
            <p:nvPr/>
          </p:nvSpPr>
          <p:spPr>
            <a:xfrm>
              <a:off x="812800" y="2571353"/>
              <a:ext cx="1320800" cy="284460"/>
            </a:xfrm>
            <a:prstGeom prst="rect">
              <a:avLst/>
            </a:prstGeom>
            <a:noFill/>
            <a:ln>
              <a:noFill/>
            </a:ln>
          </p:spPr>
          <p:txBody>
            <a:bodyPr wrap="square" lIns="0" tIns="0" rIns="0" bIns="0" anchor="t">
              <a:noAutofit/>
            </a:bodyPr>
            <a:lstStyle/>
            <a:p>
              <a:pPr algn="l"/>
              <a:r>
                <a:rPr lang="en-US" sz="1600" b="0" dirty="0">
                  <a:solidFill>
                    <a:srgbClr val="14171C"/>
                  </a:solidFill>
                  <a:latin typeface="IBM Plex Sans"/>
                  <a:cs typeface="IBM Plex Sans"/>
                </a:rPr>
                <a:t>California</a:t>
              </a:r>
            </a:p>
          </p:txBody>
        </p:sp>
        <p:sp>
          <p:nvSpPr>
            <p:cNvPr id="41" name="Rect 41"/>
            <p:cNvSpPr/>
            <p:nvPr/>
          </p:nvSpPr>
          <p:spPr>
            <a:xfrm>
              <a:off x="2184400" y="2573834"/>
              <a:ext cx="2794000" cy="279400"/>
            </a:xfrm>
            <a:prstGeom prst="rect">
              <a:avLst/>
            </a:prstGeom>
            <a:solidFill>
              <a:srgbClr val="8A9099"/>
            </a:solidFill>
            <a:ln>
              <a:noFill/>
            </a:ln>
          </p:spPr>
          <p:txBody>
            <a:bodyPr/>
            <a:lstStyle/>
            <a:p>
              <a:endParaRPr lang="en-US"/>
            </a:p>
          </p:txBody>
        </p:sp>
        <p:sp>
          <p:nvSpPr>
            <p:cNvPr id="42" name="Text 42"/>
            <p:cNvSpPr txBox="1"/>
            <p:nvPr/>
          </p:nvSpPr>
          <p:spPr>
            <a:xfrm>
              <a:off x="5080000" y="2571353"/>
              <a:ext cx="389830" cy="284460"/>
            </a:xfrm>
            <a:prstGeom prst="rect">
              <a:avLst/>
            </a:prstGeom>
            <a:noFill/>
            <a:ln>
              <a:noFill/>
            </a:ln>
          </p:spPr>
          <p:txBody>
            <a:bodyPr wrap="square" lIns="0" tIns="0" rIns="0" bIns="0" anchor="t">
              <a:noAutofit/>
            </a:bodyPr>
            <a:lstStyle/>
            <a:p>
              <a:pPr algn="l"/>
              <a:r>
                <a:rPr lang="en-US" sz="1600" b="0" dirty="0">
                  <a:solidFill>
                    <a:srgbClr val="14171C"/>
                  </a:solidFill>
                  <a:latin typeface="IBM Plex Sans"/>
                  <a:cs typeface="IBM Plex Sans"/>
                </a:rPr>
                <a:t>410</a:t>
              </a:r>
            </a:p>
          </p:txBody>
        </p:sp>
        <p:sp>
          <p:nvSpPr>
            <p:cNvPr id="43" name="Text 43"/>
            <p:cNvSpPr txBox="1"/>
            <p:nvPr/>
          </p:nvSpPr>
          <p:spPr>
            <a:xfrm>
              <a:off x="812800" y="2982813"/>
              <a:ext cx="1320800" cy="284460"/>
            </a:xfrm>
            <a:prstGeom prst="rect">
              <a:avLst/>
            </a:prstGeom>
            <a:noFill/>
            <a:ln>
              <a:noFill/>
            </a:ln>
          </p:spPr>
          <p:txBody>
            <a:bodyPr wrap="square" lIns="0" tIns="0" rIns="0" bIns="0" anchor="t">
              <a:noAutofit/>
            </a:bodyPr>
            <a:lstStyle/>
            <a:p>
              <a:pPr algn="l"/>
              <a:r>
                <a:rPr lang="en-US" sz="1600" b="0" dirty="0">
                  <a:solidFill>
                    <a:srgbClr val="14171C"/>
                  </a:solidFill>
                  <a:latin typeface="IBM Plex Sans"/>
                  <a:cs typeface="IBM Plex Sans"/>
                </a:rPr>
                <a:t>Texas</a:t>
              </a:r>
            </a:p>
          </p:txBody>
        </p:sp>
        <p:sp>
          <p:nvSpPr>
            <p:cNvPr id="44" name="Rect 44"/>
            <p:cNvSpPr/>
            <p:nvPr/>
          </p:nvSpPr>
          <p:spPr>
            <a:xfrm>
              <a:off x="2184400" y="2985294"/>
              <a:ext cx="1974850" cy="279400"/>
            </a:xfrm>
            <a:prstGeom prst="rect">
              <a:avLst/>
            </a:prstGeom>
            <a:solidFill>
              <a:srgbClr val="8A9099"/>
            </a:solidFill>
            <a:ln>
              <a:noFill/>
            </a:ln>
          </p:spPr>
          <p:txBody>
            <a:bodyPr/>
            <a:lstStyle/>
            <a:p>
              <a:endParaRPr lang="en-US"/>
            </a:p>
          </p:txBody>
        </p:sp>
        <p:sp>
          <p:nvSpPr>
            <p:cNvPr id="45" name="Text 45"/>
            <p:cNvSpPr txBox="1"/>
            <p:nvPr/>
          </p:nvSpPr>
          <p:spPr>
            <a:xfrm>
              <a:off x="4260850" y="2982813"/>
              <a:ext cx="389830" cy="284460"/>
            </a:xfrm>
            <a:prstGeom prst="rect">
              <a:avLst/>
            </a:prstGeom>
            <a:noFill/>
            <a:ln>
              <a:noFill/>
            </a:ln>
          </p:spPr>
          <p:txBody>
            <a:bodyPr wrap="square" lIns="0" tIns="0" rIns="0" bIns="0" anchor="t">
              <a:noAutofit/>
            </a:bodyPr>
            <a:lstStyle/>
            <a:p>
              <a:pPr algn="l"/>
              <a:r>
                <a:rPr lang="en-US" sz="1600" b="0" dirty="0">
                  <a:solidFill>
                    <a:srgbClr val="14171C"/>
                  </a:solidFill>
                  <a:latin typeface="IBM Plex Sans"/>
                  <a:cs typeface="IBM Plex Sans"/>
                </a:rPr>
                <a:t>290</a:t>
              </a:r>
            </a:p>
          </p:txBody>
        </p:sp>
        <p:sp>
          <p:nvSpPr>
            <p:cNvPr id="46" name="Text 46"/>
            <p:cNvSpPr txBox="1"/>
            <p:nvPr/>
          </p:nvSpPr>
          <p:spPr>
            <a:xfrm>
              <a:off x="812800" y="3394273"/>
              <a:ext cx="1320800" cy="284460"/>
            </a:xfrm>
            <a:prstGeom prst="rect">
              <a:avLst/>
            </a:prstGeom>
            <a:noFill/>
            <a:ln>
              <a:noFill/>
            </a:ln>
          </p:spPr>
          <p:txBody>
            <a:bodyPr wrap="square" lIns="0" tIns="0" rIns="0" bIns="0" anchor="t">
              <a:noAutofit/>
            </a:bodyPr>
            <a:lstStyle/>
            <a:p>
              <a:pPr algn="l"/>
              <a:r>
                <a:rPr lang="en-US" sz="1600" b="0" dirty="0">
                  <a:solidFill>
                    <a:srgbClr val="14171C"/>
                  </a:solidFill>
                  <a:latin typeface="IBM Plex Sans"/>
                  <a:cs typeface="IBM Plex Sans"/>
                </a:rPr>
                <a:t>Florida</a:t>
              </a:r>
            </a:p>
          </p:txBody>
        </p:sp>
        <p:sp>
          <p:nvSpPr>
            <p:cNvPr id="47" name="Rect 47"/>
            <p:cNvSpPr/>
            <p:nvPr/>
          </p:nvSpPr>
          <p:spPr>
            <a:xfrm>
              <a:off x="2184400" y="3396754"/>
              <a:ext cx="1771650" cy="279400"/>
            </a:xfrm>
            <a:prstGeom prst="rect">
              <a:avLst/>
            </a:prstGeom>
            <a:solidFill>
              <a:srgbClr val="8A9099"/>
            </a:solidFill>
            <a:ln>
              <a:noFill/>
            </a:ln>
          </p:spPr>
          <p:txBody>
            <a:bodyPr/>
            <a:lstStyle/>
            <a:p>
              <a:endParaRPr lang="en-US"/>
            </a:p>
          </p:txBody>
        </p:sp>
        <p:sp>
          <p:nvSpPr>
            <p:cNvPr id="48" name="Text 48"/>
            <p:cNvSpPr txBox="1"/>
            <p:nvPr/>
          </p:nvSpPr>
          <p:spPr>
            <a:xfrm>
              <a:off x="4057650" y="3394273"/>
              <a:ext cx="389830" cy="284460"/>
            </a:xfrm>
            <a:prstGeom prst="rect">
              <a:avLst/>
            </a:prstGeom>
            <a:noFill/>
            <a:ln>
              <a:noFill/>
            </a:ln>
          </p:spPr>
          <p:txBody>
            <a:bodyPr wrap="square" lIns="0" tIns="0" rIns="0" bIns="0" anchor="t">
              <a:noAutofit/>
            </a:bodyPr>
            <a:lstStyle/>
            <a:p>
              <a:pPr algn="l"/>
              <a:r>
                <a:rPr lang="en-US" sz="1600" b="0" dirty="0">
                  <a:solidFill>
                    <a:srgbClr val="14171C"/>
                  </a:solidFill>
                  <a:latin typeface="IBM Plex Sans"/>
                  <a:cs typeface="IBM Plex Sans"/>
                </a:rPr>
                <a:t>260</a:t>
              </a:r>
            </a:p>
          </p:txBody>
        </p:sp>
        <p:sp>
          <p:nvSpPr>
            <p:cNvPr id="49" name="Text 49"/>
            <p:cNvSpPr txBox="1"/>
            <p:nvPr/>
          </p:nvSpPr>
          <p:spPr>
            <a:xfrm>
              <a:off x="812800" y="3805734"/>
              <a:ext cx="1320800" cy="284460"/>
            </a:xfrm>
            <a:prstGeom prst="rect">
              <a:avLst/>
            </a:prstGeom>
            <a:noFill/>
            <a:ln>
              <a:noFill/>
            </a:ln>
          </p:spPr>
          <p:txBody>
            <a:bodyPr wrap="square" lIns="0" tIns="0" rIns="0" bIns="0" anchor="t">
              <a:noAutofit/>
            </a:bodyPr>
            <a:lstStyle/>
            <a:p>
              <a:pPr algn="l"/>
              <a:r>
                <a:rPr lang="en-US" sz="1600" b="0" dirty="0">
                  <a:solidFill>
                    <a:srgbClr val="14171C"/>
                  </a:solidFill>
                  <a:latin typeface="IBM Plex Sans"/>
                  <a:cs typeface="IBM Plex Sans"/>
                </a:rPr>
                <a:t>New York</a:t>
              </a:r>
            </a:p>
          </p:txBody>
        </p:sp>
        <p:sp>
          <p:nvSpPr>
            <p:cNvPr id="50" name="Rect 50"/>
            <p:cNvSpPr/>
            <p:nvPr/>
          </p:nvSpPr>
          <p:spPr>
            <a:xfrm>
              <a:off x="2184400" y="3808214"/>
              <a:ext cx="1568450" cy="279400"/>
            </a:xfrm>
            <a:prstGeom prst="rect">
              <a:avLst/>
            </a:prstGeom>
            <a:solidFill>
              <a:srgbClr val="8A9099"/>
            </a:solidFill>
            <a:ln>
              <a:noFill/>
            </a:ln>
          </p:spPr>
          <p:txBody>
            <a:bodyPr/>
            <a:lstStyle/>
            <a:p>
              <a:endParaRPr lang="en-US"/>
            </a:p>
          </p:txBody>
        </p:sp>
        <p:sp>
          <p:nvSpPr>
            <p:cNvPr id="51" name="Text 51"/>
            <p:cNvSpPr txBox="1"/>
            <p:nvPr/>
          </p:nvSpPr>
          <p:spPr>
            <a:xfrm>
              <a:off x="3854450" y="3805734"/>
              <a:ext cx="389830" cy="284460"/>
            </a:xfrm>
            <a:prstGeom prst="rect">
              <a:avLst/>
            </a:prstGeom>
            <a:noFill/>
            <a:ln>
              <a:noFill/>
            </a:ln>
          </p:spPr>
          <p:txBody>
            <a:bodyPr wrap="square" lIns="0" tIns="0" rIns="0" bIns="0" anchor="t">
              <a:noAutofit/>
            </a:bodyPr>
            <a:lstStyle/>
            <a:p>
              <a:pPr algn="l"/>
              <a:r>
                <a:rPr lang="en-US" sz="1600" b="0" dirty="0">
                  <a:solidFill>
                    <a:srgbClr val="14171C"/>
                  </a:solidFill>
                  <a:latin typeface="IBM Plex Sans"/>
                  <a:cs typeface="IBM Plex Sans"/>
                </a:rPr>
                <a:t>230</a:t>
              </a:r>
            </a:p>
          </p:txBody>
        </p:sp>
        <p:sp>
          <p:nvSpPr>
            <p:cNvPr id="52" name="Text 52"/>
            <p:cNvSpPr txBox="1"/>
            <p:nvPr/>
          </p:nvSpPr>
          <p:spPr>
            <a:xfrm>
              <a:off x="812800" y="4217194"/>
              <a:ext cx="1320800" cy="284460"/>
            </a:xfrm>
            <a:prstGeom prst="rect">
              <a:avLst/>
            </a:prstGeom>
            <a:noFill/>
            <a:ln>
              <a:noFill/>
            </a:ln>
          </p:spPr>
          <p:txBody>
            <a:bodyPr wrap="square" lIns="0" tIns="0" rIns="0" bIns="0" anchor="t">
              <a:noAutofit/>
            </a:bodyPr>
            <a:lstStyle/>
            <a:p>
              <a:pPr algn="l"/>
              <a:r>
                <a:rPr lang="en-US" sz="1600" b="0" dirty="0">
                  <a:solidFill>
                    <a:srgbClr val="14171C"/>
                  </a:solidFill>
                  <a:latin typeface="IBM Plex Sans"/>
                  <a:cs typeface="IBM Plex Sans"/>
                </a:rPr>
                <a:t>Illinois</a:t>
              </a:r>
            </a:p>
          </p:txBody>
        </p:sp>
        <p:sp>
          <p:nvSpPr>
            <p:cNvPr id="53" name="Rect 53"/>
            <p:cNvSpPr/>
            <p:nvPr/>
          </p:nvSpPr>
          <p:spPr>
            <a:xfrm>
              <a:off x="2184400" y="4219674"/>
              <a:ext cx="819150" cy="279400"/>
            </a:xfrm>
            <a:prstGeom prst="rect">
              <a:avLst/>
            </a:prstGeom>
            <a:solidFill>
              <a:srgbClr val="8A9099"/>
            </a:solidFill>
            <a:ln>
              <a:noFill/>
            </a:ln>
          </p:spPr>
          <p:txBody>
            <a:bodyPr/>
            <a:lstStyle/>
            <a:p>
              <a:endParaRPr lang="en-US"/>
            </a:p>
          </p:txBody>
        </p:sp>
        <p:sp>
          <p:nvSpPr>
            <p:cNvPr id="54" name="Text 54"/>
            <p:cNvSpPr txBox="1"/>
            <p:nvPr/>
          </p:nvSpPr>
          <p:spPr>
            <a:xfrm>
              <a:off x="3105150" y="4217194"/>
              <a:ext cx="389830" cy="284460"/>
            </a:xfrm>
            <a:prstGeom prst="rect">
              <a:avLst/>
            </a:prstGeom>
            <a:noFill/>
            <a:ln>
              <a:noFill/>
            </a:ln>
          </p:spPr>
          <p:txBody>
            <a:bodyPr wrap="square" lIns="0" tIns="0" rIns="0" bIns="0" anchor="t">
              <a:noAutofit/>
            </a:bodyPr>
            <a:lstStyle/>
            <a:p>
              <a:pPr algn="l"/>
              <a:r>
                <a:rPr lang="en-US" sz="1600" b="0" dirty="0">
                  <a:solidFill>
                    <a:srgbClr val="14171C"/>
                  </a:solidFill>
                  <a:latin typeface="IBM Plex Sans"/>
                  <a:cs typeface="IBM Plex Sans"/>
                </a:rPr>
                <a:t>120</a:t>
              </a:r>
            </a:p>
          </p:txBody>
        </p:sp>
      </p:grpSp>
      <p:grpSp>
        <p:nvGrpSpPr>
          <p:cNvPr id="72" name="Chart 2"/>
          <p:cNvGrpSpPr/>
          <p:nvPr/>
        </p:nvGrpSpPr>
        <p:grpSpPr>
          <a:xfrm>
            <a:off x="0" y="0"/>
            <a:ext cx="12192000" cy="6858000"/>
            <a:chOff x="0" y="0"/>
            <a:chExt cx="12192000" cy="6858000"/>
          </a:xfrm>
        </p:grpSpPr>
        <p:sp>
          <p:nvSpPr>
            <p:cNvPr id="55" name="Text 55"/>
            <p:cNvSpPr txBox="1"/>
            <p:nvPr/>
          </p:nvSpPr>
          <p:spPr>
            <a:xfrm>
              <a:off x="6718201" y="2021036"/>
              <a:ext cx="4711799" cy="243780"/>
            </a:xfrm>
            <a:prstGeom prst="rect">
              <a:avLst/>
            </a:prstGeom>
            <a:noFill/>
            <a:ln>
              <a:noFill/>
            </a:ln>
          </p:spPr>
          <p:txBody>
            <a:bodyPr wrap="square" lIns="0" tIns="0" rIns="0" bIns="0" anchor="t">
              <a:noAutofit/>
            </a:bodyPr>
            <a:lstStyle/>
            <a:p>
              <a:pPr algn="l"/>
              <a:r>
                <a:rPr lang="en-US" sz="1600" b="1" dirty="0">
                  <a:solidFill>
                    <a:srgbClr val="1F5FBF"/>
                  </a:solidFill>
                  <a:latin typeface="IBM Plex Sans"/>
                  <a:cs typeface="IBM Plex Sans"/>
                </a:rPr>
                <a:t>Per 1,000 orders</a:t>
              </a:r>
            </a:p>
          </p:txBody>
        </p:sp>
        <p:sp>
          <p:nvSpPr>
            <p:cNvPr id="56" name="Text 56"/>
            <p:cNvSpPr txBox="1"/>
            <p:nvPr/>
          </p:nvSpPr>
          <p:spPr>
            <a:xfrm>
              <a:off x="6718201" y="2391817"/>
              <a:ext cx="1294209" cy="284460"/>
            </a:xfrm>
            <a:prstGeom prst="rect">
              <a:avLst/>
            </a:prstGeom>
            <a:noFill/>
            <a:ln>
              <a:noFill/>
            </a:ln>
          </p:spPr>
          <p:txBody>
            <a:bodyPr wrap="square" lIns="0" tIns="0" rIns="0" bIns="0" anchor="t">
              <a:noAutofit/>
            </a:bodyPr>
            <a:lstStyle/>
            <a:p>
              <a:pPr algn="l"/>
              <a:r>
                <a:rPr lang="en-US" sz="1600" b="0" dirty="0">
                  <a:solidFill>
                    <a:srgbClr val="14171C"/>
                  </a:solidFill>
                  <a:latin typeface="IBM Plex Sans"/>
                  <a:cs typeface="IBM Plex Sans"/>
                </a:rPr>
                <a:t>Nevada</a:t>
              </a:r>
            </a:p>
          </p:txBody>
        </p:sp>
        <p:sp>
          <p:nvSpPr>
            <p:cNvPr id="57" name="Rect 57"/>
            <p:cNvSpPr/>
            <p:nvPr/>
          </p:nvSpPr>
          <p:spPr>
            <a:xfrm>
              <a:off x="8063210" y="2394297"/>
              <a:ext cx="2735560" cy="279400"/>
            </a:xfrm>
            <a:prstGeom prst="rect">
              <a:avLst/>
            </a:prstGeom>
            <a:solidFill>
              <a:srgbClr val="1F5FBF"/>
            </a:solidFill>
            <a:ln>
              <a:noFill/>
            </a:ln>
          </p:spPr>
          <p:txBody>
            <a:bodyPr/>
            <a:lstStyle/>
            <a:p>
              <a:endParaRPr lang="en-US"/>
            </a:p>
          </p:txBody>
        </p:sp>
        <p:sp>
          <p:nvSpPr>
            <p:cNvPr id="58" name="Text 58"/>
            <p:cNvSpPr txBox="1"/>
            <p:nvPr/>
          </p:nvSpPr>
          <p:spPr>
            <a:xfrm>
              <a:off x="10900370" y="2391817"/>
              <a:ext cx="529530" cy="284460"/>
            </a:xfrm>
            <a:prstGeom prst="rect">
              <a:avLst/>
            </a:prstGeom>
            <a:noFill/>
            <a:ln>
              <a:noFill/>
            </a:ln>
          </p:spPr>
          <p:txBody>
            <a:bodyPr wrap="square" lIns="0" tIns="0" rIns="0" bIns="0" anchor="t">
              <a:noAutofit/>
            </a:bodyPr>
            <a:lstStyle/>
            <a:p>
              <a:pPr algn="l"/>
              <a:r>
                <a:rPr lang="en-US" sz="1600" b="0" dirty="0">
                  <a:solidFill>
                    <a:srgbClr val="14171C"/>
                  </a:solidFill>
                  <a:latin typeface="IBM Plex Sans"/>
                  <a:cs typeface="IBM Plex Sans"/>
                </a:rPr>
                <a:t>14.2</a:t>
              </a:r>
            </a:p>
          </p:txBody>
        </p:sp>
        <p:sp>
          <p:nvSpPr>
            <p:cNvPr id="59" name="Text 59"/>
            <p:cNvSpPr txBox="1"/>
            <p:nvPr/>
          </p:nvSpPr>
          <p:spPr>
            <a:xfrm>
              <a:off x="6718201" y="2803277"/>
              <a:ext cx="1320800" cy="284460"/>
            </a:xfrm>
            <a:prstGeom prst="rect">
              <a:avLst/>
            </a:prstGeom>
            <a:noFill/>
            <a:ln>
              <a:noFill/>
            </a:ln>
          </p:spPr>
          <p:txBody>
            <a:bodyPr wrap="square" lIns="0" tIns="0" rIns="0" bIns="0" anchor="t">
              <a:noAutofit/>
            </a:bodyPr>
            <a:lstStyle/>
            <a:p>
              <a:pPr algn="l"/>
              <a:r>
                <a:rPr lang="en-US" sz="1600" b="0" dirty="0">
                  <a:solidFill>
                    <a:srgbClr val="14171C"/>
                  </a:solidFill>
                  <a:latin typeface="IBM Plex Sans"/>
                  <a:cs typeface="IBM Plex Sans"/>
                </a:rPr>
                <a:t>Florida</a:t>
              </a:r>
            </a:p>
          </p:txBody>
        </p:sp>
        <p:sp>
          <p:nvSpPr>
            <p:cNvPr id="60" name="Rect 60"/>
            <p:cNvSpPr/>
            <p:nvPr/>
          </p:nvSpPr>
          <p:spPr>
            <a:xfrm>
              <a:off x="8089801" y="2805757"/>
              <a:ext cx="2324100" cy="279400"/>
            </a:xfrm>
            <a:prstGeom prst="rect">
              <a:avLst/>
            </a:prstGeom>
            <a:solidFill>
              <a:srgbClr val="8A9099"/>
            </a:solidFill>
            <a:ln>
              <a:noFill/>
            </a:ln>
          </p:spPr>
          <p:txBody>
            <a:bodyPr/>
            <a:lstStyle/>
            <a:p>
              <a:endParaRPr lang="en-US"/>
            </a:p>
          </p:txBody>
        </p:sp>
        <p:sp>
          <p:nvSpPr>
            <p:cNvPr id="61" name="Text 61"/>
            <p:cNvSpPr txBox="1"/>
            <p:nvPr/>
          </p:nvSpPr>
          <p:spPr>
            <a:xfrm>
              <a:off x="10515501" y="2803277"/>
              <a:ext cx="431205" cy="284460"/>
            </a:xfrm>
            <a:prstGeom prst="rect">
              <a:avLst/>
            </a:prstGeom>
            <a:noFill/>
            <a:ln>
              <a:noFill/>
            </a:ln>
          </p:spPr>
          <p:txBody>
            <a:bodyPr wrap="square" lIns="0" tIns="0" rIns="0" bIns="0" anchor="t">
              <a:noAutofit/>
            </a:bodyPr>
            <a:lstStyle/>
            <a:p>
              <a:pPr algn="l"/>
              <a:r>
                <a:rPr lang="en-US" sz="1600" b="0" dirty="0">
                  <a:solidFill>
                    <a:srgbClr val="14171C"/>
                  </a:solidFill>
                  <a:latin typeface="IBM Plex Sans"/>
                  <a:cs typeface="IBM Plex Sans"/>
                </a:rPr>
                <a:t>11.8</a:t>
              </a:r>
            </a:p>
          </p:txBody>
        </p:sp>
        <p:sp>
          <p:nvSpPr>
            <p:cNvPr id="62" name="Text 62"/>
            <p:cNvSpPr txBox="1"/>
            <p:nvPr/>
          </p:nvSpPr>
          <p:spPr>
            <a:xfrm>
              <a:off x="6718201" y="3214737"/>
              <a:ext cx="1320800" cy="284460"/>
            </a:xfrm>
            <a:prstGeom prst="rect">
              <a:avLst/>
            </a:prstGeom>
            <a:noFill/>
            <a:ln>
              <a:noFill/>
            </a:ln>
          </p:spPr>
          <p:txBody>
            <a:bodyPr wrap="square" lIns="0" tIns="0" rIns="0" bIns="0" anchor="t">
              <a:noAutofit/>
            </a:bodyPr>
            <a:lstStyle/>
            <a:p>
              <a:pPr algn="l"/>
              <a:r>
                <a:rPr lang="en-US" sz="1600" b="0" dirty="0">
                  <a:solidFill>
                    <a:srgbClr val="14171C"/>
                  </a:solidFill>
                  <a:latin typeface="IBM Plex Sans"/>
                  <a:cs typeface="IBM Plex Sans"/>
                </a:rPr>
                <a:t>Arizona</a:t>
              </a:r>
            </a:p>
          </p:txBody>
        </p:sp>
        <p:sp>
          <p:nvSpPr>
            <p:cNvPr id="63" name="Rect 63"/>
            <p:cNvSpPr/>
            <p:nvPr/>
          </p:nvSpPr>
          <p:spPr>
            <a:xfrm>
              <a:off x="8089801" y="3217218"/>
              <a:ext cx="2146300" cy="279400"/>
            </a:xfrm>
            <a:prstGeom prst="rect">
              <a:avLst/>
            </a:prstGeom>
            <a:solidFill>
              <a:srgbClr val="8A9099"/>
            </a:solidFill>
            <a:ln>
              <a:noFill/>
            </a:ln>
          </p:spPr>
          <p:txBody>
            <a:bodyPr/>
            <a:lstStyle/>
            <a:p>
              <a:endParaRPr lang="en-US"/>
            </a:p>
          </p:txBody>
        </p:sp>
        <p:sp>
          <p:nvSpPr>
            <p:cNvPr id="64" name="Text 64"/>
            <p:cNvSpPr txBox="1"/>
            <p:nvPr/>
          </p:nvSpPr>
          <p:spPr>
            <a:xfrm>
              <a:off x="10337701" y="3214737"/>
              <a:ext cx="446286" cy="284460"/>
            </a:xfrm>
            <a:prstGeom prst="rect">
              <a:avLst/>
            </a:prstGeom>
            <a:noFill/>
            <a:ln>
              <a:noFill/>
            </a:ln>
          </p:spPr>
          <p:txBody>
            <a:bodyPr wrap="square" lIns="0" tIns="0" rIns="0" bIns="0" anchor="t">
              <a:noAutofit/>
            </a:bodyPr>
            <a:lstStyle/>
            <a:p>
              <a:pPr algn="l"/>
              <a:r>
                <a:rPr lang="en-US" sz="1600" b="0" dirty="0">
                  <a:solidFill>
                    <a:srgbClr val="14171C"/>
                  </a:solidFill>
                  <a:latin typeface="IBM Plex Sans"/>
                  <a:cs typeface="IBM Plex Sans"/>
                </a:rPr>
                <a:t>10.9</a:t>
              </a:r>
            </a:p>
          </p:txBody>
        </p:sp>
        <p:sp>
          <p:nvSpPr>
            <p:cNvPr id="65" name="Text 65"/>
            <p:cNvSpPr txBox="1"/>
            <p:nvPr/>
          </p:nvSpPr>
          <p:spPr>
            <a:xfrm>
              <a:off x="6718201" y="3626197"/>
              <a:ext cx="1320800" cy="284460"/>
            </a:xfrm>
            <a:prstGeom prst="rect">
              <a:avLst/>
            </a:prstGeom>
            <a:noFill/>
            <a:ln>
              <a:noFill/>
            </a:ln>
          </p:spPr>
          <p:txBody>
            <a:bodyPr wrap="square" lIns="0" tIns="0" rIns="0" bIns="0" anchor="t">
              <a:noAutofit/>
            </a:bodyPr>
            <a:lstStyle/>
            <a:p>
              <a:pPr algn="l"/>
              <a:r>
                <a:rPr lang="en-US" sz="1600" b="0" dirty="0">
                  <a:solidFill>
                    <a:srgbClr val="14171C"/>
                  </a:solidFill>
                  <a:latin typeface="IBM Plex Sans"/>
                  <a:cs typeface="IBM Plex Sans"/>
                </a:rPr>
                <a:t>Georgia</a:t>
              </a:r>
            </a:p>
          </p:txBody>
        </p:sp>
        <p:sp>
          <p:nvSpPr>
            <p:cNvPr id="66" name="Rect 66"/>
            <p:cNvSpPr/>
            <p:nvPr/>
          </p:nvSpPr>
          <p:spPr>
            <a:xfrm>
              <a:off x="8089801" y="3628678"/>
              <a:ext cx="1911350" cy="279400"/>
            </a:xfrm>
            <a:prstGeom prst="rect">
              <a:avLst/>
            </a:prstGeom>
            <a:solidFill>
              <a:srgbClr val="8A9099"/>
            </a:solidFill>
            <a:ln>
              <a:noFill/>
            </a:ln>
          </p:spPr>
          <p:txBody>
            <a:bodyPr/>
            <a:lstStyle/>
            <a:p>
              <a:endParaRPr lang="en-US"/>
            </a:p>
          </p:txBody>
        </p:sp>
        <p:sp>
          <p:nvSpPr>
            <p:cNvPr id="67" name="Text 67"/>
            <p:cNvSpPr txBox="1"/>
            <p:nvPr/>
          </p:nvSpPr>
          <p:spPr>
            <a:xfrm>
              <a:off x="10102751" y="3626197"/>
              <a:ext cx="333276" cy="284460"/>
            </a:xfrm>
            <a:prstGeom prst="rect">
              <a:avLst/>
            </a:prstGeom>
            <a:noFill/>
            <a:ln>
              <a:noFill/>
            </a:ln>
          </p:spPr>
          <p:txBody>
            <a:bodyPr wrap="square" lIns="0" tIns="0" rIns="0" bIns="0" anchor="t">
              <a:noAutofit/>
            </a:bodyPr>
            <a:lstStyle/>
            <a:p>
              <a:pPr algn="l"/>
              <a:r>
                <a:rPr lang="en-US" sz="1600" b="0" dirty="0">
                  <a:solidFill>
                    <a:srgbClr val="14171C"/>
                  </a:solidFill>
                  <a:latin typeface="IBM Plex Sans"/>
                  <a:cs typeface="IBM Plex Sans"/>
                </a:rPr>
                <a:t>9.7</a:t>
              </a:r>
            </a:p>
          </p:txBody>
        </p:sp>
        <p:sp>
          <p:nvSpPr>
            <p:cNvPr id="68" name="Text 68"/>
            <p:cNvSpPr txBox="1"/>
            <p:nvPr/>
          </p:nvSpPr>
          <p:spPr>
            <a:xfrm>
              <a:off x="6718201" y="4037657"/>
              <a:ext cx="1320800" cy="284460"/>
            </a:xfrm>
            <a:prstGeom prst="rect">
              <a:avLst/>
            </a:prstGeom>
            <a:noFill/>
            <a:ln>
              <a:noFill/>
            </a:ln>
          </p:spPr>
          <p:txBody>
            <a:bodyPr wrap="square" lIns="0" tIns="0" rIns="0" bIns="0" anchor="t">
              <a:noAutofit/>
            </a:bodyPr>
            <a:lstStyle/>
            <a:p>
              <a:pPr algn="l"/>
              <a:r>
                <a:rPr lang="en-US" sz="1600" b="0" dirty="0">
                  <a:solidFill>
                    <a:srgbClr val="14171C"/>
                  </a:solidFill>
                  <a:latin typeface="IBM Plex Sans"/>
                  <a:cs typeface="IBM Plex Sans"/>
                </a:rPr>
                <a:t>Texas</a:t>
              </a:r>
            </a:p>
          </p:txBody>
        </p:sp>
        <p:sp>
          <p:nvSpPr>
            <p:cNvPr id="69" name="Rect 69"/>
            <p:cNvSpPr/>
            <p:nvPr/>
          </p:nvSpPr>
          <p:spPr>
            <a:xfrm>
              <a:off x="8089801" y="4040138"/>
              <a:ext cx="1593850" cy="279400"/>
            </a:xfrm>
            <a:prstGeom prst="rect">
              <a:avLst/>
            </a:prstGeom>
            <a:solidFill>
              <a:srgbClr val="8A9099"/>
            </a:solidFill>
            <a:ln>
              <a:noFill/>
            </a:ln>
          </p:spPr>
          <p:txBody>
            <a:bodyPr/>
            <a:lstStyle/>
            <a:p>
              <a:endParaRPr lang="en-US"/>
            </a:p>
          </p:txBody>
        </p:sp>
        <p:sp>
          <p:nvSpPr>
            <p:cNvPr id="70" name="Text 70"/>
            <p:cNvSpPr txBox="1"/>
            <p:nvPr/>
          </p:nvSpPr>
          <p:spPr>
            <a:xfrm>
              <a:off x="9785251" y="4037657"/>
              <a:ext cx="333276" cy="284460"/>
            </a:xfrm>
            <a:prstGeom prst="rect">
              <a:avLst/>
            </a:prstGeom>
            <a:noFill/>
            <a:ln>
              <a:noFill/>
            </a:ln>
          </p:spPr>
          <p:txBody>
            <a:bodyPr wrap="square" lIns="0" tIns="0" rIns="0" bIns="0" anchor="t">
              <a:noAutofit/>
            </a:bodyPr>
            <a:lstStyle/>
            <a:p>
              <a:pPr algn="l"/>
              <a:r>
                <a:rPr lang="en-US" sz="1600" b="0" dirty="0">
                  <a:solidFill>
                    <a:srgbClr val="14171C"/>
                  </a:solidFill>
                  <a:latin typeface="IBM Plex Sans"/>
                  <a:cs typeface="IBM Plex Sans"/>
                </a:rPr>
                <a:t>8.1</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fade">
                                      <p:cBhvr>
                                        <p:cTn id="7" dur="500"/>
                                        <p:tgtEl>
                                          <p:spTgt spid="7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2"/>
                                        </p:tgtEl>
                                        <p:attrNameLst>
                                          <p:attrName>style.visibility</p:attrName>
                                        </p:attrNameLst>
                                      </p:cBhvr>
                                      <p:to>
                                        <p:strVal val="visible"/>
                                      </p:to>
                                    </p:set>
                                    <p:animEffect transition="in" filter="fade">
                                      <p:cBhvr>
                                        <p:cTn id="12"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9622B"/>
                </a:solidFill>
                <a:latin typeface="IBM Plex Sans" pitchFamily="34" charset="0"/>
                <a:ea typeface="IBM Plex Sans" pitchFamily="34" charset="-122"/>
                <a:cs typeface="IBM Plex Sans" pitchFamily="34" charset="-120"/>
              </a:rPr>
              <a:t>SPOT THE PROBLEM · 4 OF 4</a:t>
            </a:r>
            <a:endParaRPr lang="en-US" sz="1200" dirty="0"/>
          </a:p>
        </p:txBody>
      </p:sp>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171C"/>
                </a:solidFill>
                <a:latin typeface="Source Serif 4" pitchFamily="18" charset="0"/>
                <a:ea typeface="Source Serif 4" pitchFamily="18" charset="-122"/>
                <a:cs typeface="Source Serif 4" pitchFamily="18" charset="-120"/>
              </a:rPr>
              <a:t>The dual axis: the crossing means nothing</a:t>
            </a:r>
            <a:endParaRPr lang="en-US" sz="3600" dirty="0"/>
          </a:p>
        </p:txBody>
      </p:sp>
      <p:sp>
        <p:nvSpPr>
          <p:cNvPr id="10" name="Text 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9"/>
                </a:solidFill>
                <a:latin typeface="IBM Plex Sans" pitchFamily="34" charset="0"/>
                <a:ea typeface="IBM Plex Sans" pitchFamily="34" charset="-122"/>
                <a:cs typeface="IBM Plex Sans" pitchFamily="34" charset="-120"/>
              </a:rPr>
              <a:t>16 ·</a:t>
            </a:r>
            <a:endParaRPr lang="en-US" sz="1200" dirty="0"/>
          </a:p>
        </p:txBody>
      </p:sp>
      <p:grpSp>
        <p:nvGrpSpPr>
          <p:cNvPr id="47" name="Chart 1"/>
          <p:cNvGrpSpPr/>
          <p:nvPr/>
        </p:nvGrpSpPr>
        <p:grpSpPr>
          <a:xfrm>
            <a:off x="736601" y="2080420"/>
            <a:ext cx="4978400" cy="2915840"/>
            <a:chOff x="736600" y="1651000"/>
            <a:chExt cx="4978400" cy="2915840"/>
          </a:xfrm>
        </p:grpSpPr>
        <p:sp>
          <p:nvSpPr>
            <p:cNvPr id="11" name="Text 11"/>
            <p:cNvSpPr txBox="1"/>
            <p:nvPr/>
          </p:nvSpPr>
          <p:spPr>
            <a:xfrm>
              <a:off x="812800" y="1651000"/>
              <a:ext cx="1008062" cy="213320"/>
            </a:xfrm>
            <a:prstGeom prst="rect">
              <a:avLst/>
            </a:prstGeom>
            <a:noFill/>
            <a:ln>
              <a:noFill/>
            </a:ln>
          </p:spPr>
          <p:txBody>
            <a:bodyPr wrap="square" lIns="0" tIns="0" rIns="0" bIns="0" anchor="t">
              <a:noAutofit/>
            </a:bodyPr>
            <a:lstStyle/>
            <a:p>
              <a:pPr algn="l"/>
              <a:r>
                <a:rPr lang="en-US" sz="1200" b="1" dirty="0">
                  <a:solidFill>
                    <a:srgbClr val="1F5FBF"/>
                  </a:solidFill>
                  <a:latin typeface="IBM Plex Sans"/>
                  <a:cs typeface="IBM Plex Sans"/>
                </a:rPr>
                <a:t>Chargebacks</a:t>
              </a:r>
            </a:p>
          </p:txBody>
        </p:sp>
        <p:sp>
          <p:nvSpPr>
            <p:cNvPr id="12" name="Text 12"/>
            <p:cNvSpPr txBox="1"/>
            <p:nvPr/>
          </p:nvSpPr>
          <p:spPr>
            <a:xfrm>
              <a:off x="5003502" y="1651000"/>
              <a:ext cx="686098" cy="213320"/>
            </a:xfrm>
            <a:prstGeom prst="rect">
              <a:avLst/>
            </a:prstGeom>
            <a:noFill/>
            <a:ln>
              <a:noFill/>
            </a:ln>
          </p:spPr>
          <p:txBody>
            <a:bodyPr wrap="square" lIns="0" tIns="0" rIns="0" bIns="0" anchor="t">
              <a:noAutofit/>
            </a:bodyPr>
            <a:lstStyle/>
            <a:p>
              <a:pPr algn="l"/>
              <a:r>
                <a:rPr lang="en-US" sz="1200" b="1" dirty="0">
                  <a:solidFill>
                    <a:srgbClr val="6B7079"/>
                  </a:solidFill>
                  <a:latin typeface="IBM Plex Sans"/>
                  <a:cs typeface="IBM Plex Sans"/>
                </a:rPr>
                <a:t>Revenue</a:t>
              </a:r>
            </a:p>
          </p:txBody>
        </p:sp>
        <p:sp>
          <p:nvSpPr>
            <p:cNvPr id="13" name="Text 13"/>
            <p:cNvSpPr txBox="1"/>
            <p:nvPr/>
          </p:nvSpPr>
          <p:spPr>
            <a:xfrm>
              <a:off x="736600" y="3902670"/>
              <a:ext cx="533400" cy="213320"/>
            </a:xfrm>
            <a:prstGeom prst="rect">
              <a:avLst/>
            </a:prstGeom>
            <a:noFill/>
            <a:ln>
              <a:noFill/>
            </a:ln>
          </p:spPr>
          <p:txBody>
            <a:bodyPr wrap="none" lIns="0" tIns="0" rIns="0" bIns="0" anchor="t">
              <a:noAutofit/>
            </a:bodyPr>
            <a:lstStyle/>
            <a:p>
              <a:pPr algn="r"/>
              <a:r>
                <a:rPr lang="en-US" sz="1200" b="0" dirty="0">
                  <a:solidFill>
                    <a:srgbClr val="1F5FBF"/>
                  </a:solidFill>
                  <a:latin typeface="IBM Plex Sans"/>
                  <a:cs typeface="IBM Plex Sans"/>
                </a:rPr>
                <a:t>400</a:t>
              </a:r>
            </a:p>
          </p:txBody>
        </p:sp>
        <p:sp>
          <p:nvSpPr>
            <p:cNvPr id="14" name="Text 14"/>
            <p:cNvSpPr txBox="1"/>
            <p:nvPr/>
          </p:nvSpPr>
          <p:spPr>
            <a:xfrm>
              <a:off x="736600" y="3267670"/>
              <a:ext cx="533400" cy="213320"/>
            </a:xfrm>
            <a:prstGeom prst="rect">
              <a:avLst/>
            </a:prstGeom>
            <a:noFill/>
            <a:ln>
              <a:noFill/>
            </a:ln>
          </p:spPr>
          <p:txBody>
            <a:bodyPr wrap="none" lIns="0" tIns="0" rIns="0" bIns="0" anchor="t">
              <a:noAutofit/>
            </a:bodyPr>
            <a:lstStyle/>
            <a:p>
              <a:pPr algn="r"/>
              <a:r>
                <a:rPr lang="en-US" sz="1200" b="0" dirty="0">
                  <a:solidFill>
                    <a:srgbClr val="1F5FBF"/>
                  </a:solidFill>
                  <a:latin typeface="IBM Plex Sans"/>
                  <a:cs typeface="IBM Plex Sans"/>
                </a:rPr>
                <a:t>450</a:t>
              </a:r>
            </a:p>
          </p:txBody>
        </p:sp>
        <p:sp>
          <p:nvSpPr>
            <p:cNvPr id="15" name="Text 15"/>
            <p:cNvSpPr txBox="1"/>
            <p:nvPr/>
          </p:nvSpPr>
          <p:spPr>
            <a:xfrm>
              <a:off x="736600" y="2632670"/>
              <a:ext cx="533400" cy="213320"/>
            </a:xfrm>
            <a:prstGeom prst="rect">
              <a:avLst/>
            </a:prstGeom>
            <a:noFill/>
            <a:ln>
              <a:noFill/>
            </a:ln>
          </p:spPr>
          <p:txBody>
            <a:bodyPr wrap="none" lIns="0" tIns="0" rIns="0" bIns="0" anchor="t">
              <a:noAutofit/>
            </a:bodyPr>
            <a:lstStyle/>
            <a:p>
              <a:pPr algn="r"/>
              <a:r>
                <a:rPr lang="en-US" sz="1200" b="0" dirty="0">
                  <a:solidFill>
                    <a:srgbClr val="1F5FBF"/>
                  </a:solidFill>
                  <a:latin typeface="IBM Plex Sans"/>
                  <a:cs typeface="IBM Plex Sans"/>
                </a:rPr>
                <a:t>500</a:t>
              </a:r>
            </a:p>
          </p:txBody>
        </p:sp>
        <p:sp>
          <p:nvSpPr>
            <p:cNvPr id="16" name="Text 16"/>
            <p:cNvSpPr txBox="1"/>
            <p:nvPr/>
          </p:nvSpPr>
          <p:spPr>
            <a:xfrm>
              <a:off x="736600" y="1997670"/>
              <a:ext cx="533400" cy="213320"/>
            </a:xfrm>
            <a:prstGeom prst="rect">
              <a:avLst/>
            </a:prstGeom>
            <a:noFill/>
            <a:ln>
              <a:noFill/>
            </a:ln>
          </p:spPr>
          <p:txBody>
            <a:bodyPr wrap="none" lIns="0" tIns="0" rIns="0" bIns="0" anchor="t">
              <a:noAutofit/>
            </a:bodyPr>
            <a:lstStyle/>
            <a:p>
              <a:pPr algn="r"/>
              <a:r>
                <a:rPr lang="en-US" sz="1200" b="0" dirty="0">
                  <a:solidFill>
                    <a:srgbClr val="1F5FBF"/>
                  </a:solidFill>
                  <a:latin typeface="IBM Plex Sans"/>
                  <a:cs typeface="IBM Plex Sans"/>
                </a:rPr>
                <a:t>550</a:t>
              </a:r>
            </a:p>
          </p:txBody>
        </p:sp>
        <p:cxnSp>
          <p:nvCxnSpPr>
            <p:cNvPr id="17" name="Line 17"/>
            <p:cNvCxnSpPr/>
            <p:nvPr/>
          </p:nvCxnSpPr>
          <p:spPr>
            <a:xfrm>
              <a:off x="1352550" y="1965920"/>
              <a:ext cx="0" cy="2286000"/>
            </a:xfrm>
            <a:prstGeom prst="line">
              <a:avLst/>
            </a:prstGeom>
            <a:ln w="12700">
              <a:solidFill>
                <a:srgbClr val="14171C"/>
              </a:solidFill>
              <a:round/>
            </a:ln>
          </p:spPr>
        </p:cxnSp>
        <p:cxnSp>
          <p:nvCxnSpPr>
            <p:cNvPr id="18" name="Line 18"/>
            <p:cNvCxnSpPr/>
            <p:nvPr/>
          </p:nvCxnSpPr>
          <p:spPr>
            <a:xfrm>
              <a:off x="5099050" y="1965920"/>
              <a:ext cx="0" cy="2286000"/>
            </a:xfrm>
            <a:prstGeom prst="line">
              <a:avLst/>
            </a:prstGeom>
            <a:ln w="12700">
              <a:solidFill>
                <a:srgbClr val="14171C"/>
              </a:solidFill>
              <a:round/>
            </a:ln>
          </p:spPr>
        </p:cxnSp>
        <p:cxnSp>
          <p:nvCxnSpPr>
            <p:cNvPr id="19" name="Line 19"/>
            <p:cNvCxnSpPr/>
            <p:nvPr/>
          </p:nvCxnSpPr>
          <p:spPr>
            <a:xfrm>
              <a:off x="1346200" y="4245570"/>
              <a:ext cx="3759200" cy="0"/>
            </a:xfrm>
            <a:prstGeom prst="line">
              <a:avLst/>
            </a:prstGeom>
            <a:ln w="12700">
              <a:solidFill>
                <a:srgbClr val="14171C"/>
              </a:solidFill>
              <a:round/>
            </a:ln>
          </p:spPr>
        </p:cxnSp>
        <p:sp>
          <p:nvSpPr>
            <p:cNvPr id="20" name="Line chart 20"/>
            <p:cNvSpPr/>
            <p:nvPr/>
          </p:nvSpPr>
          <p:spPr>
            <a:xfrm>
              <a:off x="1600200" y="2183725"/>
              <a:ext cx="3251200" cy="979805"/>
            </a:xfrm>
            <a:custGeom>
              <a:avLst/>
              <a:gdLst/>
              <a:ahLst/>
              <a:cxnLst/>
              <a:rect l="0" t="0" r="r" b="b"/>
              <a:pathLst>
                <a:path w="3251200" h="979805" fill="none">
                  <a:moveTo>
                    <a:pt x="0" y="979805"/>
                  </a:moveTo>
                  <a:lnTo>
                    <a:pt x="812800" y="762000"/>
                  </a:lnTo>
                  <a:lnTo>
                    <a:pt x="1625600" y="489585"/>
                  </a:lnTo>
                  <a:lnTo>
                    <a:pt x="2438400" y="271780"/>
                  </a:lnTo>
                  <a:lnTo>
                    <a:pt x="3251200" y="0"/>
                  </a:lnTo>
                </a:path>
              </a:pathLst>
            </a:custGeom>
            <a:noFill/>
            <a:ln w="38100">
              <a:solidFill>
                <a:srgbClr val="8A9099"/>
              </a:solidFill>
              <a:round/>
            </a:ln>
          </p:spPr>
          <p:txBody>
            <a:bodyPr/>
            <a:lstStyle/>
            <a:p>
              <a:endParaRPr lang="en-US"/>
            </a:p>
          </p:txBody>
        </p:sp>
        <p:sp>
          <p:nvSpPr>
            <p:cNvPr id="21" name="Line chart 21"/>
            <p:cNvSpPr/>
            <p:nvPr/>
          </p:nvSpPr>
          <p:spPr>
            <a:xfrm>
              <a:off x="1600200" y="2067520"/>
              <a:ext cx="3251200" cy="1930400"/>
            </a:xfrm>
            <a:custGeom>
              <a:avLst/>
              <a:gdLst/>
              <a:ahLst/>
              <a:cxnLst/>
              <a:rect l="0" t="0" r="r" b="b"/>
              <a:pathLst>
                <a:path w="3251200" h="1930400" fill="none">
                  <a:moveTo>
                    <a:pt x="0" y="1930400"/>
                  </a:moveTo>
                  <a:lnTo>
                    <a:pt x="812800" y="1524000"/>
                  </a:lnTo>
                  <a:lnTo>
                    <a:pt x="1625600" y="1016000"/>
                  </a:lnTo>
                  <a:lnTo>
                    <a:pt x="2438400" y="508000"/>
                  </a:lnTo>
                  <a:lnTo>
                    <a:pt x="3251200" y="0"/>
                  </a:lnTo>
                </a:path>
              </a:pathLst>
            </a:custGeom>
            <a:noFill/>
            <a:ln w="38100">
              <a:solidFill>
                <a:srgbClr val="1F5FBF"/>
              </a:solidFill>
              <a:round/>
            </a:ln>
          </p:spPr>
          <p:txBody>
            <a:bodyPr/>
            <a:lstStyle/>
            <a:p>
              <a:endParaRPr lang="en-US"/>
            </a:p>
          </p:txBody>
        </p:sp>
        <p:sp>
          <p:nvSpPr>
            <p:cNvPr id="22" name="Text 22"/>
            <p:cNvSpPr txBox="1"/>
            <p:nvPr/>
          </p:nvSpPr>
          <p:spPr>
            <a:xfrm>
              <a:off x="5181600" y="3610570"/>
              <a:ext cx="533400" cy="213320"/>
            </a:xfrm>
            <a:prstGeom prst="rect">
              <a:avLst/>
            </a:prstGeom>
            <a:noFill/>
            <a:ln>
              <a:noFill/>
            </a:ln>
          </p:spPr>
          <p:txBody>
            <a:bodyPr wrap="none" lIns="0" tIns="0" rIns="0" bIns="0" anchor="t">
              <a:noAutofit/>
            </a:bodyPr>
            <a:lstStyle/>
            <a:p>
              <a:pPr algn="l"/>
              <a:r>
                <a:rPr lang="en-US" sz="1200" b="0" dirty="0">
                  <a:solidFill>
                    <a:srgbClr val="6B7079"/>
                  </a:solidFill>
                  <a:latin typeface="IBM Plex Sans"/>
                  <a:cs typeface="IBM Plex Sans"/>
                </a:rPr>
                <a:t>$9M</a:t>
              </a:r>
            </a:p>
          </p:txBody>
        </p:sp>
        <p:sp>
          <p:nvSpPr>
            <p:cNvPr id="23" name="Text 23"/>
            <p:cNvSpPr txBox="1"/>
            <p:nvPr/>
          </p:nvSpPr>
          <p:spPr>
            <a:xfrm>
              <a:off x="5181600" y="3070820"/>
              <a:ext cx="533400" cy="213320"/>
            </a:xfrm>
            <a:prstGeom prst="rect">
              <a:avLst/>
            </a:prstGeom>
            <a:noFill/>
            <a:ln>
              <a:noFill/>
            </a:ln>
          </p:spPr>
          <p:txBody>
            <a:bodyPr wrap="none" lIns="0" tIns="0" rIns="0" bIns="0" anchor="t">
              <a:noAutofit/>
            </a:bodyPr>
            <a:lstStyle/>
            <a:p>
              <a:pPr algn="l"/>
              <a:r>
                <a:rPr lang="en-US" sz="1200" b="0" dirty="0">
                  <a:solidFill>
                    <a:srgbClr val="6B7079"/>
                  </a:solidFill>
                  <a:latin typeface="IBM Plex Sans"/>
                  <a:cs typeface="IBM Plex Sans"/>
                </a:rPr>
                <a:t>$10M</a:t>
              </a:r>
            </a:p>
          </p:txBody>
        </p:sp>
        <p:sp>
          <p:nvSpPr>
            <p:cNvPr id="24" name="Text 24"/>
            <p:cNvSpPr txBox="1"/>
            <p:nvPr/>
          </p:nvSpPr>
          <p:spPr>
            <a:xfrm>
              <a:off x="5181600" y="2524720"/>
              <a:ext cx="533400" cy="213320"/>
            </a:xfrm>
            <a:prstGeom prst="rect">
              <a:avLst/>
            </a:prstGeom>
            <a:noFill/>
            <a:ln>
              <a:noFill/>
            </a:ln>
          </p:spPr>
          <p:txBody>
            <a:bodyPr wrap="none" lIns="0" tIns="0" rIns="0" bIns="0" anchor="t">
              <a:noAutofit/>
            </a:bodyPr>
            <a:lstStyle/>
            <a:p>
              <a:pPr algn="l"/>
              <a:r>
                <a:rPr lang="en-US" sz="1200" b="0" dirty="0">
                  <a:solidFill>
                    <a:srgbClr val="6B7079"/>
                  </a:solidFill>
                  <a:latin typeface="IBM Plex Sans"/>
                  <a:cs typeface="IBM Plex Sans"/>
                </a:rPr>
                <a:t>$11M</a:t>
              </a:r>
            </a:p>
          </p:txBody>
        </p:sp>
        <p:sp>
          <p:nvSpPr>
            <p:cNvPr id="25" name="Text 25"/>
            <p:cNvSpPr txBox="1"/>
            <p:nvPr/>
          </p:nvSpPr>
          <p:spPr>
            <a:xfrm>
              <a:off x="5181600" y="1978620"/>
              <a:ext cx="533400" cy="213320"/>
            </a:xfrm>
            <a:prstGeom prst="rect">
              <a:avLst/>
            </a:prstGeom>
            <a:noFill/>
            <a:ln>
              <a:noFill/>
            </a:ln>
          </p:spPr>
          <p:txBody>
            <a:bodyPr wrap="none" lIns="0" tIns="0" rIns="0" bIns="0" anchor="t">
              <a:noAutofit/>
            </a:bodyPr>
            <a:lstStyle/>
            <a:p>
              <a:pPr algn="l"/>
              <a:r>
                <a:rPr lang="en-US" sz="1200" b="0" dirty="0">
                  <a:solidFill>
                    <a:srgbClr val="6B7079"/>
                  </a:solidFill>
                  <a:latin typeface="IBM Plex Sans"/>
                  <a:cs typeface="IBM Plex Sans"/>
                </a:rPr>
                <a:t>$12M</a:t>
              </a:r>
            </a:p>
          </p:txBody>
        </p:sp>
        <p:sp>
          <p:nvSpPr>
            <p:cNvPr id="26" name="Text 26"/>
            <p:cNvSpPr txBox="1"/>
            <p:nvPr/>
          </p:nvSpPr>
          <p:spPr>
            <a:xfrm>
              <a:off x="1308100" y="4353520"/>
              <a:ext cx="584200" cy="213320"/>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Jan</a:t>
              </a:r>
            </a:p>
          </p:txBody>
        </p:sp>
        <p:sp>
          <p:nvSpPr>
            <p:cNvPr id="27" name="Text 27"/>
            <p:cNvSpPr txBox="1"/>
            <p:nvPr/>
          </p:nvSpPr>
          <p:spPr>
            <a:xfrm>
              <a:off x="2120900" y="4353520"/>
              <a:ext cx="584200" cy="213320"/>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Mar</a:t>
              </a:r>
            </a:p>
          </p:txBody>
        </p:sp>
        <p:sp>
          <p:nvSpPr>
            <p:cNvPr id="28" name="Text 28"/>
            <p:cNvSpPr txBox="1"/>
            <p:nvPr/>
          </p:nvSpPr>
          <p:spPr>
            <a:xfrm>
              <a:off x="2933700" y="4353520"/>
              <a:ext cx="584200" cy="213320"/>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May</a:t>
              </a:r>
            </a:p>
          </p:txBody>
        </p:sp>
        <p:sp>
          <p:nvSpPr>
            <p:cNvPr id="29" name="Text 29"/>
            <p:cNvSpPr txBox="1"/>
            <p:nvPr/>
          </p:nvSpPr>
          <p:spPr>
            <a:xfrm>
              <a:off x="3746500" y="4353520"/>
              <a:ext cx="584200" cy="213320"/>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Jul</a:t>
              </a:r>
            </a:p>
          </p:txBody>
        </p:sp>
        <p:sp>
          <p:nvSpPr>
            <p:cNvPr id="30" name="Text 30"/>
            <p:cNvSpPr txBox="1"/>
            <p:nvPr/>
          </p:nvSpPr>
          <p:spPr>
            <a:xfrm>
              <a:off x="4559300" y="4353520"/>
              <a:ext cx="584200" cy="213320"/>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Sep</a:t>
              </a:r>
            </a:p>
          </p:txBody>
        </p:sp>
      </p:grpSp>
      <p:grpSp>
        <p:nvGrpSpPr>
          <p:cNvPr id="48" name="Chart 2"/>
          <p:cNvGrpSpPr/>
          <p:nvPr/>
        </p:nvGrpSpPr>
        <p:grpSpPr>
          <a:xfrm>
            <a:off x="6470651" y="2097103"/>
            <a:ext cx="4406900" cy="2878817"/>
            <a:chOff x="6477000" y="1669512"/>
            <a:chExt cx="4406900" cy="2878817"/>
          </a:xfrm>
        </p:grpSpPr>
        <p:sp>
          <p:nvSpPr>
            <p:cNvPr id="31" name="Text 31"/>
            <p:cNvSpPr txBox="1"/>
            <p:nvPr/>
          </p:nvSpPr>
          <p:spPr>
            <a:xfrm>
              <a:off x="6553200" y="1669512"/>
              <a:ext cx="1283295" cy="176297"/>
            </a:xfrm>
            <a:prstGeom prst="rect">
              <a:avLst/>
            </a:prstGeom>
            <a:noFill/>
            <a:ln>
              <a:noFill/>
            </a:ln>
          </p:spPr>
          <p:txBody>
            <a:bodyPr wrap="square" lIns="0" tIns="0" rIns="0" bIns="0" anchor="t">
              <a:noAutofit/>
            </a:bodyPr>
            <a:lstStyle/>
            <a:p>
              <a:pPr algn="l"/>
              <a:r>
                <a:rPr lang="en-US" sz="1200" b="1" dirty="0">
                  <a:solidFill>
                    <a:srgbClr val="4A4F57"/>
                  </a:solidFill>
                  <a:latin typeface="IBM Plex Sans"/>
                  <a:cs typeface="IBM Plex Sans"/>
                </a:rPr>
                <a:t>Index (Jan = 100)</a:t>
              </a:r>
            </a:p>
          </p:txBody>
        </p:sp>
        <p:sp>
          <p:nvSpPr>
            <p:cNvPr id="32" name="Text 32"/>
            <p:cNvSpPr txBox="1"/>
            <p:nvPr/>
          </p:nvSpPr>
          <p:spPr>
            <a:xfrm>
              <a:off x="6477000" y="3762432"/>
              <a:ext cx="533400" cy="176297"/>
            </a:xfrm>
            <a:prstGeom prst="rect">
              <a:avLst/>
            </a:prstGeom>
            <a:noFill/>
            <a:ln>
              <a:noFill/>
            </a:ln>
          </p:spPr>
          <p:txBody>
            <a:bodyPr wrap="none" lIns="0" tIns="0" rIns="0" bIns="0" anchor="t">
              <a:noAutofit/>
            </a:bodyPr>
            <a:lstStyle/>
            <a:p>
              <a:pPr algn="r"/>
              <a:r>
                <a:rPr lang="en-US" sz="1200" b="0" dirty="0">
                  <a:solidFill>
                    <a:srgbClr val="4A4F57"/>
                  </a:solidFill>
                  <a:latin typeface="IBM Plex Sans"/>
                  <a:cs typeface="IBM Plex Sans"/>
                </a:rPr>
                <a:t>100</a:t>
              </a:r>
            </a:p>
          </p:txBody>
        </p:sp>
        <p:sp>
          <p:nvSpPr>
            <p:cNvPr id="33" name="Text 33"/>
            <p:cNvSpPr txBox="1"/>
            <p:nvPr/>
          </p:nvSpPr>
          <p:spPr>
            <a:xfrm>
              <a:off x="6477000" y="3343332"/>
              <a:ext cx="533400" cy="176297"/>
            </a:xfrm>
            <a:prstGeom prst="rect">
              <a:avLst/>
            </a:prstGeom>
            <a:noFill/>
            <a:ln>
              <a:noFill/>
            </a:ln>
          </p:spPr>
          <p:txBody>
            <a:bodyPr wrap="none" lIns="0" tIns="0" rIns="0" bIns="0" anchor="t">
              <a:noAutofit/>
            </a:bodyPr>
            <a:lstStyle/>
            <a:p>
              <a:pPr algn="r"/>
              <a:r>
                <a:rPr lang="en-US" sz="1200" b="0" dirty="0">
                  <a:solidFill>
                    <a:srgbClr val="4A4F57"/>
                  </a:solidFill>
                  <a:latin typeface="IBM Plex Sans"/>
                  <a:cs typeface="IBM Plex Sans"/>
                </a:rPr>
                <a:t>110</a:t>
              </a:r>
            </a:p>
          </p:txBody>
        </p:sp>
        <p:sp>
          <p:nvSpPr>
            <p:cNvPr id="34" name="Text 34"/>
            <p:cNvSpPr txBox="1"/>
            <p:nvPr/>
          </p:nvSpPr>
          <p:spPr>
            <a:xfrm>
              <a:off x="6477000" y="2930582"/>
              <a:ext cx="533400" cy="176297"/>
            </a:xfrm>
            <a:prstGeom prst="rect">
              <a:avLst/>
            </a:prstGeom>
            <a:noFill/>
            <a:ln>
              <a:noFill/>
            </a:ln>
          </p:spPr>
          <p:txBody>
            <a:bodyPr wrap="none" lIns="0" tIns="0" rIns="0" bIns="0" anchor="t">
              <a:noAutofit/>
            </a:bodyPr>
            <a:lstStyle/>
            <a:p>
              <a:pPr algn="r"/>
              <a:r>
                <a:rPr lang="en-US" sz="1200" b="0" dirty="0">
                  <a:solidFill>
                    <a:srgbClr val="4A4F57"/>
                  </a:solidFill>
                  <a:latin typeface="IBM Plex Sans"/>
                  <a:cs typeface="IBM Plex Sans"/>
                </a:rPr>
                <a:t>120</a:t>
              </a:r>
            </a:p>
          </p:txBody>
        </p:sp>
        <p:sp>
          <p:nvSpPr>
            <p:cNvPr id="35" name="Text 35"/>
            <p:cNvSpPr txBox="1"/>
            <p:nvPr/>
          </p:nvSpPr>
          <p:spPr>
            <a:xfrm>
              <a:off x="6477000" y="2511482"/>
              <a:ext cx="533400" cy="176297"/>
            </a:xfrm>
            <a:prstGeom prst="rect">
              <a:avLst/>
            </a:prstGeom>
            <a:noFill/>
            <a:ln>
              <a:noFill/>
            </a:ln>
          </p:spPr>
          <p:txBody>
            <a:bodyPr wrap="none" lIns="0" tIns="0" rIns="0" bIns="0" anchor="t">
              <a:noAutofit/>
            </a:bodyPr>
            <a:lstStyle/>
            <a:p>
              <a:pPr algn="r"/>
              <a:r>
                <a:rPr lang="en-US" sz="1200" b="0" dirty="0">
                  <a:solidFill>
                    <a:srgbClr val="4A4F57"/>
                  </a:solidFill>
                  <a:latin typeface="IBM Plex Sans"/>
                  <a:cs typeface="IBM Plex Sans"/>
                </a:rPr>
                <a:t>130</a:t>
              </a:r>
            </a:p>
          </p:txBody>
        </p:sp>
        <p:sp>
          <p:nvSpPr>
            <p:cNvPr id="36" name="Text 36"/>
            <p:cNvSpPr txBox="1"/>
            <p:nvPr/>
          </p:nvSpPr>
          <p:spPr>
            <a:xfrm>
              <a:off x="6477000" y="2098732"/>
              <a:ext cx="533400" cy="176297"/>
            </a:xfrm>
            <a:prstGeom prst="rect">
              <a:avLst/>
            </a:prstGeom>
            <a:noFill/>
            <a:ln>
              <a:noFill/>
            </a:ln>
          </p:spPr>
          <p:txBody>
            <a:bodyPr wrap="none" lIns="0" tIns="0" rIns="0" bIns="0" anchor="t">
              <a:noAutofit/>
            </a:bodyPr>
            <a:lstStyle/>
            <a:p>
              <a:pPr algn="r"/>
              <a:r>
                <a:rPr lang="en-US" sz="1200" b="0" dirty="0">
                  <a:solidFill>
                    <a:srgbClr val="4A4F57"/>
                  </a:solidFill>
                  <a:latin typeface="IBM Plex Sans"/>
                  <a:cs typeface="IBM Plex Sans"/>
                </a:rPr>
                <a:t>140</a:t>
              </a:r>
            </a:p>
          </p:txBody>
        </p:sp>
        <p:cxnSp>
          <p:nvCxnSpPr>
            <p:cNvPr id="37" name="Line 37"/>
            <p:cNvCxnSpPr/>
            <p:nvPr/>
          </p:nvCxnSpPr>
          <p:spPr>
            <a:xfrm>
              <a:off x="7092950" y="2164292"/>
              <a:ext cx="0" cy="1889256"/>
            </a:xfrm>
            <a:prstGeom prst="line">
              <a:avLst/>
            </a:prstGeom>
            <a:ln w="12700">
              <a:solidFill>
                <a:srgbClr val="14171C"/>
              </a:solidFill>
              <a:round/>
            </a:ln>
          </p:spPr>
        </p:cxnSp>
        <p:cxnSp>
          <p:nvCxnSpPr>
            <p:cNvPr id="38" name="Line 38"/>
            <p:cNvCxnSpPr/>
            <p:nvPr/>
          </p:nvCxnSpPr>
          <p:spPr>
            <a:xfrm>
              <a:off x="7086600" y="4245570"/>
              <a:ext cx="3759200" cy="0"/>
            </a:xfrm>
            <a:prstGeom prst="line">
              <a:avLst/>
            </a:prstGeom>
            <a:ln w="12700">
              <a:solidFill>
                <a:srgbClr val="14171C"/>
              </a:solidFill>
              <a:round/>
            </a:ln>
          </p:spPr>
        </p:cxnSp>
        <p:cxnSp>
          <p:nvCxnSpPr>
            <p:cNvPr id="39" name="Line 39"/>
            <p:cNvCxnSpPr/>
            <p:nvPr/>
          </p:nvCxnSpPr>
          <p:spPr>
            <a:xfrm>
              <a:off x="7086600" y="3835995"/>
              <a:ext cx="3759200" cy="0"/>
            </a:xfrm>
            <a:prstGeom prst="line">
              <a:avLst/>
            </a:prstGeom>
            <a:ln w="12700">
              <a:solidFill>
                <a:srgbClr val="B8BCC2"/>
              </a:solidFill>
              <a:prstDash val="dash"/>
              <a:round/>
            </a:ln>
          </p:spPr>
        </p:cxnSp>
        <p:sp>
          <p:nvSpPr>
            <p:cNvPr id="40" name="Line chart 40"/>
            <p:cNvSpPr/>
            <p:nvPr/>
          </p:nvSpPr>
          <p:spPr>
            <a:xfrm>
              <a:off x="7340600" y="3087965"/>
              <a:ext cx="3251200" cy="748030"/>
            </a:xfrm>
            <a:custGeom>
              <a:avLst/>
              <a:gdLst/>
              <a:ahLst/>
              <a:cxnLst/>
              <a:rect l="0" t="0" r="r" b="b"/>
              <a:pathLst>
                <a:path w="3251200" h="748030" fill="none">
                  <a:moveTo>
                    <a:pt x="0" y="748030"/>
                  </a:moveTo>
                  <a:lnTo>
                    <a:pt x="812800" y="582295"/>
                  </a:lnTo>
                  <a:lnTo>
                    <a:pt x="1625600" y="374015"/>
                  </a:lnTo>
                  <a:lnTo>
                    <a:pt x="2438400" y="208280"/>
                  </a:lnTo>
                  <a:lnTo>
                    <a:pt x="3251200" y="0"/>
                  </a:lnTo>
                </a:path>
              </a:pathLst>
            </a:custGeom>
            <a:noFill/>
            <a:ln w="38100">
              <a:solidFill>
                <a:srgbClr val="8A9099"/>
              </a:solidFill>
              <a:round/>
            </a:ln>
          </p:spPr>
          <p:txBody>
            <a:bodyPr/>
            <a:lstStyle/>
            <a:p>
              <a:endParaRPr lang="en-US"/>
            </a:p>
          </p:txBody>
        </p:sp>
        <p:sp>
          <p:nvSpPr>
            <p:cNvPr id="41" name="Line chart 41"/>
            <p:cNvSpPr/>
            <p:nvPr/>
          </p:nvSpPr>
          <p:spPr>
            <a:xfrm>
              <a:off x="7340600" y="2393792"/>
              <a:ext cx="3251200" cy="1305161"/>
            </a:xfrm>
            <a:custGeom>
              <a:avLst/>
              <a:gdLst/>
              <a:ahLst/>
              <a:cxnLst/>
              <a:rect l="0" t="0" r="r" b="b"/>
              <a:pathLst>
                <a:path w="3251200" h="1579245" fill="none">
                  <a:moveTo>
                    <a:pt x="0" y="1579245"/>
                  </a:moveTo>
                  <a:lnTo>
                    <a:pt x="812800" y="1247140"/>
                  </a:lnTo>
                  <a:lnTo>
                    <a:pt x="1625600" y="831215"/>
                  </a:lnTo>
                  <a:lnTo>
                    <a:pt x="2438400" y="415925"/>
                  </a:lnTo>
                  <a:lnTo>
                    <a:pt x="3251200" y="0"/>
                  </a:lnTo>
                </a:path>
              </a:pathLst>
            </a:custGeom>
            <a:noFill/>
            <a:ln w="38100">
              <a:solidFill>
                <a:srgbClr val="1F5FBF"/>
              </a:solidFill>
              <a:round/>
            </a:ln>
          </p:spPr>
          <p:txBody>
            <a:bodyPr/>
            <a:lstStyle/>
            <a:p>
              <a:endParaRPr lang="en-US"/>
            </a:p>
          </p:txBody>
        </p:sp>
        <p:sp>
          <p:nvSpPr>
            <p:cNvPr id="42" name="Text 42"/>
            <p:cNvSpPr txBox="1"/>
            <p:nvPr/>
          </p:nvSpPr>
          <p:spPr>
            <a:xfrm>
              <a:off x="7048500" y="4372032"/>
              <a:ext cx="584200" cy="176297"/>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Jan</a:t>
              </a:r>
            </a:p>
          </p:txBody>
        </p:sp>
        <p:sp>
          <p:nvSpPr>
            <p:cNvPr id="43" name="Text 43"/>
            <p:cNvSpPr txBox="1"/>
            <p:nvPr/>
          </p:nvSpPr>
          <p:spPr>
            <a:xfrm>
              <a:off x="7861300" y="4372032"/>
              <a:ext cx="584200" cy="176297"/>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Mar</a:t>
              </a:r>
            </a:p>
          </p:txBody>
        </p:sp>
        <p:sp>
          <p:nvSpPr>
            <p:cNvPr id="44" name="Text 44"/>
            <p:cNvSpPr txBox="1"/>
            <p:nvPr/>
          </p:nvSpPr>
          <p:spPr>
            <a:xfrm>
              <a:off x="8674100" y="4372032"/>
              <a:ext cx="584200" cy="176297"/>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May</a:t>
              </a:r>
            </a:p>
          </p:txBody>
        </p:sp>
        <p:sp>
          <p:nvSpPr>
            <p:cNvPr id="45" name="Text 45"/>
            <p:cNvSpPr txBox="1"/>
            <p:nvPr/>
          </p:nvSpPr>
          <p:spPr>
            <a:xfrm>
              <a:off x="9486900" y="4372032"/>
              <a:ext cx="584200" cy="176297"/>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Jul</a:t>
              </a:r>
            </a:p>
          </p:txBody>
        </p:sp>
        <p:sp>
          <p:nvSpPr>
            <p:cNvPr id="46" name="Text 46"/>
            <p:cNvSpPr txBox="1"/>
            <p:nvPr/>
          </p:nvSpPr>
          <p:spPr>
            <a:xfrm>
              <a:off x="10299700" y="4372032"/>
              <a:ext cx="584200" cy="176297"/>
            </a:xfrm>
            <a:prstGeom prst="rect">
              <a:avLst/>
            </a:prstGeom>
            <a:noFill/>
            <a:ln>
              <a:noFill/>
            </a:ln>
          </p:spPr>
          <p:txBody>
            <a:bodyPr wrap="square" lIns="0" tIns="0" rIns="0" bIns="0" anchor="t">
              <a:noAutofit/>
            </a:bodyPr>
            <a:lstStyle/>
            <a:p>
              <a:pPr algn="ctr"/>
              <a:r>
                <a:rPr lang="en-US" sz="1200" b="0" dirty="0">
                  <a:solidFill>
                    <a:srgbClr val="4A4F57"/>
                  </a:solidFill>
                  <a:latin typeface="IBM Plex Sans"/>
                  <a:cs typeface="IBM Plex Sans"/>
                </a:rPr>
                <a:t>Sep</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8000" y="406400"/>
            <a:ext cx="11176000" cy="558800"/>
          </a:xfrm>
          <a:prstGeom prst="rect">
            <a:avLst/>
          </a:prstGeom>
          <a:solidFill>
            <a:srgbClr val="2B4C7E"/>
          </a:solidFill>
          <a:ln/>
        </p:spPr>
      </p:sp>
      <p:sp>
        <p:nvSpPr>
          <p:cNvPr id="3" name="Text 1"/>
          <p:cNvSpPr/>
          <p:nvPr/>
        </p:nvSpPr>
        <p:spPr>
          <a:xfrm>
            <a:off x="660400" y="508000"/>
            <a:ext cx="3563243"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FFFFF"/>
                </a:solidFill>
                <a:latin typeface="Arial" pitchFamily="34" charset="0"/>
                <a:ea typeface="Arial" pitchFamily="34" charset="-122"/>
                <a:cs typeface="Arial" pitchFamily="34" charset="-120"/>
              </a:rPr>
              <a:t>Q3 Chargeback Analysis</a:t>
            </a:r>
            <a:endParaRPr lang="en-US" sz="2000" dirty="0"/>
          </a:p>
        </p:txBody>
      </p:sp>
      <p:sp>
        <p:nvSpPr>
          <p:cNvPr id="4" name="Text 2"/>
          <p:cNvSpPr/>
          <p:nvPr/>
        </p:nvSpPr>
        <p:spPr>
          <a:xfrm>
            <a:off x="8367455" y="579140"/>
            <a:ext cx="3164145"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Arial" pitchFamily="34" charset="0"/>
                <a:ea typeface="Arial" pitchFamily="34" charset="-122"/>
                <a:cs typeface="Arial" pitchFamily="34" charset="-120"/>
              </a:rPr>
              <a:t>Payments Ops · Internal · v3 FINAL (2)</a:t>
            </a:r>
            <a:endParaRPr lang="en-US" sz="1200" dirty="0"/>
          </a:p>
        </p:txBody>
      </p:sp>
      <p:sp>
        <p:nvSpPr>
          <p:cNvPr id="5" name="Text 3"/>
          <p:cNvSpPr/>
          <p:nvPr/>
        </p:nvSpPr>
        <p:spPr>
          <a:xfrm>
            <a:off x="619506" y="1092200"/>
            <a:ext cx="11392154" cy="619671"/>
          </a:xfrm>
          <a:prstGeom prst="rect">
            <a:avLst/>
          </a:prstGeom>
          <a:noFill/>
          <a:ln/>
        </p:spPr>
        <p:txBody>
          <a:bodyPr wrap="square" lIns="0" tIns="0" rIns="0" bIns="0" rtlCol="0" anchor="t">
            <a:normAutofit/>
          </a:bodyPr>
          <a:lstStyle/>
          <a:p>
            <a:pPr marL="142494" indent="-142494" algn="l">
              <a:lnSpc>
                <a:spcPts val="1560"/>
              </a:lnSpc>
              <a:buSzPct val="100000"/>
              <a:buChar char="•"/>
            </a:pPr>
            <a:r>
              <a:rPr lang="en-US" sz="1200" dirty="0">
                <a:solidFill>
                  <a:srgbClr val="333333"/>
                </a:solidFill>
                <a:latin typeface="Arial" pitchFamily="34" charset="0"/>
                <a:ea typeface="Arial" pitchFamily="34" charset="-122"/>
                <a:cs typeface="Arial" pitchFamily="34" charset="-120"/>
              </a:rPr>
              <a:t>Data source: disputes system export, Jul 1 to Sep 30, 2026; excludes test accounts and reversed disputes; reason codes mapped per network guidelines v4.2; USD at transaction-date FX</a:t>
            </a:r>
            <a:endParaRPr lang="en-US" sz="1200" dirty="0"/>
          </a:p>
          <a:p>
            <a:pPr marL="142494" indent="-142494" algn="l">
              <a:lnSpc>
                <a:spcPts val="1560"/>
              </a:lnSpc>
              <a:buSzPct val="100000"/>
              <a:buChar char="•"/>
            </a:pPr>
            <a:r>
              <a:rPr lang="en-US" sz="1200" dirty="0">
                <a:solidFill>
                  <a:srgbClr val="333333"/>
                </a:solidFill>
                <a:latin typeface="Arial" pitchFamily="34" charset="0"/>
                <a:ea typeface="Arial" pitchFamily="34" charset="-122"/>
                <a:cs typeface="Arial" pitchFamily="34" charset="-120"/>
              </a:rPr>
              <a:t>Q3 total chargebacks 1,656 vs 1,200 in Q2 (QoQ +38.00%); avg dispute value $287.40; blended win rate 33.12%; see tabs 4 to 9</a:t>
            </a:r>
            <a:endParaRPr lang="en-US" sz="1200" dirty="0"/>
          </a:p>
        </p:txBody>
      </p:sp>
      <p:graphicFrame>
        <p:nvGraphicFramePr>
          <p:cNvPr id="6" name="Table 0"/>
          <p:cNvGraphicFramePr>
            <a:graphicFrameLocks noGrp="1"/>
          </p:cNvGraphicFramePr>
          <p:nvPr/>
        </p:nvGraphicFramePr>
        <p:xfrm>
          <a:off x="840828" y="1838871"/>
          <a:ext cx="10184521" cy="4225592"/>
        </p:xfrm>
        <a:graphic>
          <a:graphicData uri="http://schemas.openxmlformats.org/drawingml/2006/table">
            <a:tbl>
              <a:tblPr/>
              <a:tblGrid>
                <a:gridCol w="2851667">
                  <a:extLst>
                    <a:ext uri="{9D8B030D-6E8A-4147-A177-3AD203B41FA5}">
                      <a16:colId xmlns:a16="http://schemas.microsoft.com/office/drawing/2014/main" val="20000"/>
                    </a:ext>
                  </a:extLst>
                </a:gridCol>
                <a:gridCol w="1018452">
                  <a:extLst>
                    <a:ext uri="{9D8B030D-6E8A-4147-A177-3AD203B41FA5}">
                      <a16:colId xmlns:a16="http://schemas.microsoft.com/office/drawing/2014/main" val="20001"/>
                    </a:ext>
                  </a:extLst>
                </a:gridCol>
                <a:gridCol w="1018452">
                  <a:extLst>
                    <a:ext uri="{9D8B030D-6E8A-4147-A177-3AD203B41FA5}">
                      <a16:colId xmlns:a16="http://schemas.microsoft.com/office/drawing/2014/main" val="20002"/>
                    </a:ext>
                  </a:extLst>
                </a:gridCol>
                <a:gridCol w="1018452">
                  <a:extLst>
                    <a:ext uri="{9D8B030D-6E8A-4147-A177-3AD203B41FA5}">
                      <a16:colId xmlns:a16="http://schemas.microsoft.com/office/drawing/2014/main" val="20003"/>
                    </a:ext>
                  </a:extLst>
                </a:gridCol>
                <a:gridCol w="1222142">
                  <a:extLst>
                    <a:ext uri="{9D8B030D-6E8A-4147-A177-3AD203B41FA5}">
                      <a16:colId xmlns:a16="http://schemas.microsoft.com/office/drawing/2014/main" val="20004"/>
                    </a:ext>
                  </a:extLst>
                </a:gridCol>
                <a:gridCol w="1527678">
                  <a:extLst>
                    <a:ext uri="{9D8B030D-6E8A-4147-A177-3AD203B41FA5}">
                      <a16:colId xmlns:a16="http://schemas.microsoft.com/office/drawing/2014/main" val="20005"/>
                    </a:ext>
                  </a:extLst>
                </a:gridCol>
                <a:gridCol w="1527678">
                  <a:extLst>
                    <a:ext uri="{9D8B030D-6E8A-4147-A177-3AD203B41FA5}">
                      <a16:colId xmlns:a16="http://schemas.microsoft.com/office/drawing/2014/main" val="20006"/>
                    </a:ext>
                  </a:extLst>
                </a:gridCol>
              </a:tblGrid>
              <a:tr h="528199">
                <a:tc>
                  <a:txBody>
                    <a:bodyPr/>
                    <a:lstStyle/>
                    <a:p>
                      <a:pPr marL="0" indent="0" algn="ctr">
                        <a:lnSpc>
                          <a:spcPts val="1680"/>
                        </a:lnSpc>
                        <a:buNone/>
                      </a:pPr>
                      <a:r>
                        <a:rPr lang="en-US" sz="1200" b="1" dirty="0">
                          <a:solidFill>
                            <a:srgbClr val="222222"/>
                          </a:solidFill>
                          <a:latin typeface="Arial" pitchFamily="34" charset="0"/>
                          <a:ea typeface="Arial" pitchFamily="34" charset="-122"/>
                          <a:cs typeface="Arial" pitchFamily="34" charset="-120"/>
                        </a:rPr>
                        <a:t>Reason code</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ctr">
                        <a:lnSpc>
                          <a:spcPts val="1680"/>
                        </a:lnSpc>
                        <a:buNone/>
                      </a:pPr>
                      <a:r>
                        <a:rPr lang="en-US" sz="1200" b="1" dirty="0">
                          <a:solidFill>
                            <a:srgbClr val="222222"/>
                          </a:solidFill>
                          <a:latin typeface="Arial" pitchFamily="34" charset="0"/>
                          <a:ea typeface="Arial" pitchFamily="34" charset="-122"/>
                          <a:cs typeface="Arial" pitchFamily="34" charset="-120"/>
                        </a:rPr>
                        <a:t>Jul</a:t>
                      </a:r>
                      <a:endParaRPr lang="en-US" sz="1200" dirty="0">
                        <a:latin typeface="Arial" charset="0"/>
                        <a:ea typeface="Arial" charset="0"/>
                        <a:cs typeface="Arial" charset="0"/>
                      </a:endParaRPr>
                    </a:p>
                  </a:txBody>
                  <a:tcPr marL="53340" marR="53340" marT="53340" marB="5334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ctr">
                        <a:lnSpc>
                          <a:spcPts val="1680"/>
                        </a:lnSpc>
                        <a:buNone/>
                      </a:pPr>
                      <a:r>
                        <a:rPr lang="en-US" sz="1200" b="1" dirty="0">
                          <a:solidFill>
                            <a:srgbClr val="222222"/>
                          </a:solidFill>
                          <a:latin typeface="Arial" pitchFamily="34" charset="0"/>
                          <a:ea typeface="Arial" pitchFamily="34" charset="-122"/>
                          <a:cs typeface="Arial" pitchFamily="34" charset="-120"/>
                        </a:rPr>
                        <a:t>Aug</a:t>
                      </a:r>
                      <a:endParaRPr lang="en-US" sz="1200" dirty="0">
                        <a:latin typeface="Arial" charset="0"/>
                        <a:ea typeface="Arial" charset="0"/>
                        <a:cs typeface="Arial" charset="0"/>
                      </a:endParaRPr>
                    </a:p>
                  </a:txBody>
                  <a:tcPr marL="53340" marR="53340" marT="53340" marB="5334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ctr">
                        <a:lnSpc>
                          <a:spcPts val="1680"/>
                        </a:lnSpc>
                        <a:buNone/>
                      </a:pPr>
                      <a:r>
                        <a:rPr lang="en-US" sz="1200" b="1" dirty="0">
                          <a:solidFill>
                            <a:srgbClr val="222222"/>
                          </a:solidFill>
                          <a:latin typeface="Arial" pitchFamily="34" charset="0"/>
                          <a:ea typeface="Arial" pitchFamily="34" charset="-122"/>
                          <a:cs typeface="Arial" pitchFamily="34" charset="-120"/>
                        </a:rPr>
                        <a:t>Sep</a:t>
                      </a:r>
                      <a:endParaRPr lang="en-US" sz="1200" dirty="0">
                        <a:latin typeface="Arial" charset="0"/>
                        <a:ea typeface="Arial" charset="0"/>
                        <a:cs typeface="Arial" charset="0"/>
                      </a:endParaRPr>
                    </a:p>
                  </a:txBody>
                  <a:tcPr marL="53340" marR="53340" marT="53340" marB="5334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ctr">
                        <a:lnSpc>
                          <a:spcPts val="1680"/>
                        </a:lnSpc>
                        <a:buNone/>
                      </a:pPr>
                      <a:r>
                        <a:rPr lang="en-US" sz="1200" b="1" dirty="0">
                          <a:solidFill>
                            <a:srgbClr val="222222"/>
                          </a:solidFill>
                          <a:latin typeface="Arial" pitchFamily="34" charset="0"/>
                          <a:ea typeface="Arial" pitchFamily="34" charset="-122"/>
                          <a:cs typeface="Arial" pitchFamily="34" charset="-120"/>
                        </a:rPr>
                        <a:t>Q3</a:t>
                      </a:r>
                      <a:endParaRPr lang="en-US" sz="1200" dirty="0">
                        <a:latin typeface="Arial" charset="0"/>
                        <a:ea typeface="Arial" charset="0"/>
                        <a:cs typeface="Arial" charset="0"/>
                      </a:endParaRPr>
                    </a:p>
                  </a:txBody>
                  <a:tcPr marL="53340" marR="53340" marT="53340" marB="5334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ctr">
                        <a:lnSpc>
                          <a:spcPts val="1680"/>
                        </a:lnSpc>
                        <a:buNone/>
                      </a:pPr>
                      <a:r>
                        <a:rPr lang="en-US" sz="1200" b="1" dirty="0">
                          <a:solidFill>
                            <a:srgbClr val="222222"/>
                          </a:solidFill>
                          <a:latin typeface="Arial" pitchFamily="34" charset="0"/>
                          <a:ea typeface="Arial" pitchFamily="34" charset="-122"/>
                          <a:cs typeface="Arial" pitchFamily="34" charset="-120"/>
                        </a:rPr>
                        <a:t>QoQ %</a:t>
                      </a:r>
                      <a:endParaRPr lang="en-US" sz="1200" dirty="0">
                        <a:latin typeface="Arial" charset="0"/>
                        <a:ea typeface="Arial" charset="0"/>
                        <a:cs typeface="Arial" charset="0"/>
                      </a:endParaRPr>
                    </a:p>
                  </a:txBody>
                  <a:tcPr marL="53340" marR="53340" marT="53340" marB="5334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ctr">
                        <a:lnSpc>
                          <a:spcPts val="1680"/>
                        </a:lnSpc>
                        <a:buNone/>
                      </a:pPr>
                      <a:r>
                        <a:rPr lang="en-US" sz="1200" b="1" dirty="0">
                          <a:solidFill>
                            <a:srgbClr val="222222"/>
                          </a:solidFill>
                          <a:latin typeface="Arial" pitchFamily="34" charset="0"/>
                          <a:ea typeface="Arial" pitchFamily="34" charset="-122"/>
                          <a:cs typeface="Arial" pitchFamily="34" charset="-120"/>
                        </a:rPr>
                        <a:t>Share %</a:t>
                      </a:r>
                      <a:endParaRPr lang="en-US" sz="1200" dirty="0">
                        <a:latin typeface="Arial" charset="0"/>
                        <a:ea typeface="Arial" charset="0"/>
                        <a:cs typeface="Arial" charset="0"/>
                      </a:endParaRPr>
                    </a:p>
                  </a:txBody>
                  <a:tcPr marL="53340" marR="53340" marT="53340" marB="5334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528199">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10.4 Fraud CNP</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118</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122</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120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360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12.50%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21.74%</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528199">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13.3 NAD</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110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118</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117</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345</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15.00%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20.83%</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528199">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13.1 INR (other)</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85</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92</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93</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270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22.73%</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16.30%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528199">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13.1 INR (&gt;$250, NSR)</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120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170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190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480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166.67%</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28.99%</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528199">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12.6 Duplicate</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36</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37</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37</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110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10.00%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6.64%</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528199">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Misc.</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29</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31</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31</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91</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13.75%</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5.50%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r h="528199">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Total</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EDEDED"/>
                    </a:solidFill>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498</a:t>
                      </a:r>
                      <a:endParaRPr lang="en-US" sz="1200" dirty="0">
                        <a:latin typeface="Arial" charset="0"/>
                        <a:ea typeface="Arial" charset="0"/>
                        <a:cs typeface="Arial" charset="0"/>
                      </a:endParaRPr>
                    </a:p>
                  </a:txBody>
                  <a:tcPr marL="53340" marR="53340" marT="53340" marB="5334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EDEDED"/>
                    </a:solidFill>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570</a:t>
                      </a:r>
                      <a:endParaRPr lang="en-US" sz="1200" dirty="0">
                        <a:latin typeface="Arial" charset="0"/>
                        <a:ea typeface="Arial" charset="0"/>
                        <a:cs typeface="Arial" charset="0"/>
                      </a:endParaRPr>
                    </a:p>
                  </a:txBody>
                  <a:tcPr marL="53340" marR="53340" marT="53340" marB="5334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EDEDED"/>
                    </a:solidFill>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588</a:t>
                      </a:r>
                      <a:endParaRPr lang="en-US" sz="1200" dirty="0">
                        <a:latin typeface="Arial" charset="0"/>
                        <a:ea typeface="Arial" charset="0"/>
                        <a:cs typeface="Arial" charset="0"/>
                      </a:endParaRPr>
                    </a:p>
                  </a:txBody>
                  <a:tcPr marL="53340" marR="53340" marT="53340" marB="5334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EDEDED"/>
                    </a:solidFill>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1,656</a:t>
                      </a:r>
                      <a:endParaRPr lang="en-US" sz="1200" dirty="0">
                        <a:latin typeface="Arial" charset="0"/>
                        <a:ea typeface="Arial" charset="0"/>
                        <a:cs typeface="Arial" charset="0"/>
                      </a:endParaRPr>
                    </a:p>
                  </a:txBody>
                  <a:tcPr marL="53340" marR="53340" marT="53340" marB="5334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EDEDED"/>
                    </a:solidFill>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38.00%</a:t>
                      </a:r>
                      <a:endParaRPr lang="en-US" sz="1200" dirty="0">
                        <a:latin typeface="Arial" charset="0"/>
                        <a:ea typeface="Arial" charset="0"/>
                        <a:cs typeface="Arial" charset="0"/>
                      </a:endParaRPr>
                    </a:p>
                  </a:txBody>
                  <a:tcPr marL="53340" marR="53340" marT="53340" marB="5334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EDEDED"/>
                    </a:solidFill>
                  </a:tcPr>
                </a:tc>
                <a:tc>
                  <a:txBody>
                    <a:bodyPr/>
                    <a:lstStyle/>
                    <a:p>
                      <a:pPr marL="0" indent="0" algn="ctr">
                        <a:lnSpc>
                          <a:spcPts val="1680"/>
                        </a:lnSpc>
                        <a:buNone/>
                      </a:pPr>
                      <a:r>
                        <a:rPr lang="en-US" sz="1200" dirty="0">
                          <a:solidFill>
                            <a:srgbClr val="222222"/>
                          </a:solidFill>
                          <a:latin typeface="Arial" pitchFamily="34" charset="0"/>
                          <a:ea typeface="Arial" pitchFamily="34" charset="-122"/>
                          <a:cs typeface="Arial" pitchFamily="34" charset="-120"/>
                        </a:rPr>
                        <a:t>100.00%</a:t>
                      </a:r>
                      <a:endParaRPr lang="en-US" sz="1200" dirty="0">
                        <a:latin typeface="Arial" charset="0"/>
                        <a:ea typeface="Arial" charset="0"/>
                        <a:cs typeface="Arial" charset="0"/>
                      </a:endParaRPr>
                    </a:p>
                  </a:txBody>
                  <a:tcPr marL="53340" marR="53340" marT="53340" marB="5334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EDEDED"/>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595706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112772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171C"/>
                </a:solidFill>
                <a:latin typeface="Source Serif 4" pitchFamily="18" charset="0"/>
                <a:ea typeface="Source Serif 4" pitchFamily="18" charset="-122"/>
                <a:cs typeface="Source Serif 4" pitchFamily="18" charset="-120"/>
              </a:rPr>
              <a:t>Chargebacks rose 38% in Q3. </a:t>
            </a:r>
            <a:br>
              <a:rPr lang="en-US" sz="3600" b="1" i="0" dirty="0">
                <a:solidFill>
                  <a:srgbClr val="14171C"/>
                </a:solidFill>
                <a:latin typeface="Source Serif 4" pitchFamily="18" charset="0"/>
                <a:ea typeface="Source Serif 4" pitchFamily="18" charset="-122"/>
                <a:cs typeface="Source Serif 4" pitchFamily="18" charset="-120"/>
              </a:rPr>
            </a:br>
            <a:r>
              <a:rPr lang="en-US" sz="3000" b="1" i="0" dirty="0">
                <a:solidFill>
                  <a:srgbClr val="14171C"/>
                </a:solidFill>
                <a:latin typeface="Source Serif 4" pitchFamily="18" charset="0"/>
                <a:ea typeface="Source Serif 4" pitchFamily="18" charset="-122"/>
                <a:cs typeface="Source Serif 4" pitchFamily="18" charset="-120"/>
              </a:rPr>
              <a:t>Two-thirds of the rise came from one fixable gap.</a:t>
            </a:r>
            <a:endParaRPr lang="en-US" sz="3000" dirty="0"/>
          </a:p>
        </p:txBody>
      </p:sp>
      <p:sp>
        <p:nvSpPr>
          <p:cNvPr id="4" name="Text 2"/>
          <p:cNvSpPr/>
          <p:nvPr/>
        </p:nvSpPr>
        <p:spPr>
          <a:xfrm>
            <a:off x="812800" y="2543819"/>
            <a:ext cx="7168388" cy="238720"/>
          </a:xfrm>
          <a:prstGeom prst="rect">
            <a:avLst/>
          </a:prstGeom>
          <a:noFill/>
          <a:ln/>
        </p:spPr>
        <p:txBody>
          <a:bodyPr wrap="square" lIns="0" tIns="0" rIns="0" bIns="0" rtlCol="0" anchor="t">
            <a:normAutofit/>
          </a:bodyPr>
          <a:lstStyle/>
          <a:p>
            <a:pPr marL="0" indent="0" algn="l">
              <a:lnSpc>
                <a:spcPts val="1680"/>
              </a:lnSpc>
              <a:buNone/>
            </a:pPr>
            <a:r>
              <a:rPr lang="en-US" sz="2000" b="1" dirty="0">
                <a:latin typeface="IBM Plex Sans" pitchFamily="34" charset="0"/>
                <a:ea typeface="IBM Plex Sans" pitchFamily="34" charset="-122"/>
                <a:cs typeface="IBM Plex Sans" pitchFamily="34" charset="-120"/>
              </a:rPr>
              <a:t>Increase in chargebacks by reason, Q2 to Q3 (count)</a:t>
            </a:r>
            <a:endParaRPr lang="en-US" sz="2000" b="1" dirty="0"/>
          </a:p>
        </p:txBody>
      </p:sp>
      <p:sp>
        <p:nvSpPr>
          <p:cNvPr id="5" name="Text 3"/>
          <p:cNvSpPr/>
          <p:nvPr/>
        </p:nvSpPr>
        <p:spPr>
          <a:xfrm>
            <a:off x="666115" y="3004839"/>
            <a:ext cx="248539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Not received, &gt;$250, unsigned</a:t>
            </a:r>
            <a:endParaRPr lang="en-US" sz="1200" dirty="0"/>
          </a:p>
        </p:txBody>
      </p:sp>
      <p:sp>
        <p:nvSpPr>
          <p:cNvPr id="6" name="Shape 4"/>
          <p:cNvSpPr/>
          <p:nvPr/>
        </p:nvSpPr>
        <p:spPr>
          <a:xfrm>
            <a:off x="3253105" y="2984499"/>
            <a:ext cx="2438400" cy="254000"/>
          </a:xfrm>
          <a:prstGeom prst="rect">
            <a:avLst/>
          </a:prstGeom>
          <a:solidFill>
            <a:srgbClr val="1F5FBF"/>
          </a:solidFill>
          <a:ln/>
        </p:spPr>
      </p:sp>
      <p:sp>
        <p:nvSpPr>
          <p:cNvPr id="7" name="Text 5"/>
          <p:cNvSpPr/>
          <p:nvPr/>
        </p:nvSpPr>
        <p:spPr>
          <a:xfrm>
            <a:off x="5787517" y="3004839"/>
            <a:ext cx="188922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+300 (66% of the rise)</a:t>
            </a:r>
            <a:endParaRPr lang="en-US" sz="1200" dirty="0"/>
          </a:p>
        </p:txBody>
      </p:sp>
      <p:sp>
        <p:nvSpPr>
          <p:cNvPr id="8" name="Text 6"/>
          <p:cNvSpPr/>
          <p:nvPr/>
        </p:nvSpPr>
        <p:spPr>
          <a:xfrm>
            <a:off x="666115" y="3335039"/>
            <a:ext cx="248539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4F57"/>
                </a:solidFill>
                <a:latin typeface="IBM Plex Sans" pitchFamily="34" charset="0"/>
                <a:ea typeface="IBM Plex Sans" pitchFamily="34" charset="-122"/>
                <a:cs typeface="IBM Plex Sans" pitchFamily="34" charset="-120"/>
              </a:rPr>
              <a:t>Not received, other</a:t>
            </a:r>
            <a:endParaRPr lang="en-US" sz="1200" dirty="0"/>
          </a:p>
        </p:txBody>
      </p:sp>
      <p:sp>
        <p:nvSpPr>
          <p:cNvPr id="9" name="Shape 7"/>
          <p:cNvSpPr/>
          <p:nvPr/>
        </p:nvSpPr>
        <p:spPr>
          <a:xfrm>
            <a:off x="3253105" y="3314699"/>
            <a:ext cx="406400" cy="254000"/>
          </a:xfrm>
          <a:prstGeom prst="rect">
            <a:avLst/>
          </a:prstGeom>
          <a:solidFill>
            <a:srgbClr val="B8BCC2"/>
          </a:solidFill>
          <a:ln/>
        </p:spPr>
      </p:sp>
      <p:sp>
        <p:nvSpPr>
          <p:cNvPr id="10" name="Text 8"/>
          <p:cNvSpPr/>
          <p:nvPr/>
        </p:nvSpPr>
        <p:spPr>
          <a:xfrm>
            <a:off x="3761105" y="3335039"/>
            <a:ext cx="32920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171C"/>
                </a:solidFill>
                <a:latin typeface="IBM Plex Sans" pitchFamily="34" charset="0"/>
                <a:ea typeface="IBM Plex Sans" pitchFamily="34" charset="-122"/>
                <a:cs typeface="IBM Plex Sans" pitchFamily="34" charset="-120"/>
              </a:rPr>
              <a:t>+50</a:t>
            </a:r>
            <a:endParaRPr lang="en-US" sz="1200" dirty="0"/>
          </a:p>
        </p:txBody>
      </p:sp>
      <p:sp>
        <p:nvSpPr>
          <p:cNvPr id="11" name="Text 9"/>
          <p:cNvSpPr/>
          <p:nvPr/>
        </p:nvSpPr>
        <p:spPr>
          <a:xfrm>
            <a:off x="666115" y="3665239"/>
            <a:ext cx="248539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4F57"/>
                </a:solidFill>
                <a:latin typeface="IBM Plex Sans" pitchFamily="34" charset="0"/>
                <a:ea typeface="IBM Plex Sans" pitchFamily="34" charset="-122"/>
                <a:cs typeface="IBM Plex Sans" pitchFamily="34" charset="-120"/>
              </a:rPr>
              <a:t>Not as described</a:t>
            </a:r>
            <a:endParaRPr lang="en-US" sz="1200" dirty="0"/>
          </a:p>
        </p:txBody>
      </p:sp>
      <p:sp>
        <p:nvSpPr>
          <p:cNvPr id="12" name="Shape 10"/>
          <p:cNvSpPr/>
          <p:nvPr/>
        </p:nvSpPr>
        <p:spPr>
          <a:xfrm>
            <a:off x="3253105" y="3644899"/>
            <a:ext cx="368300" cy="254000"/>
          </a:xfrm>
          <a:prstGeom prst="rect">
            <a:avLst/>
          </a:prstGeom>
          <a:solidFill>
            <a:srgbClr val="B8BCC2"/>
          </a:solidFill>
          <a:ln/>
        </p:spPr>
      </p:sp>
      <p:sp>
        <p:nvSpPr>
          <p:cNvPr id="13" name="Text 11"/>
          <p:cNvSpPr/>
          <p:nvPr/>
        </p:nvSpPr>
        <p:spPr>
          <a:xfrm>
            <a:off x="3723005" y="3665239"/>
            <a:ext cx="32920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171C"/>
                </a:solidFill>
                <a:latin typeface="IBM Plex Sans" pitchFamily="34" charset="0"/>
                <a:ea typeface="IBM Plex Sans" pitchFamily="34" charset="-122"/>
                <a:cs typeface="IBM Plex Sans" pitchFamily="34" charset="-120"/>
              </a:rPr>
              <a:t>+45</a:t>
            </a:r>
            <a:endParaRPr lang="en-US" sz="1200" dirty="0"/>
          </a:p>
        </p:txBody>
      </p:sp>
      <p:sp>
        <p:nvSpPr>
          <p:cNvPr id="14" name="Text 12"/>
          <p:cNvSpPr/>
          <p:nvPr/>
        </p:nvSpPr>
        <p:spPr>
          <a:xfrm>
            <a:off x="666115" y="3995439"/>
            <a:ext cx="248539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4F57"/>
                </a:solidFill>
                <a:latin typeface="IBM Plex Sans" pitchFamily="34" charset="0"/>
                <a:ea typeface="IBM Plex Sans" pitchFamily="34" charset="-122"/>
                <a:cs typeface="IBM Plex Sans" pitchFamily="34" charset="-120"/>
              </a:rPr>
              <a:t>Unauthorised or fraud</a:t>
            </a:r>
            <a:endParaRPr lang="en-US" sz="1200" dirty="0"/>
          </a:p>
        </p:txBody>
      </p:sp>
      <p:sp>
        <p:nvSpPr>
          <p:cNvPr id="15" name="Shape 13"/>
          <p:cNvSpPr/>
          <p:nvPr/>
        </p:nvSpPr>
        <p:spPr>
          <a:xfrm>
            <a:off x="3253105" y="3975099"/>
            <a:ext cx="323850" cy="254000"/>
          </a:xfrm>
          <a:prstGeom prst="rect">
            <a:avLst/>
          </a:prstGeom>
          <a:solidFill>
            <a:srgbClr val="B8BCC2"/>
          </a:solidFill>
          <a:ln/>
        </p:spPr>
      </p:sp>
      <p:sp>
        <p:nvSpPr>
          <p:cNvPr id="16" name="Text 14"/>
          <p:cNvSpPr/>
          <p:nvPr/>
        </p:nvSpPr>
        <p:spPr>
          <a:xfrm>
            <a:off x="3678555" y="3995439"/>
            <a:ext cx="32920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171C"/>
                </a:solidFill>
                <a:latin typeface="IBM Plex Sans" pitchFamily="34" charset="0"/>
                <a:ea typeface="IBM Plex Sans" pitchFamily="34" charset="-122"/>
                <a:cs typeface="IBM Plex Sans" pitchFamily="34" charset="-120"/>
              </a:rPr>
              <a:t>+40</a:t>
            </a:r>
            <a:endParaRPr lang="en-US" sz="1200" dirty="0"/>
          </a:p>
        </p:txBody>
      </p:sp>
      <p:sp>
        <p:nvSpPr>
          <p:cNvPr id="17" name="Text 15"/>
          <p:cNvSpPr/>
          <p:nvPr/>
        </p:nvSpPr>
        <p:spPr>
          <a:xfrm>
            <a:off x="666115" y="4325639"/>
            <a:ext cx="248539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4F57"/>
                </a:solidFill>
                <a:latin typeface="IBM Plex Sans" pitchFamily="34" charset="0"/>
                <a:ea typeface="IBM Plex Sans" pitchFamily="34" charset="-122"/>
                <a:cs typeface="IBM Plex Sans" pitchFamily="34" charset="-120"/>
              </a:rPr>
              <a:t>Other</a:t>
            </a:r>
            <a:endParaRPr lang="en-US" sz="1200" dirty="0"/>
          </a:p>
        </p:txBody>
      </p:sp>
      <p:sp>
        <p:nvSpPr>
          <p:cNvPr id="18" name="Shape 16"/>
          <p:cNvSpPr/>
          <p:nvPr/>
        </p:nvSpPr>
        <p:spPr>
          <a:xfrm>
            <a:off x="3253105" y="4305299"/>
            <a:ext cx="88900" cy="254000"/>
          </a:xfrm>
          <a:prstGeom prst="rect">
            <a:avLst/>
          </a:prstGeom>
          <a:solidFill>
            <a:srgbClr val="B8BCC2"/>
          </a:solidFill>
          <a:ln/>
        </p:spPr>
      </p:sp>
      <p:sp>
        <p:nvSpPr>
          <p:cNvPr id="19" name="Text 17"/>
          <p:cNvSpPr/>
          <p:nvPr/>
        </p:nvSpPr>
        <p:spPr>
          <a:xfrm>
            <a:off x="3443605" y="4325639"/>
            <a:ext cx="32920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171C"/>
                </a:solidFill>
                <a:latin typeface="IBM Plex Sans" pitchFamily="34" charset="0"/>
                <a:ea typeface="IBM Plex Sans" pitchFamily="34" charset="-122"/>
                <a:cs typeface="IBM Plex Sans" pitchFamily="34" charset="-120"/>
              </a:rPr>
              <a:t>+11</a:t>
            </a:r>
            <a:endParaRPr lang="en-US" sz="1200" dirty="0"/>
          </a:p>
        </p:txBody>
      </p:sp>
      <p:sp>
        <p:nvSpPr>
          <p:cNvPr id="20" name="Text 18"/>
          <p:cNvSpPr/>
          <p:nvPr/>
        </p:nvSpPr>
        <p:spPr>
          <a:xfrm>
            <a:off x="666115" y="4655839"/>
            <a:ext cx="248539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4F57"/>
                </a:solidFill>
                <a:latin typeface="IBM Plex Sans" pitchFamily="34" charset="0"/>
                <a:ea typeface="IBM Plex Sans" pitchFamily="34" charset="-122"/>
                <a:cs typeface="IBM Plex Sans" pitchFamily="34" charset="-120"/>
              </a:rPr>
              <a:t>Duplicate or processing</a:t>
            </a:r>
            <a:endParaRPr lang="en-US" sz="1200" dirty="0"/>
          </a:p>
        </p:txBody>
      </p:sp>
      <p:sp>
        <p:nvSpPr>
          <p:cNvPr id="21" name="Shape 19"/>
          <p:cNvSpPr/>
          <p:nvPr/>
        </p:nvSpPr>
        <p:spPr>
          <a:xfrm>
            <a:off x="3253105" y="4635499"/>
            <a:ext cx="82550" cy="254000"/>
          </a:xfrm>
          <a:prstGeom prst="rect">
            <a:avLst/>
          </a:prstGeom>
          <a:solidFill>
            <a:srgbClr val="B8BCC2"/>
          </a:solidFill>
          <a:ln/>
        </p:spPr>
      </p:sp>
      <p:sp>
        <p:nvSpPr>
          <p:cNvPr id="22" name="Text 20"/>
          <p:cNvSpPr/>
          <p:nvPr/>
        </p:nvSpPr>
        <p:spPr>
          <a:xfrm>
            <a:off x="3437255" y="4655839"/>
            <a:ext cx="32920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171C"/>
                </a:solidFill>
                <a:latin typeface="IBM Plex Sans" pitchFamily="34" charset="0"/>
                <a:ea typeface="IBM Plex Sans" pitchFamily="34" charset="-122"/>
                <a:cs typeface="IBM Plex Sans" pitchFamily="34" charset="-120"/>
              </a:rPr>
              <a:t>+10</a:t>
            </a:r>
            <a:endParaRPr lang="en-US" sz="1200" dirty="0"/>
          </a:p>
        </p:txBody>
      </p:sp>
      <p:sp>
        <p:nvSpPr>
          <p:cNvPr id="23" name="Shape 21"/>
          <p:cNvSpPr/>
          <p:nvPr/>
        </p:nvSpPr>
        <p:spPr>
          <a:xfrm>
            <a:off x="8077200" y="2438301"/>
            <a:ext cx="3302000" cy="1224161"/>
          </a:xfrm>
          <a:prstGeom prst="roundRect">
            <a:avLst>
              <a:gd name="adj" fmla="val 8300"/>
            </a:avLst>
          </a:prstGeom>
          <a:solidFill>
            <a:srgbClr val="E6EDF8"/>
          </a:solidFill>
          <a:ln/>
        </p:spPr>
      </p:sp>
      <p:sp>
        <p:nvSpPr>
          <p:cNvPr id="24" name="Text 22"/>
          <p:cNvSpPr/>
          <p:nvPr/>
        </p:nvSpPr>
        <p:spPr>
          <a:xfrm>
            <a:off x="8280400" y="2641501"/>
            <a:ext cx="298246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5FBF"/>
                </a:solidFill>
                <a:latin typeface="IBM Plex Sans" pitchFamily="34" charset="0"/>
                <a:ea typeface="IBM Plex Sans" pitchFamily="34" charset="-122"/>
                <a:cs typeface="IBM Plex Sans" pitchFamily="34" charset="-120"/>
              </a:rPr>
              <a:t>SO WHAT</a:t>
            </a:r>
            <a:endParaRPr lang="en-US" sz="1200" dirty="0"/>
          </a:p>
        </p:txBody>
      </p:sp>
      <p:sp>
        <p:nvSpPr>
          <p:cNvPr id="25" name="Text 23"/>
          <p:cNvSpPr/>
          <p:nvPr/>
        </p:nvSpPr>
        <p:spPr>
          <a:xfrm>
            <a:off x="8280400" y="2931021"/>
            <a:ext cx="2982468" cy="553641"/>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4171C"/>
                </a:solidFill>
                <a:latin typeface="IBM Plex Sans" pitchFamily="34" charset="0"/>
                <a:ea typeface="IBM Plex Sans" pitchFamily="34" charset="-122"/>
                <a:cs typeface="IBM Plex Sans" pitchFamily="34" charset="-120"/>
              </a:rPr>
              <a:t>≈ $96,000 a quarter in extra losses, still rising in September.</a:t>
            </a:r>
            <a:endParaRPr lang="en-US" sz="1600" dirty="0"/>
          </a:p>
        </p:txBody>
      </p:sp>
      <p:sp>
        <p:nvSpPr>
          <p:cNvPr id="26" name="Shape 24"/>
          <p:cNvSpPr/>
          <p:nvPr/>
        </p:nvSpPr>
        <p:spPr>
          <a:xfrm>
            <a:off x="8077200" y="3814862"/>
            <a:ext cx="3302000" cy="1488281"/>
          </a:xfrm>
          <a:prstGeom prst="roundRect">
            <a:avLst>
              <a:gd name="adj" fmla="val 6827"/>
            </a:avLst>
          </a:prstGeom>
          <a:solidFill>
            <a:srgbClr val="14171C"/>
          </a:solidFill>
          <a:ln/>
        </p:spPr>
      </p:sp>
      <p:sp>
        <p:nvSpPr>
          <p:cNvPr id="27" name="Text 25"/>
          <p:cNvSpPr/>
          <p:nvPr/>
        </p:nvSpPr>
        <p:spPr>
          <a:xfrm>
            <a:off x="8280400" y="4018062"/>
            <a:ext cx="298246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FB4F0"/>
                </a:solidFill>
                <a:latin typeface="IBM Plex Sans" pitchFamily="34" charset="0"/>
                <a:ea typeface="IBM Plex Sans" pitchFamily="34" charset="-122"/>
                <a:cs typeface="IBM Plex Sans" pitchFamily="34" charset="-120"/>
              </a:rPr>
              <a:t>NOW WHAT</a:t>
            </a:r>
            <a:endParaRPr lang="en-US" sz="1200" dirty="0"/>
          </a:p>
        </p:txBody>
      </p:sp>
      <p:sp>
        <p:nvSpPr>
          <p:cNvPr id="28" name="Text 26"/>
          <p:cNvSpPr/>
          <p:nvPr/>
        </p:nvSpPr>
        <p:spPr>
          <a:xfrm>
            <a:off x="8280400" y="4307582"/>
            <a:ext cx="2982468" cy="817761"/>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3F4F2"/>
                </a:solidFill>
                <a:latin typeface="IBM Plex Sans" pitchFamily="34" charset="0"/>
                <a:ea typeface="IBM Plex Sans" pitchFamily="34" charset="-122"/>
                <a:cs typeface="IBM Plex Sans" pitchFamily="34" charset="-120"/>
              </a:rPr>
              <a:t>Approve a six-week signature pilot on orders over $250. Decision today.</a:t>
            </a:r>
            <a:endParaRPr lang="en-US" sz="1600" dirty="0"/>
          </a:p>
        </p:txBody>
      </p:sp>
      <p:sp>
        <p:nvSpPr>
          <p:cNvPr id="29" name="Text 2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9"/>
                </a:solidFill>
                <a:latin typeface="IBM Plex Sans" pitchFamily="34" charset="0"/>
                <a:ea typeface="IBM Plex Sans" pitchFamily="34" charset="-122"/>
                <a:cs typeface="IBM Plex Sans" pitchFamily="34" charset="-120"/>
              </a:rPr>
              <a:t>18 ·</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171C"/>
                </a:solidFill>
                <a:latin typeface="Source Serif 4" pitchFamily="18" charset="0"/>
                <a:ea typeface="Source Serif 4" pitchFamily="18" charset="-122"/>
                <a:cs typeface="Source Serif 4" pitchFamily="18" charset="-120"/>
              </a:rPr>
              <a:t>Find the story</a:t>
            </a:r>
            <a:endParaRPr lang="en-US" sz="3600" dirty="0"/>
          </a:p>
        </p:txBody>
      </p:sp>
      <p:sp>
        <p:nvSpPr>
          <p:cNvPr id="4" name="Text 2"/>
          <p:cNvSpPr/>
          <p:nvPr/>
        </p:nvSpPr>
        <p:spPr>
          <a:xfrm>
            <a:off x="812800" y="1833811"/>
            <a:ext cx="3420517" cy="782241"/>
          </a:xfrm>
          <a:prstGeom prst="roundRect">
            <a:avLst>
              <a:gd name="adj" fmla="val 9741"/>
            </a:avLst>
          </a:prstGeom>
          <a:solidFill>
            <a:srgbClr val="E6EDF8"/>
          </a:solidFill>
          <a:ln/>
        </p:spPr>
        <p:txBody>
          <a:bodyPr wrap="square" lIns="155482" tIns="104682" rIns="63534" bIns="79282" rtlCol="0" anchor="t">
            <a:normAutofit/>
          </a:bodyPr>
          <a:lstStyle/>
          <a:p>
            <a:pPr marL="0" indent="0" algn="l">
              <a:lnSpc>
                <a:spcPts val="2080"/>
              </a:lnSpc>
              <a:buNone/>
            </a:pPr>
            <a:r>
              <a:rPr lang="en-US" sz="1600" b="1" dirty="0">
                <a:solidFill>
                  <a:srgbClr val="14171C"/>
                </a:solidFill>
                <a:latin typeface="IBM Plex Sans" pitchFamily="34" charset="0"/>
                <a:ea typeface="IBM Plex Sans" pitchFamily="34" charset="-122"/>
                <a:cs typeface="IBM Plex Sans" pitchFamily="34" charset="-120"/>
              </a:rPr>
              <a:t>1 Headline: one sentence, with a number</a:t>
            </a:r>
            <a:endParaRPr lang="en-US" sz="1600" b="1" dirty="0"/>
          </a:p>
        </p:txBody>
      </p:sp>
      <p:sp>
        <p:nvSpPr>
          <p:cNvPr id="5" name="Text 3"/>
          <p:cNvSpPr/>
          <p:nvPr/>
        </p:nvSpPr>
        <p:spPr>
          <a:xfrm>
            <a:off x="4385717" y="1833811"/>
            <a:ext cx="3420566" cy="782241"/>
          </a:xfrm>
          <a:prstGeom prst="roundRect">
            <a:avLst>
              <a:gd name="adj" fmla="val 9741"/>
            </a:avLst>
          </a:prstGeom>
          <a:solidFill>
            <a:srgbClr val="E6EDF8"/>
          </a:solidFill>
          <a:ln/>
        </p:spPr>
        <p:txBody>
          <a:bodyPr wrap="square" lIns="155482" tIns="104682" rIns="63533" bIns="79282" rtlCol="0" anchor="t">
            <a:normAutofit/>
          </a:bodyPr>
          <a:lstStyle/>
          <a:p>
            <a:pPr marL="0" indent="0" algn="l">
              <a:lnSpc>
                <a:spcPts val="2080"/>
              </a:lnSpc>
              <a:buNone/>
            </a:pPr>
            <a:r>
              <a:rPr lang="en-US" sz="1600" b="1" dirty="0">
                <a:solidFill>
                  <a:srgbClr val="14171C"/>
                </a:solidFill>
                <a:latin typeface="IBM Plex Sans" pitchFamily="34" charset="0"/>
                <a:ea typeface="IBM Plex Sans" pitchFamily="34" charset="-122"/>
                <a:cs typeface="IBM Plex Sans" pitchFamily="34" charset="-120"/>
              </a:rPr>
              <a:t>2 Chart: type, axes, what to highlight</a:t>
            </a:r>
            <a:endParaRPr lang="en-US" sz="1600" b="1" dirty="0"/>
          </a:p>
        </p:txBody>
      </p:sp>
      <p:sp>
        <p:nvSpPr>
          <p:cNvPr id="6" name="Text 4"/>
          <p:cNvSpPr/>
          <p:nvPr/>
        </p:nvSpPr>
        <p:spPr>
          <a:xfrm>
            <a:off x="7958683" y="1833811"/>
            <a:ext cx="3420517" cy="782241"/>
          </a:xfrm>
          <a:prstGeom prst="roundRect">
            <a:avLst>
              <a:gd name="adj" fmla="val 9741"/>
            </a:avLst>
          </a:prstGeom>
          <a:solidFill>
            <a:srgbClr val="E6EDF8"/>
          </a:solidFill>
          <a:ln/>
        </p:spPr>
        <p:txBody>
          <a:bodyPr wrap="square" lIns="155482" tIns="104682" rIns="63534" bIns="79282" rtlCol="0" anchor="t">
            <a:normAutofit/>
          </a:bodyPr>
          <a:lstStyle/>
          <a:p>
            <a:pPr marL="0" indent="0" algn="l">
              <a:lnSpc>
                <a:spcPts val="2080"/>
              </a:lnSpc>
              <a:buNone/>
            </a:pPr>
            <a:r>
              <a:rPr lang="en-US" sz="1600" b="1" dirty="0">
                <a:solidFill>
                  <a:srgbClr val="14171C"/>
                </a:solidFill>
                <a:latin typeface="IBM Plex Sans" pitchFamily="34" charset="0"/>
                <a:ea typeface="IBM Plex Sans" pitchFamily="34" charset="-122"/>
                <a:cs typeface="IBM Plex Sans" pitchFamily="34" charset="-120"/>
              </a:rPr>
              <a:t>3 Ask: Make a recommendation - who does what, by when</a:t>
            </a:r>
            <a:endParaRPr lang="en-US" sz="1600" b="1" dirty="0"/>
          </a:p>
        </p:txBody>
      </p:sp>
      <p:graphicFrame>
        <p:nvGraphicFramePr>
          <p:cNvPr id="7" name="Table 0"/>
          <p:cNvGraphicFramePr>
            <a:graphicFrameLocks noGrp="1"/>
          </p:cNvGraphicFramePr>
          <p:nvPr>
            <p:extLst>
              <p:ext uri="{D42A27DB-BD31-4B8C-83A1-F6EECF244321}">
                <p14:modId xmlns:p14="http://schemas.microsoft.com/office/powerpoint/2010/main" val="2580943409"/>
              </p:ext>
            </p:extLst>
          </p:nvPr>
        </p:nvGraphicFramePr>
        <p:xfrm>
          <a:off x="825500" y="2831951"/>
          <a:ext cx="10553700" cy="2735157"/>
        </p:xfrm>
        <a:graphic>
          <a:graphicData uri="http://schemas.openxmlformats.org/drawingml/2006/table">
            <a:tbl>
              <a:tblPr/>
              <a:tblGrid>
                <a:gridCol w="844296">
                  <a:extLst>
                    <a:ext uri="{9D8B030D-6E8A-4147-A177-3AD203B41FA5}">
                      <a16:colId xmlns:a16="http://schemas.microsoft.com/office/drawing/2014/main" val="20000"/>
                    </a:ext>
                  </a:extLst>
                </a:gridCol>
                <a:gridCol w="1055370">
                  <a:extLst>
                    <a:ext uri="{9D8B030D-6E8A-4147-A177-3AD203B41FA5}">
                      <a16:colId xmlns:a16="http://schemas.microsoft.com/office/drawing/2014/main" val="20001"/>
                    </a:ext>
                  </a:extLst>
                </a:gridCol>
                <a:gridCol w="1266444">
                  <a:extLst>
                    <a:ext uri="{9D8B030D-6E8A-4147-A177-3AD203B41FA5}">
                      <a16:colId xmlns:a16="http://schemas.microsoft.com/office/drawing/2014/main" val="20002"/>
                    </a:ext>
                  </a:extLst>
                </a:gridCol>
                <a:gridCol w="1266444">
                  <a:extLst>
                    <a:ext uri="{9D8B030D-6E8A-4147-A177-3AD203B41FA5}">
                      <a16:colId xmlns:a16="http://schemas.microsoft.com/office/drawing/2014/main" val="20003"/>
                    </a:ext>
                  </a:extLst>
                </a:gridCol>
                <a:gridCol w="1266444">
                  <a:extLst>
                    <a:ext uri="{9D8B030D-6E8A-4147-A177-3AD203B41FA5}">
                      <a16:colId xmlns:a16="http://schemas.microsoft.com/office/drawing/2014/main" val="20004"/>
                    </a:ext>
                  </a:extLst>
                </a:gridCol>
                <a:gridCol w="1160907">
                  <a:extLst>
                    <a:ext uri="{9D8B030D-6E8A-4147-A177-3AD203B41FA5}">
                      <a16:colId xmlns:a16="http://schemas.microsoft.com/office/drawing/2014/main" val="20005"/>
                    </a:ext>
                  </a:extLst>
                </a:gridCol>
                <a:gridCol w="1371981">
                  <a:extLst>
                    <a:ext uri="{9D8B030D-6E8A-4147-A177-3AD203B41FA5}">
                      <a16:colId xmlns:a16="http://schemas.microsoft.com/office/drawing/2014/main" val="20006"/>
                    </a:ext>
                  </a:extLst>
                </a:gridCol>
                <a:gridCol w="1160907">
                  <a:extLst>
                    <a:ext uri="{9D8B030D-6E8A-4147-A177-3AD203B41FA5}">
                      <a16:colId xmlns:a16="http://schemas.microsoft.com/office/drawing/2014/main" val="20007"/>
                    </a:ext>
                  </a:extLst>
                </a:gridCol>
                <a:gridCol w="1160907">
                  <a:extLst>
                    <a:ext uri="{9D8B030D-6E8A-4147-A177-3AD203B41FA5}">
                      <a16:colId xmlns:a16="http://schemas.microsoft.com/office/drawing/2014/main" val="20008"/>
                    </a:ext>
                  </a:extLst>
                </a:gridCol>
              </a:tblGrid>
              <a:tr h="546001">
                <a:tc>
                  <a:txBody>
                    <a:bodyPr/>
                    <a:lstStyle/>
                    <a:p>
                      <a:pPr marL="0" indent="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Month</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Tickets</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Avg resolution time (hrs)</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Weekday avg resolution time (hrs)</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Weekend avg resolution time (hrs)</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Weekend share</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First-contact resolution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Consumer satisfaction overall</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Consumer satisfaction  weekend</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Jan</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11,800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18.4</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22</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30%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62%</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4.3</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4.4</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32680">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Feb</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11,200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18.4</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22</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30%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61%</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4.3</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4.4</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32680">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Mar</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12,100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18.0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18</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18</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30%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63%</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4.2</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4.1</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32680">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Apr</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12,400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18.4</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16</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24</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30%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62%</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4.2</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3.7</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332680">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May</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12,000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18.9</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15</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28</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30%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62%</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4.1</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3.4</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32680">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Jun</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12,300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19.1</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14</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31</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30%</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63%</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4.1</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171C"/>
                          </a:solidFill>
                          <a:latin typeface="IBM Plex Sans" pitchFamily="34" charset="0"/>
                          <a:ea typeface="IBM Plex Sans" pitchFamily="34" charset="-122"/>
                          <a:cs typeface="IBM Plex Sans" pitchFamily="34" charset="-120"/>
                        </a:rPr>
                        <a:t>3.2</a:t>
                      </a:r>
                      <a:endParaRPr lang="en-US" sz="1200" dirty="0">
                        <a:latin typeface="IBM Plex Sans" charset="0"/>
                        <a:ea typeface="IBM Plex Sans" charset="0"/>
                        <a:cs typeface="IBM Plex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9" name="Text 6">
            <a:extLst>
              <a:ext uri="{FF2B5EF4-FFF2-40B4-BE49-F238E27FC236}">
                <a16:creationId xmlns:a16="http://schemas.microsoft.com/office/drawing/2014/main" id="{D0527DB8-E39B-1FFC-1894-C9F8E88DEC91}"/>
              </a:ext>
            </a:extLst>
          </p:cNvPr>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9"/>
                </a:solidFill>
                <a:latin typeface="IBM Plex Sans" pitchFamily="34" charset="0"/>
                <a:ea typeface="IBM Plex Sans" pitchFamily="34" charset="-122"/>
                <a:cs typeface="IBM Plex Sans" pitchFamily="34" charset="-120"/>
              </a:rPr>
              <a:t>19 ·</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171C"/>
                </a:solidFill>
                <a:latin typeface="Source Serif 4" pitchFamily="18" charset="0"/>
                <a:ea typeface="Source Serif 4" pitchFamily="18" charset="-122"/>
                <a:cs typeface="Source Serif 4" pitchFamily="18" charset="-120"/>
              </a:rPr>
              <a:t>Weekend tickets now take 3× as long</a:t>
            </a:r>
            <a:endParaRPr lang="en-US" sz="3600" dirty="0"/>
          </a:p>
        </p:txBody>
      </p:sp>
      <p:pic>
        <p:nvPicPr>
          <p:cNvPr id="4" name="Image 0" descr="Line chart: weekend resolution time rises from 10 to 31 hours after the March shift cut, weekday falls from 22 to 14, overall average flat near 19"/>
          <p:cNvPicPr>
            <a:picLocks noChangeAspect="1"/>
          </p:cNvPicPr>
          <p:nvPr/>
        </p:nvPicPr>
        <p:blipFill>
          <a:blip r:embed="rId3"/>
          <a:srcRect/>
          <a:stretch/>
        </p:blipFill>
        <p:spPr>
          <a:xfrm>
            <a:off x="1143000" y="1905000"/>
            <a:ext cx="6350000" cy="3302000"/>
          </a:xfrm>
          <a:prstGeom prst="rect">
            <a:avLst/>
          </a:prstGeom>
        </p:spPr>
      </p:pic>
      <p:sp>
        <p:nvSpPr>
          <p:cNvPr id="5" name="Text 2"/>
          <p:cNvSpPr/>
          <p:nvPr/>
        </p:nvSpPr>
        <p:spPr>
          <a:xfrm>
            <a:off x="711200" y="2095500"/>
            <a:ext cx="431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079"/>
                </a:solidFill>
                <a:latin typeface="IBM Plex Sans" pitchFamily="34" charset="0"/>
                <a:ea typeface="IBM Plex Sans" pitchFamily="34" charset="-122"/>
                <a:cs typeface="IBM Plex Sans" pitchFamily="34" charset="-120"/>
              </a:rPr>
              <a:t>hrs</a:t>
            </a:r>
            <a:endParaRPr lang="en-US" sz="1200" dirty="0"/>
          </a:p>
        </p:txBody>
      </p:sp>
      <p:sp>
        <p:nvSpPr>
          <p:cNvPr id="6" name="Text 3"/>
          <p:cNvSpPr/>
          <p:nvPr/>
        </p:nvSpPr>
        <p:spPr>
          <a:xfrm>
            <a:off x="711200" y="2451100"/>
            <a:ext cx="431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079"/>
                </a:solidFill>
                <a:latin typeface="IBM Plex Sans" pitchFamily="34" charset="0"/>
                <a:ea typeface="IBM Plex Sans" pitchFamily="34" charset="-122"/>
                <a:cs typeface="IBM Plex Sans" pitchFamily="34" charset="-120"/>
              </a:rPr>
              <a:t>30</a:t>
            </a:r>
            <a:endParaRPr lang="en-US" sz="1200" dirty="0"/>
          </a:p>
        </p:txBody>
      </p:sp>
      <p:sp>
        <p:nvSpPr>
          <p:cNvPr id="7" name="Text 4"/>
          <p:cNvSpPr/>
          <p:nvPr/>
        </p:nvSpPr>
        <p:spPr>
          <a:xfrm>
            <a:off x="711200" y="3251200"/>
            <a:ext cx="431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079"/>
                </a:solidFill>
                <a:latin typeface="IBM Plex Sans" pitchFamily="34" charset="0"/>
                <a:ea typeface="IBM Plex Sans" pitchFamily="34" charset="-122"/>
                <a:cs typeface="IBM Plex Sans" pitchFamily="34" charset="-120"/>
              </a:rPr>
              <a:t>20</a:t>
            </a:r>
            <a:endParaRPr lang="en-US" sz="1200" dirty="0"/>
          </a:p>
        </p:txBody>
      </p:sp>
      <p:sp>
        <p:nvSpPr>
          <p:cNvPr id="8" name="Text 5"/>
          <p:cNvSpPr/>
          <p:nvPr/>
        </p:nvSpPr>
        <p:spPr>
          <a:xfrm>
            <a:off x="711200" y="4044950"/>
            <a:ext cx="431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079"/>
                </a:solidFill>
                <a:latin typeface="IBM Plex Sans" pitchFamily="34" charset="0"/>
                <a:ea typeface="IBM Plex Sans" pitchFamily="34" charset="-122"/>
                <a:cs typeface="IBM Plex Sans" pitchFamily="34" charset="-120"/>
              </a:rPr>
              <a:t>10</a:t>
            </a:r>
            <a:endParaRPr lang="en-US" sz="1200" dirty="0"/>
          </a:p>
        </p:txBody>
      </p:sp>
      <p:sp>
        <p:nvSpPr>
          <p:cNvPr id="9" name="Text 6"/>
          <p:cNvSpPr/>
          <p:nvPr/>
        </p:nvSpPr>
        <p:spPr>
          <a:xfrm>
            <a:off x="711200" y="4845050"/>
            <a:ext cx="431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079"/>
                </a:solidFill>
                <a:latin typeface="IBM Plex Sans" pitchFamily="34" charset="0"/>
                <a:ea typeface="IBM Plex Sans" pitchFamily="34" charset="-122"/>
                <a:cs typeface="IBM Plex Sans" pitchFamily="34" charset="-120"/>
              </a:rPr>
              <a:t>0</a:t>
            </a:r>
            <a:endParaRPr lang="en-US" sz="1200" dirty="0"/>
          </a:p>
        </p:txBody>
      </p:sp>
      <p:sp>
        <p:nvSpPr>
          <p:cNvPr id="10" name="Text 7"/>
          <p:cNvSpPr/>
          <p:nvPr/>
        </p:nvSpPr>
        <p:spPr>
          <a:xfrm>
            <a:off x="1117600" y="50546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4F57"/>
                </a:solidFill>
                <a:latin typeface="IBM Plex Sans" pitchFamily="34" charset="0"/>
                <a:ea typeface="IBM Plex Sans" pitchFamily="34" charset="-122"/>
                <a:cs typeface="IBM Plex Sans" pitchFamily="34" charset="-120"/>
              </a:rPr>
              <a:t>Jan</a:t>
            </a:r>
            <a:endParaRPr lang="en-US" sz="1200" dirty="0"/>
          </a:p>
        </p:txBody>
      </p:sp>
      <p:sp>
        <p:nvSpPr>
          <p:cNvPr id="11" name="Text 8"/>
          <p:cNvSpPr/>
          <p:nvPr/>
        </p:nvSpPr>
        <p:spPr>
          <a:xfrm>
            <a:off x="2133600" y="50546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4F57"/>
                </a:solidFill>
                <a:latin typeface="IBM Plex Sans" pitchFamily="34" charset="0"/>
                <a:ea typeface="IBM Plex Sans" pitchFamily="34" charset="-122"/>
                <a:cs typeface="IBM Plex Sans" pitchFamily="34" charset="-120"/>
              </a:rPr>
              <a:t>Feb</a:t>
            </a:r>
            <a:endParaRPr lang="en-US" sz="1200" dirty="0"/>
          </a:p>
        </p:txBody>
      </p:sp>
      <p:sp>
        <p:nvSpPr>
          <p:cNvPr id="12" name="Text 9"/>
          <p:cNvSpPr/>
          <p:nvPr/>
        </p:nvSpPr>
        <p:spPr>
          <a:xfrm>
            <a:off x="3149600" y="50546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4F57"/>
                </a:solidFill>
                <a:latin typeface="IBM Plex Sans" pitchFamily="34" charset="0"/>
                <a:ea typeface="IBM Plex Sans" pitchFamily="34" charset="-122"/>
                <a:cs typeface="IBM Plex Sans" pitchFamily="34" charset="-120"/>
              </a:rPr>
              <a:t>Mar</a:t>
            </a:r>
            <a:endParaRPr lang="en-US" sz="1200" dirty="0"/>
          </a:p>
        </p:txBody>
      </p:sp>
      <p:sp>
        <p:nvSpPr>
          <p:cNvPr id="13" name="Text 10"/>
          <p:cNvSpPr/>
          <p:nvPr/>
        </p:nvSpPr>
        <p:spPr>
          <a:xfrm>
            <a:off x="4165600" y="50546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4F57"/>
                </a:solidFill>
                <a:latin typeface="IBM Plex Sans" pitchFamily="34" charset="0"/>
                <a:ea typeface="IBM Plex Sans" pitchFamily="34" charset="-122"/>
                <a:cs typeface="IBM Plex Sans" pitchFamily="34" charset="-120"/>
              </a:rPr>
              <a:t>Apr</a:t>
            </a:r>
            <a:endParaRPr lang="en-US" sz="1200" dirty="0"/>
          </a:p>
        </p:txBody>
      </p:sp>
      <p:sp>
        <p:nvSpPr>
          <p:cNvPr id="14" name="Text 11"/>
          <p:cNvSpPr/>
          <p:nvPr/>
        </p:nvSpPr>
        <p:spPr>
          <a:xfrm>
            <a:off x="5181600" y="50546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4F57"/>
                </a:solidFill>
                <a:latin typeface="IBM Plex Sans" pitchFamily="34" charset="0"/>
                <a:ea typeface="IBM Plex Sans" pitchFamily="34" charset="-122"/>
                <a:cs typeface="IBM Plex Sans" pitchFamily="34" charset="-120"/>
              </a:rPr>
              <a:t>May</a:t>
            </a:r>
            <a:endParaRPr lang="en-US" sz="1200" dirty="0"/>
          </a:p>
        </p:txBody>
      </p:sp>
      <p:sp>
        <p:nvSpPr>
          <p:cNvPr id="15" name="Text 12"/>
          <p:cNvSpPr/>
          <p:nvPr/>
        </p:nvSpPr>
        <p:spPr>
          <a:xfrm>
            <a:off x="6197600" y="505460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4F57"/>
                </a:solidFill>
                <a:latin typeface="IBM Plex Sans" pitchFamily="34" charset="0"/>
                <a:ea typeface="IBM Plex Sans" pitchFamily="34" charset="-122"/>
                <a:cs typeface="IBM Plex Sans" pitchFamily="34" charset="-120"/>
              </a:rPr>
              <a:t>Jun</a:t>
            </a:r>
            <a:endParaRPr lang="en-US" sz="1200" dirty="0"/>
          </a:p>
        </p:txBody>
      </p:sp>
      <p:sp>
        <p:nvSpPr>
          <p:cNvPr id="16" name="Text 13"/>
          <p:cNvSpPr/>
          <p:nvPr/>
        </p:nvSpPr>
        <p:spPr>
          <a:xfrm>
            <a:off x="3505200" y="2070100"/>
            <a:ext cx="300863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7"/>
                </a:solidFill>
                <a:latin typeface="IBM Plex Sans" pitchFamily="34" charset="0"/>
                <a:ea typeface="IBM Plex Sans" pitchFamily="34" charset="-122"/>
                <a:cs typeface="IBM Plex Sans" pitchFamily="34" charset="-120"/>
              </a:rPr>
              <a:t>1 Mar: weekend shift cut, 6 → 2 agents</a:t>
            </a:r>
            <a:endParaRPr lang="en-US" sz="1200" dirty="0"/>
          </a:p>
        </p:txBody>
      </p:sp>
      <p:sp>
        <p:nvSpPr>
          <p:cNvPr id="17" name="Text 14"/>
          <p:cNvSpPr/>
          <p:nvPr/>
        </p:nvSpPr>
        <p:spPr>
          <a:xfrm>
            <a:off x="1143000" y="4241800"/>
            <a:ext cx="812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5FBF"/>
                </a:solidFill>
                <a:latin typeface="IBM Plex Sans" pitchFamily="34" charset="0"/>
                <a:ea typeface="IBM Plex Sans" pitchFamily="34" charset="-122"/>
                <a:cs typeface="IBM Plex Sans" pitchFamily="34" charset="-120"/>
              </a:rPr>
              <a:t>10 hrs</a:t>
            </a:r>
            <a:endParaRPr lang="en-US" sz="1200" dirty="0"/>
          </a:p>
        </p:txBody>
      </p:sp>
      <p:sp>
        <p:nvSpPr>
          <p:cNvPr id="18" name="Text 15"/>
          <p:cNvSpPr/>
          <p:nvPr/>
        </p:nvSpPr>
        <p:spPr>
          <a:xfrm>
            <a:off x="6604000" y="2368550"/>
            <a:ext cx="1701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5FBF"/>
                </a:solidFill>
                <a:latin typeface="IBM Plex Sans" pitchFamily="34" charset="0"/>
                <a:ea typeface="IBM Plex Sans" pitchFamily="34" charset="-122"/>
                <a:cs typeface="IBM Plex Sans" pitchFamily="34" charset="-120"/>
              </a:rPr>
              <a:t>Weekend: 31 hrs</a:t>
            </a:r>
            <a:endParaRPr lang="en-US" sz="1200" dirty="0"/>
          </a:p>
        </p:txBody>
      </p:sp>
      <p:sp>
        <p:nvSpPr>
          <p:cNvPr id="19" name="Text 16"/>
          <p:cNvSpPr/>
          <p:nvPr/>
        </p:nvSpPr>
        <p:spPr>
          <a:xfrm>
            <a:off x="6604000" y="3321050"/>
            <a:ext cx="1701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7"/>
                </a:solidFill>
                <a:latin typeface="IBM Plex Sans" pitchFamily="34" charset="0"/>
                <a:ea typeface="IBM Plex Sans" pitchFamily="34" charset="-122"/>
                <a:cs typeface="IBM Plex Sans" pitchFamily="34" charset="-120"/>
              </a:rPr>
              <a:t>All tickets: 19.1 hrs</a:t>
            </a:r>
            <a:endParaRPr lang="en-US" sz="1200" dirty="0"/>
          </a:p>
        </p:txBody>
      </p:sp>
      <p:sp>
        <p:nvSpPr>
          <p:cNvPr id="20" name="Text 17"/>
          <p:cNvSpPr/>
          <p:nvPr/>
        </p:nvSpPr>
        <p:spPr>
          <a:xfrm>
            <a:off x="6604000" y="3727450"/>
            <a:ext cx="1701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7"/>
                </a:solidFill>
                <a:latin typeface="IBM Plex Sans" pitchFamily="34" charset="0"/>
                <a:ea typeface="IBM Plex Sans" pitchFamily="34" charset="-122"/>
                <a:cs typeface="IBM Plex Sans" pitchFamily="34" charset="-120"/>
              </a:rPr>
              <a:t>Weekday: 14 hrs</a:t>
            </a:r>
            <a:endParaRPr lang="en-US" sz="1200" dirty="0"/>
          </a:p>
        </p:txBody>
      </p:sp>
      <p:sp>
        <p:nvSpPr>
          <p:cNvPr id="21" name="Text 18"/>
          <p:cNvSpPr/>
          <p:nvPr/>
        </p:nvSpPr>
        <p:spPr>
          <a:xfrm>
            <a:off x="8509000" y="1905000"/>
            <a:ext cx="295630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5FBF"/>
                </a:solidFill>
                <a:latin typeface="IBM Plex Sans" pitchFamily="34" charset="0"/>
                <a:ea typeface="IBM Plex Sans" pitchFamily="34" charset="-122"/>
                <a:cs typeface="IBM Plex Sans" pitchFamily="34" charset="-120"/>
              </a:rPr>
              <a:t>WHAT</a:t>
            </a:r>
            <a:endParaRPr lang="en-US" sz="1200" dirty="0"/>
          </a:p>
        </p:txBody>
      </p:sp>
      <p:sp>
        <p:nvSpPr>
          <p:cNvPr id="22" name="Text 19"/>
          <p:cNvSpPr/>
          <p:nvPr/>
        </p:nvSpPr>
        <p:spPr>
          <a:xfrm>
            <a:off x="8509000" y="2169120"/>
            <a:ext cx="2956306"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4171C"/>
                </a:solidFill>
                <a:latin typeface="IBM Plex Sans" pitchFamily="34" charset="0"/>
                <a:ea typeface="IBM Plex Sans" pitchFamily="34" charset="-122"/>
                <a:cs typeface="IBM Plex Sans" pitchFamily="34" charset="-120"/>
              </a:rPr>
              <a:t>31 hours, up from 10</a:t>
            </a:r>
            <a:endParaRPr lang="en-US" sz="1600" dirty="0"/>
          </a:p>
        </p:txBody>
      </p:sp>
      <p:sp>
        <p:nvSpPr>
          <p:cNvPr id="23" name="Text 20"/>
          <p:cNvSpPr/>
          <p:nvPr/>
        </p:nvSpPr>
        <p:spPr>
          <a:xfrm>
            <a:off x="8509000" y="2636441"/>
            <a:ext cx="295630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5FBF"/>
                </a:solidFill>
                <a:latin typeface="IBM Plex Sans" pitchFamily="34" charset="0"/>
                <a:ea typeface="IBM Plex Sans" pitchFamily="34" charset="-122"/>
                <a:cs typeface="IBM Plex Sans" pitchFamily="34" charset="-120"/>
              </a:rPr>
              <a:t>SO WHAT</a:t>
            </a:r>
            <a:endParaRPr lang="en-US" sz="1200" dirty="0"/>
          </a:p>
        </p:txBody>
      </p:sp>
      <p:sp>
        <p:nvSpPr>
          <p:cNvPr id="24" name="Text 21"/>
          <p:cNvSpPr/>
          <p:nvPr/>
        </p:nvSpPr>
        <p:spPr>
          <a:xfrm>
            <a:off x="8509000" y="2900561"/>
            <a:ext cx="2956306" cy="553641"/>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4171C"/>
                </a:solidFill>
                <a:latin typeface="IBM Plex Sans" pitchFamily="34" charset="0"/>
                <a:ea typeface="IBM Plex Sans" pitchFamily="34" charset="-122"/>
                <a:cs typeface="IBM Plex Sans" pitchFamily="34" charset="-120"/>
              </a:rPr>
              <a:t>1 in 3 customers waits over a day</a:t>
            </a:r>
            <a:endParaRPr lang="en-US" sz="1600" dirty="0"/>
          </a:p>
        </p:txBody>
      </p:sp>
      <p:sp>
        <p:nvSpPr>
          <p:cNvPr id="25" name="Shape 22"/>
          <p:cNvSpPr/>
          <p:nvPr/>
        </p:nvSpPr>
        <p:spPr>
          <a:xfrm>
            <a:off x="8509000" y="3632002"/>
            <a:ext cx="2870200" cy="1147961"/>
          </a:xfrm>
          <a:prstGeom prst="roundRect">
            <a:avLst>
              <a:gd name="adj" fmla="val 6638"/>
            </a:avLst>
          </a:prstGeom>
          <a:solidFill>
            <a:srgbClr val="14171C"/>
          </a:solidFill>
          <a:ln/>
        </p:spPr>
      </p:sp>
      <p:sp>
        <p:nvSpPr>
          <p:cNvPr id="26" name="Text 23"/>
          <p:cNvSpPr/>
          <p:nvPr/>
        </p:nvSpPr>
        <p:spPr>
          <a:xfrm>
            <a:off x="8686800" y="3809802"/>
            <a:ext cx="259003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FB4F0"/>
                </a:solidFill>
                <a:latin typeface="IBM Plex Sans" pitchFamily="34" charset="0"/>
                <a:ea typeface="IBM Plex Sans" pitchFamily="34" charset="-122"/>
                <a:cs typeface="IBM Plex Sans" pitchFamily="34" charset="-120"/>
              </a:rPr>
              <a:t>NOW WHAT</a:t>
            </a:r>
            <a:endParaRPr lang="en-US" sz="1200" dirty="0"/>
          </a:p>
        </p:txBody>
      </p:sp>
      <p:sp>
        <p:nvSpPr>
          <p:cNvPr id="27" name="Text 24"/>
          <p:cNvSpPr/>
          <p:nvPr/>
        </p:nvSpPr>
        <p:spPr>
          <a:xfrm>
            <a:off x="8686800" y="4073922"/>
            <a:ext cx="2590038" cy="553641"/>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3F4F2"/>
                </a:solidFill>
                <a:latin typeface="IBM Plex Sans" pitchFamily="34" charset="0"/>
                <a:ea typeface="IBM Plex Sans" pitchFamily="34" charset="-122"/>
                <a:cs typeface="IBM Plex Sans" pitchFamily="34" charset="-120"/>
              </a:rPr>
              <a:t>Two agents back on weekends</a:t>
            </a:r>
            <a:endParaRPr lang="en-US" sz="1600" dirty="0"/>
          </a:p>
        </p:txBody>
      </p:sp>
      <p:sp>
        <p:nvSpPr>
          <p:cNvPr id="28" name="Text 2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9"/>
                </a:solidFill>
                <a:latin typeface="IBM Plex Sans" pitchFamily="34" charset="0"/>
                <a:ea typeface="IBM Plex Sans" pitchFamily="34" charset="-122"/>
                <a:cs typeface="IBM Plex Sans" pitchFamily="34" charset="-120"/>
              </a:rPr>
              <a:t>20 ·</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11709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5FBF"/>
                </a:solidFill>
                <a:latin typeface="IBM Plex Sans" pitchFamily="34" charset="0"/>
                <a:ea typeface="IBM Plex Sans" pitchFamily="34" charset="-122"/>
                <a:cs typeface="IBM Plex Sans" pitchFamily="34" charset="-120"/>
              </a:rPr>
              <a:t>TAKE THIS WITH YOU</a:t>
            </a:r>
            <a:endParaRPr lang="en-US" sz="1200" dirty="0"/>
          </a:p>
        </p:txBody>
      </p:sp>
      <p:sp>
        <p:nvSpPr>
          <p:cNvPr id="3" name="Text 1"/>
          <p:cNvSpPr>
            <a:spLocks noGrp="1"/>
          </p:cNvSpPr>
          <p:nvPr>
            <p:ph type="title"/>
          </p:nvPr>
        </p:nvSpPr>
        <p:spPr>
          <a:xfrm>
            <a:off x="812800" y="1689100"/>
            <a:ext cx="10883392" cy="2540000"/>
          </a:xfrm>
          <a:prstGeom prst="rect">
            <a:avLst/>
          </a:prstGeom>
          <a:noFill/>
          <a:ln/>
        </p:spPr>
        <p:txBody>
          <a:bodyPr wrap="square" lIns="0" tIns="0" rIns="0" bIns="0" rtlCol="0" anchor="t">
            <a:normAutofit/>
          </a:bodyPr>
          <a:lstStyle/>
          <a:p>
            <a:pPr marL="0" indent="0" algn="l">
              <a:lnSpc>
                <a:spcPts val="6600"/>
              </a:lnSpc>
              <a:buNone/>
            </a:pPr>
            <a:r>
              <a:rPr lang="en-US" sz="6000" b="1" i="0" dirty="0">
                <a:solidFill>
                  <a:srgbClr val="14171C"/>
                </a:solidFill>
                <a:latin typeface="Source Serif 4" pitchFamily="18" charset="0"/>
                <a:ea typeface="Source Serif 4" pitchFamily="18" charset="-122"/>
                <a:cs typeface="Source Serif 4" pitchFamily="18" charset="-120"/>
              </a:rPr>
              <a:t>What changed?</a:t>
            </a:r>
            <a:endParaRPr lang="en-US" sz="6000" dirty="0"/>
          </a:p>
          <a:p>
            <a:pPr marL="0" indent="0" algn="l">
              <a:lnSpc>
                <a:spcPts val="6600"/>
              </a:lnSpc>
              <a:buNone/>
            </a:pPr>
            <a:r>
              <a:rPr lang="en-US" sz="6000" b="1" i="0" dirty="0">
                <a:solidFill>
                  <a:srgbClr val="14171C"/>
                </a:solidFill>
                <a:latin typeface="Source Serif 4" pitchFamily="18" charset="0"/>
                <a:ea typeface="Source Serif 4" pitchFamily="18" charset="-122"/>
                <a:cs typeface="Source Serif 4" pitchFamily="18" charset="-120"/>
              </a:rPr>
              <a:t>So what?</a:t>
            </a:r>
            <a:endParaRPr lang="en-US" sz="6000" dirty="0"/>
          </a:p>
          <a:p>
            <a:pPr marL="0" indent="0" algn="l">
              <a:lnSpc>
                <a:spcPts val="6600"/>
              </a:lnSpc>
              <a:buNone/>
            </a:pPr>
            <a:r>
              <a:rPr lang="en-US" sz="6000" b="1" i="0" dirty="0">
                <a:solidFill>
                  <a:srgbClr val="1F5FBF"/>
                </a:solidFill>
                <a:latin typeface="Source Serif 4" pitchFamily="18" charset="0"/>
                <a:ea typeface="Source Serif 4" pitchFamily="18" charset="-122"/>
                <a:cs typeface="Source Serif 4" pitchFamily="18" charset="-120"/>
              </a:rPr>
              <a:t>Now what?</a:t>
            </a:r>
            <a:endParaRPr lang="en-US" sz="6000" dirty="0"/>
          </a:p>
        </p:txBody>
      </p:sp>
      <p:sp>
        <p:nvSpPr>
          <p:cNvPr id="5" name="Text 3"/>
          <p:cNvSpPr/>
          <p:nvPr/>
        </p:nvSpPr>
        <p:spPr>
          <a:xfrm>
            <a:off x="812800" y="5097760"/>
            <a:ext cx="10566400" cy="589260"/>
          </a:xfrm>
          <a:prstGeom prst="roundRect">
            <a:avLst>
              <a:gd name="adj" fmla="val 12931"/>
            </a:avLst>
          </a:prstGeom>
          <a:solidFill>
            <a:srgbClr val="E6EDF8"/>
          </a:solidFill>
          <a:ln/>
        </p:spPr>
        <p:txBody>
          <a:bodyPr wrap="square" lIns="180882" tIns="130082" rIns="0" bIns="104682" rtlCol="0" anchor="t">
            <a:normAutofit/>
          </a:bodyPr>
          <a:lstStyle/>
          <a:p>
            <a:pPr marL="0" indent="0" algn="l">
              <a:lnSpc>
                <a:spcPts val="2240"/>
              </a:lnSpc>
              <a:buNone/>
            </a:pPr>
            <a:r>
              <a:rPr lang="en-US" sz="1600" b="1" dirty="0">
                <a:solidFill>
                  <a:srgbClr val="14171C"/>
                </a:solidFill>
                <a:latin typeface="IBM Plex Sans" pitchFamily="34" charset="0"/>
                <a:ea typeface="IBM Plex Sans" pitchFamily="34" charset="-122"/>
                <a:cs typeface="IBM Plex Sans" pitchFamily="34" charset="-120"/>
              </a:rPr>
              <a:t>Rewrite every slide title in your next deck as a sentence that says the point.</a:t>
            </a:r>
            <a:endParaRPr lang="en-US" sz="1600" dirty="0"/>
          </a:p>
        </p:txBody>
      </p:sp>
      <p:sp>
        <p:nvSpPr>
          <p:cNvPr id="6" name="Text 25">
            <a:extLst>
              <a:ext uri="{FF2B5EF4-FFF2-40B4-BE49-F238E27FC236}">
                <a16:creationId xmlns:a16="http://schemas.microsoft.com/office/drawing/2014/main" id="{23D8AF4A-6918-5582-30E6-991B8CDBFC5F}"/>
              </a:ext>
            </a:extLst>
          </p:cNvPr>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079"/>
                </a:solidFill>
                <a:latin typeface="IBM Plex Sans" pitchFamily="34" charset="0"/>
                <a:ea typeface="IBM Plex Sans" pitchFamily="34" charset="-122"/>
                <a:cs typeface="IBM Plex Sans" pitchFamily="34" charset="-120"/>
              </a:rPr>
              <a:t>21 ·</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2"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272033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14171C"/>
                </a:solidFill>
                <a:latin typeface="Source Serif 4" pitchFamily="18" charset="0"/>
                <a:ea typeface="Source Serif 4" pitchFamily="18" charset="-122"/>
                <a:cs typeface="Source Serif 4" pitchFamily="18" charset="-120"/>
              </a:rPr>
              <a:t>Questions?</a:t>
            </a:r>
            <a:endParaRPr lang="en-US" sz="6000" dirty="0"/>
          </a:p>
        </p:txBody>
      </p:sp>
      <p:sp>
        <p:nvSpPr>
          <p:cNvPr id="3" name="Text 1"/>
          <p:cNvSpPr/>
          <p:nvPr/>
        </p:nvSpPr>
        <p:spPr>
          <a:xfrm>
            <a:off x="812800" y="3774430"/>
            <a:ext cx="10883392" cy="38859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1F5FBF"/>
                </a:solidFill>
                <a:latin typeface="Source Serif 4" pitchFamily="18" charset="0"/>
                <a:ea typeface="Source Serif 4" pitchFamily="18" charset="-122"/>
                <a:cs typeface="Source Serif 4" pitchFamily="18" charset="-120"/>
              </a:rPr>
              <a:t>Data doesn't speak for itself. You speak for it.</a:t>
            </a:r>
            <a:endParaRPr lang="en-US" sz="2200" dirty="0"/>
          </a:p>
        </p:txBody>
      </p:sp>
      <p:sp>
        <p:nvSpPr>
          <p:cNvPr id="4" name="Text 2"/>
          <p:cNvSpPr/>
          <p:nvPr/>
        </p:nvSpPr>
        <p:spPr>
          <a:xfrm>
            <a:off x="812800" y="596394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57"/>
                </a:solidFill>
                <a:latin typeface="IBM Plex Sans" pitchFamily="34" charset="0"/>
                <a:ea typeface="IBM Plex Sans" pitchFamily="34" charset="-122"/>
                <a:cs typeface="IBM Plex Sans" pitchFamily="34" charset="-120"/>
              </a:rPr>
              <a:t>Areena Arora · Editorial Coder, The Hindu</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theme/theme1.xml><?xml version="1.0" encoding="utf-8"?>
<a:theme xmlns:a="http://schemas.openxmlformats.org/drawingml/2006/main" name="Storytelling with Data">
  <a:themeElements>
    <a:clrScheme name="Storytelling with Data">
      <a:dk1>
        <a:srgbClr val="14171C"/>
      </a:dk1>
      <a:lt1>
        <a:srgbClr val="FFFFFF"/>
      </a:lt1>
      <a:dk2>
        <a:srgbClr val="4F5155"/>
      </a:dk2>
      <a:lt2>
        <a:srgbClr val="E8E8E8"/>
      </a:lt2>
      <a:accent1>
        <a:srgbClr val="1F5FBF"/>
      </a:accent1>
      <a:accent2>
        <a:srgbClr val="D9622B"/>
      </a:accent2>
      <a:accent3>
        <a:srgbClr val="B24A17"/>
      </a:accent3>
      <a:accent4>
        <a:srgbClr val="8FB4F0"/>
      </a:accent4>
      <a:accent5>
        <a:srgbClr val="2B4C7E"/>
      </a:accent5>
      <a:accent6>
        <a:srgbClr val="4A4F57"/>
      </a:accent6>
      <a:hlink>
        <a:srgbClr val="0563C1"/>
      </a:hlink>
      <a:folHlink>
        <a:srgbClr val="954F72"/>
      </a:folHlink>
    </a:clrScheme>
    <a:fontScheme name="Storytelling with Data">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437</TotalTime>
  <Words>6247</Words>
  <Application>Microsoft Macintosh PowerPoint</Application>
  <PresentationFormat>Widescreen</PresentationFormat>
  <Paragraphs>574</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IBM Plex Sans</vt:lpstr>
      <vt:lpstr>Source Serif 4</vt:lpstr>
      <vt:lpstr>Storytelling with Data</vt:lpstr>
      <vt:lpstr>Storytelling with Data</vt:lpstr>
      <vt:lpstr>PowerPoint Presentation</vt:lpstr>
      <vt:lpstr>Every number was there. The story wasn't.</vt:lpstr>
      <vt:lpstr>We present in the order we worked</vt:lpstr>
      <vt:lpstr>For today, let’s imagine we’re working with chargeback data</vt:lpstr>
      <vt:lpstr>Keep asking until there is no more “so what” possible</vt:lpstr>
      <vt:lpstr>Method earns its place when someone asks</vt:lpstr>
      <vt:lpstr>How to spot what’s the message in the data?</vt:lpstr>
      <vt:lpstr>PowerPoint Presentation</vt:lpstr>
      <vt:lpstr>Win rate fell from 52% to 33%.  Retrain the disputes team?</vt:lpstr>
      <vt:lpstr>Write your main point in one sentence</vt:lpstr>
      <vt:lpstr>The eye reads position best, colour worst</vt:lpstr>
      <vt:lpstr>Start from the question</vt:lpstr>
      <vt:lpstr>Which chart?</vt:lpstr>
      <vt:lpstr>The stretched gap</vt:lpstr>
      <vt:lpstr>The cumulative trap</vt:lpstr>
      <vt:lpstr>Every map of totals is a population map</vt:lpstr>
      <vt:lpstr>The dual axis: the crossing means nothing</vt:lpstr>
      <vt:lpstr>PowerPoint Presentation</vt:lpstr>
      <vt:lpstr>Chargebacks rose 38% in Q3.  Two-thirds of the rise came from one fixable gap.</vt:lpstr>
      <vt:lpstr>Find the story</vt:lpstr>
      <vt:lpstr>Weekend tickets now take 3× as long</vt:lpstr>
      <vt:lpstr>What changed? So what? Now what?</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Storytelling with Data</dc:title>
  <dc:subject/>
  <dc:creator/>
  <cp:lastModifiedBy>Areena Arora</cp:lastModifiedBy>
  <cp:revision>5</cp:revision>
  <dcterms:created xsi:type="dcterms:W3CDTF">2026-10-04T10:34:44Z</dcterms:created>
  <dcterms:modified xsi:type="dcterms:W3CDTF">2026-10-05T03:39:11Z</dcterms:modified>
</cp:coreProperties>
</file>